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77240" y="822960"/>
            <a:ext cx="1005840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77240" y="96012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1F2B"/>
                </a:solidFill>
                <a:latin typeface="Cambria"/>
              </a:rPr>
              <a:t>BÁO CÁO TIẾN ĐỘ TUẦN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A251D"/>
                </a:solidFill>
                <a:latin typeface="Cambria"/>
              </a:rPr>
              <a:t>Giả thuyết trung tâm bị bác bỏ bằng</a:t>
            </a:r>
          </a:p>
          <a:p>
            <a:pPr algn="l"/>
            <a:r>
              <a:rPr sz="3200" b="1">
                <a:solidFill>
                  <a:srgbClr val="2A251D"/>
                </a:solidFill>
                <a:latin typeface="Cambria"/>
              </a:rPr>
              <a:t>thí nghiệm đối chứng — và vì sao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400000"/>
            <a:ext cx="10607040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620000"/>
            <a:ext cx="10515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5447"/>
                </a:solidFill>
                <a:latin typeface="Cambria"/>
              </a:rPr>
              <a:t>Tuần 3: chạy 5 thí nghiệm cô lập, thêm đối chứng có kiểm soát biến. Kết quả không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C5447"/>
                </a:solidFill>
                <a:latin typeface="Cambria"/>
              </a:rPr>
              <a:t>ủng hộ giả thuyết ban đầu. Báo cáo này trình bày bằng chứng, nguyên nhân, và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C5447"/>
                </a:solidFill>
                <a:latin typeface="Cambria"/>
              </a:rPr>
              <a:t>phạm vi đề tài được thu hẹp lại như thế nào.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251D"/>
                </a:solidFill>
                <a:latin typeface="Cambria"/>
              </a:rPr>
              <a:t>Nguyễn Tấn Sang   ·   12 tháng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NỘI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Những gì trình bày hôm nay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5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Nhắc lại: tuần 2 dừng ở đâu và nghi ngờ điều gì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53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67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7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Đã chạy gì tuần này — 5 thí nghiệm cô lập, có đối chứng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315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9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9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Kết quả: cú sụp không tái lập khi đo đúng cách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20" y="377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91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1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Đối chứng quyết định: vá verifier không thay đổi gì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20" y="439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53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3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Vì sao — mức độ nặng khác với tần suất xảy 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501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157399"/>
            <a:ext cx="54864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772B"/>
                </a:solidFill>
                <a:latin typeface="Cambr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57399"/>
            <a:ext cx="999713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2A251D"/>
                </a:solidFill>
                <a:latin typeface="Cambria"/>
              </a:rPr>
              <a:t>Đề tài thu hẹp lại ra sao, và việc còn phải làm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20" y="5637399"/>
            <a:ext cx="999713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NHẮC LẠI TUẦN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Nghi ngờ: hai bộ đề bị trộn chung khi train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20239"/>
            <a:ext cx="0" cy="1150000"/>
          </a:xfrm>
          <a:prstGeom prst="line">
            <a:avLst/>
          </a:prstGeom>
          <a:ln w="19050">
            <a:solidFill>
              <a:srgbClr val="9C7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33272" y="1874519"/>
            <a:ext cx="10381183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“Tuần 2 báo cáo: model sụp mạnh qua 5 vòng. Nhưng tập train mỗi vòng luôn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nghiêng ~69% về GSM8K — một adapter chung học chủ yếu từ bộ này rồi áp cho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cả hai. Chưa tách được ‘tại verifier lệch’ khỏi ‘tại lây từ bộ đề kia’.”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45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700000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5447"/>
                </a:solidFill>
                <a:latin typeface="Cambria"/>
              </a:rPr>
              <a:t>Tuần 3 đặt ra hai việc phải làm cho dứt điểm: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C772B"/>
                </a:solidFill>
                <a:latin typeface="Cambria"/>
              </a:rPr>
              <a:t>Cô lập từng bộ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50000"/>
            <a:ext cx="3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Mỗi bộ đề chạy riêng, adapter riêng — hết nhiễm chéo.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240" y="4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C772B"/>
                </a:solidFill>
                <a:latin typeface="Cambria"/>
              </a:rPr>
              <a:t>Tách đề thi riêng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6240" y="4650000"/>
            <a:ext cx="3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30% đề giữ lại làm đề thi, chưa từng dùng để chọn bài train.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5240" y="4200000"/>
            <a:ext cx="3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C772B"/>
                </a:solidFill>
                <a:latin typeface="Cambria"/>
              </a:rPr>
              <a:t>Thêm đối chứng thật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5240" y="4650000"/>
            <a:ext cx="3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Chạy lại y hệt, chỉ vá verifier — đúng một biến khác nhau.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55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Chi tiết nghi ngờ nhiễm chéo đã trình bày ở báo cáo tuần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ĐÃ CHẠY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Năm lần chạy trên Kaggle, cùng một cấu hình gốc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37215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C5447"/>
                </a:solidFill>
                <a:latin typeface="Cambria"/>
              </a:rPr>
              <a:t>Tất cả: Qwen2.5-1.5B, 500 đề, 5 vòng, k=8, tách 30% đề thi. Chỉ khác đúng cột được in đậm.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0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Lần chạy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0" y="250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Bộ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0000" y="250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Verifier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0000" y="250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0000" y="250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GPU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92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8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0000" y="298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MATH-500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0000" y="298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gốc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000" y="298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0000" y="298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~5 giờ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34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346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A — lặp lại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0000" y="346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MATH-500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0000" y="346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gốc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0000" y="346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0000" y="346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~5 giờ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388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94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B  (đối chứng)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000" y="394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MATH-500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0000" y="394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251D"/>
                </a:solidFill>
                <a:latin typeface="Cambria"/>
              </a:rPr>
              <a:t>ĐÃ VÁ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000" y="394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0000" y="394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~5 giờ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436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442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B — lặp lại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0000" y="442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MATH-500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0000" y="442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251D"/>
                </a:solidFill>
                <a:latin typeface="Cambria"/>
              </a:rPr>
              <a:t>ĐÃ VÁ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0000" y="442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0000" y="442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~5 giờ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240" y="484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490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0000" y="490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GSM8K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0000" y="4900000"/>
            <a:ext cx="2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gốc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0000" y="490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0000" y="490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51D"/>
                </a:solidFill>
                <a:latin typeface="Cambria"/>
              </a:rPr>
              <a:t>~5,5 giờ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77240" y="532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5500000"/>
            <a:ext cx="106372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A và B khác nhau đúng MỘT biến: verifier có được vá hay không. Đây là thí nghiệm đối chứng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mà thiết kế cũ không thể có — và là phép thử trực tiếp cho giả thuyết của đề tài.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55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Tổng ~25 giờ GPU Kaggle, chia nhiều phiên; kết quả lưu sau mỗi vòng để không mất khi phiên bị ngắt.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KẾT QUẢ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Cú sụp không tái lập khi đo đúng cách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Đo trên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240" y="200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pass@1 vòng 0→4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240" y="200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pass@8 vòng 0→4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240" y="200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772B"/>
                </a:solidFill>
                <a:latin typeface="Cambria"/>
              </a:rPr>
              <a:t>Kết luận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42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48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Thiết kế CŨ — gộp, GSM8K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240" y="248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69,6% → 26,6%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240" y="248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91,4% → 65,8%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240" y="248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sụp nặng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89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9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Thiết kế CŨ — gộp, MATH-500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240" y="295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30,4% → 10,6%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7240" y="295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53,8% → 31,4%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240" y="295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C5447"/>
                </a:solidFill>
                <a:latin typeface="Cambria"/>
              </a:rPr>
              <a:t>sụp nặng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36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42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A — MATH-500 cô lập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240" y="342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32,0% → 29,3%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7240" y="342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57,3% → 56,0%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240" y="342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KHÔNG sụp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383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389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A — lặp lại seed khác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240" y="389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36,7% → 33,3%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7240" y="389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58,7% → 58,7%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240" y="389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KHÔNG sụp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" y="43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436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C — GSM8K cô lập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240" y="436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66,7% → 54,0%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7240" y="4360000"/>
            <a:ext cx="2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92,7% → 90,0%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240" y="4360000"/>
            <a:ext cx="2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pass@8 giữ nguyên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477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4950000"/>
            <a:ext cx="10637215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Cột pass@8 là cột quan trọng: nó đo “model còn giải được bài không nếu cho thử 8 lần”.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Thiết kế cũ mất 22–26 điểm. Cô lập xong, pass@8 gần như đứng yên ở cả ba lần chạy.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Phần “mất năng lực” biến mất — nó đến từ cách đo, không phải từ verifier.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ĐỐI CHỨNG QUYẾT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Vá verifier không thay đổi bất cứ điều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447"/>
                </a:solidFill>
                <a:latin typeface="Cambria"/>
              </a:rPr>
              <a:t>A và B giống hệt nhau mọi mặt, chỉ khác: B đã vá đúng chỗ verifier chấm sai.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pass@1 mỗi vòng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0000" y="245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Vòng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0000" y="245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0" y="245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000" y="245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00" y="2450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9C772B"/>
                </a:solidFill>
                <a:latin typeface="Cambria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287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2925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A seed 0 — verifier gốc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0000" y="292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32,0%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0000" y="292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29,3%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000" y="292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28,0%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000" y="292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29,3%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00" y="292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29,3%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333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385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B seed 0 — ĐÃ VÁ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0000" y="338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32,0%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0000" y="338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28,7%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000" y="338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28,7%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000" y="338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28,7%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00" y="338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28,7%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379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3845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A seed 1 — verifier gốc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0000" y="384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36,7%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0000" y="384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32,7%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000" y="384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32,7%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0000" y="384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31,3%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00" y="384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51D"/>
                </a:solidFill>
                <a:latin typeface="Cambria"/>
              </a:rPr>
              <a:t>33,3%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425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4305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B seed 1 — ĐÃ VÁ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0000" y="430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37,3%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0000" y="430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32,0%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000" y="430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32,7%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0000" y="430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31,3%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00000" y="4305000"/>
            <a:ext cx="1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A251D"/>
                </a:solidFill>
                <a:latin typeface="Cambria"/>
              </a:rPr>
              <a:t>33,3%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471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4880000"/>
            <a:ext cx="1063721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Hai đường gần như trùng nhau. Ở seed 1, từ vòng 2 trở đi con số GIỐNG HỆT nhau.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Vá đúng chỗ verifier lệch — thứ mà cả đề tài đặt giả thuyết là nguyên nhân — không tạo ra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khác biệt đo được, ở cả hai lần lặp độc lập.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355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Đề thi 150 đề, nên 1 đề ≈ 0,67 điểm phần trăm. Khoảng cách A–B lớn nhất là 0,6 điểm — đúng một đề.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VÌ 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Mức độ nặng khác với tần suất xảy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372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A251D"/>
                </a:solidFill>
                <a:latin typeface="Cambria"/>
              </a:rPr>
              <a:t>Đây là phần em thấy giá trị nhất tuần này: không chỉ biết “vá không có tác dụng”,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A251D"/>
                </a:solidFill>
                <a:latin typeface="Cambria"/>
              </a:rPr>
              <a:t>mà đo được vì sao nó không có tác dụng.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8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05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C772B"/>
                </a:solidFill>
                <a:latin typeface="Cambria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50000"/>
            <a:ext cx="34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Tỉ lệ verifier chấm SAI khi gặp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cách viết \dfrac — đo bằng thực nghiệm.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Nghe rất nặng.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6240" y="305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C772B"/>
                </a:solidFill>
                <a:latin typeface="Cambria"/>
              </a:rPr>
              <a:t>0,55%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240" y="3850000"/>
            <a:ext cx="34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Nhưng cách viết đó chỉ xuất hiện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22/4000 lời giải mỗi vòng.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Trên GSM8K: 0 lần.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5240" y="3050000"/>
            <a:ext cx="3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9C772B"/>
                </a:solidFill>
                <a:latin typeface="Cambria"/>
              </a:rPr>
              <a:t>0,55%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5240" y="3850000"/>
            <a:ext cx="34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Nhân hai số lại — đó mới là phần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tập train bị loại oan mỗi vòng.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Không thể gây sụp 20 điểm.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3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480000"/>
            <a:ext cx="1063721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5447"/>
                </a:solidFill>
                <a:latin typeface="Cambria"/>
              </a:rPr>
              <a:t>Đo trực tiếp: ở vòng 0 model chưa học gì, A và B sinh ra ĐÚNG CÙNG bộ lời giải — khác nhau duy nhất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C5447"/>
                </a:solidFill>
                <a:latin typeface="Cambria"/>
              </a:rPr>
              <a:t>là verifier nào chấm. Bản vá đổi kết quả của 0 đề (seed 0) và 1 đề (seed 1) trên 150 đề.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ĐỀ TÀI THU HẸP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Từ ‘phát hiện cơ chế gây hại’ sang ‘cảnh báo cách đo’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5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mbria"/>
              </a:rPr>
              <a:t>TUYÊN BỐ CŨ — đã bị bác bỏ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00000"/>
            <a:ext cx="51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C5447"/>
                </a:solidFill>
                <a:latin typeface="Cambria"/>
              </a:rPr>
              <a:t>“Verifier lệch vì văn phong gây sụp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5C5447"/>
                </a:solidFill>
                <a:latin typeface="Cambria"/>
              </a:rPr>
              <a:t>năng lực trong self-training lặp vòng.”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00000"/>
            <a:ext cx="51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447"/>
                </a:solidFill>
                <a:latin typeface="Cambria"/>
              </a:rPr>
              <a:t>Bị bác bỏ bởi chính thí nghiệm đối chứng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447"/>
                </a:solidFill>
                <a:latin typeface="Cambria"/>
              </a:rPr>
              <a:t>dựng ra để kiểm tra nó. Không phải suy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C5447"/>
                </a:solidFill>
                <a:latin typeface="Cambria"/>
              </a:rPr>
              <a:t>luận gián tiếp — đo trực tiếp, 2 lần lặp.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0000" y="1947672"/>
            <a:ext cx="0" cy="3400000"/>
          </a:xfrm>
          <a:prstGeom prst="line">
            <a:avLst/>
          </a:prstGeom>
          <a:ln w="19050">
            <a:solidFill>
              <a:srgbClr val="9C7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000" y="1947672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A1F2B"/>
                </a:solidFill>
                <a:latin typeface="Cambria"/>
              </a:rPr>
              <a:t>TUYÊN BỐ MỚI — được số liệu chống lưng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2400000"/>
            <a:ext cx="5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A251D"/>
                </a:solidFill>
                <a:latin typeface="Cambria"/>
              </a:rPr>
              <a:t>“Gộp nhiều bộ đề vào một lần train, cộng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A251D"/>
                </a:solidFill>
                <a:latin typeface="Cambria"/>
              </a:rPr>
              <a:t>với chấm điểm trên chính đề đã học, đủ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A251D"/>
                </a:solidFill>
                <a:latin typeface="Cambria"/>
              </a:rPr>
              <a:t>để tạo ra một hiện tượng ‘sụp’ giả.”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3900000"/>
            <a:ext cx="50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Kèm quy tắc đọc số: các con số “verifier sai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X%” trong bài báo khác là mức-nặng-có-điều-kiện.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A251D"/>
                </a:solidFill>
                <a:latin typeface="Cambria"/>
              </a:rPr>
              <a:t>Tác động thật = mức nặng × tần suất.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55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68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Phạm vi hẹp hơn dự tính ban đầu, nhưng trung thực và tra lại được — và cái bẫy phương pháp này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A251D"/>
                </a:solidFill>
                <a:latin typeface="Cambria"/>
              </a:rPr>
              <a:t>đang khá phổ biến, nên vẫn là đóng góp dùng lại được.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CÂU HỎI CÒN MỞ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Một khả năng chưa loại trừ được — đang chạy để kiểm 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37215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A251D"/>
                </a:solidFill>
                <a:latin typeface="Cambria"/>
              </a:rPr>
              <a:t>Trong cả 7 lần chạy, pass@1 luôn rớt ~3 điểm ở vòng 1 rồi đứng yên. Nhưng các bài báo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A251D"/>
                </a:solidFill>
                <a:latin typeface="Cambria"/>
              </a:rPr>
              <a:t>lớn (STaR, RFT, ReST-EM) đều báo cáo self-training làm model KHÁ LÊN. Vì sao của em ngược?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000000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200000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C5447"/>
                </a:solidFill>
                <a:latin typeface="Cambria"/>
              </a:rPr>
              <a:t>Có một cách giải thích tầm thường chưa loại trừ được: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0000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A251D"/>
                </a:solidFill>
                <a:latin typeface="Cambria"/>
              </a:rPr>
              <a:t>Model đã được tinh chỉnh kỹ sẵn. Một lần SFT ngắn (~40 bước) có thể chỉ đơn giản làm nó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A251D"/>
                </a:solidFill>
                <a:latin typeface="Cambria"/>
              </a:rPr>
              <a:t>xê dịch khỏi trạng thái đã tinh chỉnh — bất kể dạy nó bằng dữ liệu gì.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00000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5C5447"/>
                </a:solidFill>
                <a:latin typeface="Cambria"/>
              </a:rPr>
              <a:t>Thí nghiệm phân định (đã viết code xong, đang chờ GPU):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50000"/>
            <a:ext cx="2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Nếu KHÁ LÊN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0000" y="495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251D"/>
                </a:solidFill>
                <a:latin typeface="Cambria"/>
              </a:rPr>
              <a:t>vòng lặp lành mạnh → “học từ output của chính mình” đúng là cái gây hại.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0000"/>
            <a:ext cx="2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Nếu CŨNG RỚT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0000" y="557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251D"/>
                </a:solidFill>
                <a:latin typeface="Cambria"/>
              </a:rPr>
              <a:t>cú rớt là chi phí của SFT, không phải của self-training → phải viết lại lần nữa.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Chạy lại đúng vòng lặp nhưng dạy bằng lời giải mẫu của bộ đề, thay vì lời giải model tự sinh.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THẢO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Giới hạn — nói trước, không giấu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51D"/>
                </a:solidFill>
                <a:latin typeface="Cambria"/>
              </a:rPr>
              <a:t>Đề thi chỉ 150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67672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C5447"/>
                </a:solidFill>
                <a:latin typeface="Cambria"/>
              </a:rPr>
              <a:t>Một đề ≈ 0,67 điểm. Riêng việc đổi cách bốc đề thi đã làm điểm vòng 0 lệch 4,7 điểm — lớn hơn cả hiệu ứng đang đo.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12767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297672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51D"/>
                </a:solidFill>
                <a:latin typeface="Cambria"/>
              </a:rPr>
              <a:t>Chỉ mới 2 lần lặp cho A và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672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C5447"/>
                </a:solidFill>
                <a:latin typeface="Cambria"/>
              </a:rPr>
              <a:t>C và các lần chạy cũ mới 1 lần. Chưa đủ để nói chắc về cú rớt 12,7 điểm của GSM8K.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47767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647672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51D"/>
                </a:solidFill>
                <a:latin typeface="Cambria"/>
              </a:rPr>
              <a:t>So sánh cũ–mới đổi 3 thứ cùng lúc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67672"/>
            <a:ext cx="1063721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5C5447"/>
                </a:solidFill>
                <a:latin typeface="Cambria"/>
              </a:rPr>
              <a:t>Bỏ gộp, thêm đề thi riêng, giảm số đề. Nên kết luận bác bỏ chỉ dựa trên so sánh A với B — hai lần chạy giống hệt, khác đúng một biến.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82767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TUẦN 3 — GIẢ THUYẾT BỊ BÁC BỎ, THU HẸP 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42855" y="320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C5447"/>
                </a:solidFill>
                <a:latin typeface="Cambria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621792"/>
            <a:ext cx="10637215" cy="0"/>
          </a:xfrm>
          <a:prstGeom prst="line">
            <a:avLst/>
          </a:prstGeom>
          <a:ln w="9525">
            <a:solidFill>
              <a:srgbClr val="D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7772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A1F2B"/>
                </a:solidFill>
                <a:latin typeface="Cambria"/>
              </a:rPr>
              <a:t>TÓM TẮT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10637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A251D"/>
                </a:solidFill>
                <a:latin typeface="Cambria"/>
              </a:rPr>
              <a:t>Tuần 3 và việc tiếp theo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20000"/>
            <a:ext cx="0" cy="1150000"/>
          </a:xfrm>
          <a:prstGeom prst="line">
            <a:avLst/>
          </a:prstGeom>
          <a:ln w="19050">
            <a:solidFill>
              <a:srgbClr val="9C77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33272" y="1880000"/>
            <a:ext cx="10381183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“Thí nghiệm đối chứng bác bỏ giả thuyết trung tâm của đề tài. Nguyên nhân đã đo được: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lỗi verifier tuy nặng 100% nhưng chỉ xảy ra ở 0,55% lời giải. Đề tài chuyển sang cảnh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A251D"/>
                </a:solidFill>
                <a:latin typeface="Cambria"/>
              </a:rPr>
              <a:t>báo về cách đo — hẹp hơn, nhưng đứng vững.”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0000"/>
            <a:ext cx="106372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—  Đã làm: 5 lần chạy cô lập có đối chứng, ~25 giờ GPU; bác bỏ giả thuyết và đo được nguyên nhân.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0000"/>
            <a:ext cx="106372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—  Phát hiện: mức-nặng × tần-suất — quy tắc đọc lại mọi con số verifier-bias, kể cả của bài khác.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90000"/>
            <a:ext cx="106372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—  Đang chạy: thí nghiệm phân định “chi phí SFT” với “tác hại của self-training”.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0000"/>
            <a:ext cx="1063721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9C772B"/>
                </a:solidFill>
                <a:latin typeface="Cambria"/>
              </a:rPr>
              <a:t>—  Bài báo: đã viết lại toàn bộ theo kết luận mới, chờ số liệu cuối để khoá bảng kết quả.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50000"/>
            <a:ext cx="1063721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447"/>
                </a:solidFill>
                <a:latin typeface="Cambria"/>
              </a:rPr>
              <a:t>Cảm ơn thầy đã theo dõi — rất mong nhận góp 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