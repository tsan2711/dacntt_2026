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0" y="0"/>
            <a:ext cx="12191695" cy="150000"/>
          </a:xfrm>
          <a:prstGeom prst="roundRect">
            <a:avLst>
              <a:gd name="adj" fmla="val 0"/>
            </a:avLst>
          </a:prstGeom>
          <a:solidFill>
            <a:srgbClr val="9E2B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00100" y="1180000"/>
            <a:ext cx="10591495" cy="30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9E2B34"/>
                </a:solidFill>
                <a:latin typeface="Helvetica Neue"/>
              </a:rPr>
              <a:t>BÁO CÁO TIẾN ĐỘ  ·  TUẦN 1 ĐẾN TUẦN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00100" y="1700000"/>
            <a:ext cx="10200000" cy="190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600"/>
              </a:spcAft>
            </a:pPr>
            <a:r>
              <a:rPr sz="4000" b="1">
                <a:solidFill>
                  <a:srgbClr val="16161A"/>
                </a:solidFill>
                <a:latin typeface="Georgia"/>
              </a:rPr>
              <a:t>Thí nghiệm đối chứng cho thấy</a:t>
            </a:r>
          </a:p>
          <a:p>
            <a:pPr algn="l">
              <a:lnSpc>
                <a:spcPct val="108000"/>
              </a:lnSpc>
              <a:spcAft>
                <a:spcPts val="600"/>
              </a:spcAft>
            </a:pPr>
            <a:r>
              <a:rPr sz="4000" b="1">
                <a:solidFill>
                  <a:srgbClr val="16161A"/>
                </a:solidFill>
                <a:latin typeface="Georgia"/>
              </a:rPr>
              <a:t>giả thuyết ban đầu không đúng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00100" y="3850000"/>
            <a:ext cx="9200000" cy="100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  <a:spcAft>
                <a:spcPts val="600"/>
              </a:spcAft>
            </a:pPr>
            <a:r>
              <a:rPr sz="1500" b="0">
                <a:solidFill>
                  <a:srgbClr val="3F4149"/>
                </a:solidFill>
                <a:latin typeface="Helvetica Neue"/>
              </a:rPr>
              <a:t>Ba tuần đầu, kết quả thí nghiệm tưởng như đã xác nhận giả thuyết. Sau đó phát hiện thiết kế đo</a:t>
            </a:r>
          </a:p>
          <a:p>
            <a:pPr algn="l">
              <a:lnSpc>
                <a:spcPct val="140000"/>
              </a:lnSpc>
              <a:spcAft>
                <a:spcPts val="600"/>
              </a:spcAft>
            </a:pPr>
            <a:r>
              <a:rPr sz="1500" b="0">
                <a:solidFill>
                  <a:srgbClr val="3F4149"/>
                </a:solidFill>
                <a:latin typeface="Helvetica Neue"/>
              </a:rPr>
              <a:t>có lỗi. Đo lại cho đúng thì kết quả ngược lại.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800100" y="5250000"/>
            <a:ext cx="2400000" cy="0"/>
          </a:xfrm>
          <a:prstGeom prst="line">
            <a:avLst/>
          </a:prstGeom>
          <a:ln w="25400">
            <a:solidFill>
              <a:srgbClr val="9E2B3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800100" y="5480000"/>
            <a:ext cx="6000000" cy="30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1">
                <a:solidFill>
                  <a:srgbClr val="16161A"/>
                </a:solidFill>
                <a:latin typeface="Helvetica Neue"/>
              </a:rPr>
              <a:t>Nguyễn Tấn Sang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00100" y="5820000"/>
            <a:ext cx="6000000" cy="30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>
                <a:solidFill>
                  <a:srgbClr val="8A8D96"/>
                </a:solidFill>
                <a:latin typeface="Helvetica Neue"/>
              </a:rPr>
              <a:t>13 tháng 9,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00100" y="430000"/>
            <a:ext cx="7000000" cy="25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050" b="1">
                <a:solidFill>
                  <a:srgbClr val="9E2B34"/>
                </a:solidFill>
                <a:latin typeface="Helvetica Neue"/>
              </a:rPr>
              <a:t>NỘI DUNG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491595" y="400000"/>
            <a:ext cx="900000" cy="40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600"/>
              </a:spcAft>
            </a:pPr>
            <a:r>
              <a:rPr sz="1500" b="1">
                <a:solidFill>
                  <a:srgbClr val="E6E6EA"/>
                </a:solidFill>
                <a:latin typeface="Georgia"/>
              </a:rPr>
              <a:t>01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00100" y="790000"/>
            <a:ext cx="10591495" cy="62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2900" b="1">
                <a:solidFill>
                  <a:srgbClr val="16161A"/>
                </a:solidFill>
                <a:latin typeface="Georgia"/>
              </a:rPr>
              <a:t>Thứ tự trình bày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00100" y="2170000"/>
            <a:ext cx="500000" cy="33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1">
                <a:solidFill>
                  <a:srgbClr val="9E2B34"/>
                </a:solidFill>
                <a:latin typeface="Georgia"/>
              </a:rPr>
              <a:t>01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100" y="2150000"/>
            <a:ext cx="4200000" cy="33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450" b="1">
                <a:solidFill>
                  <a:srgbClr val="16161A"/>
                </a:solidFill>
                <a:latin typeface="Helvetica Neue"/>
              </a:rPr>
              <a:t>Bối cảnh đề tài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100100" y="2170000"/>
            <a:ext cx="6200000" cy="33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>
                <a:solidFill>
                  <a:srgbClr val="8A8D96"/>
                </a:solidFill>
                <a:latin typeface="Helvetica Neue"/>
              </a:rPr>
              <a:t>và quy trình một vòng thí nghiệm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1500100" y="2580000"/>
            <a:ext cx="9891495" cy="0"/>
          </a:xfrm>
          <a:prstGeom prst="line">
            <a:avLst/>
          </a:prstGeom>
          <a:ln w="9525">
            <a:solidFill>
              <a:srgbClr val="E6E6E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800100" y="2730000"/>
            <a:ext cx="500000" cy="33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1">
                <a:solidFill>
                  <a:srgbClr val="9E2B34"/>
                </a:solidFill>
                <a:latin typeface="Georgia"/>
              </a:rPr>
              <a:t>02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500100" y="2710000"/>
            <a:ext cx="4200000" cy="33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450" b="1">
                <a:solidFill>
                  <a:srgbClr val="16161A"/>
                </a:solidFill>
                <a:latin typeface="Helvetica Neue"/>
              </a:rPr>
              <a:t>Lỗi của máy chấm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100100" y="2730000"/>
            <a:ext cx="6200000" cy="33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>
                <a:solidFill>
                  <a:srgbClr val="8A8D96"/>
                </a:solidFill>
                <a:latin typeface="Helvetica Neue"/>
              </a:rPr>
              <a:t>đo được trước khi chạy thí nghiệm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1500100" y="3140000"/>
            <a:ext cx="9891495" cy="0"/>
          </a:xfrm>
          <a:prstGeom prst="line">
            <a:avLst/>
          </a:prstGeom>
          <a:ln w="9525">
            <a:solidFill>
              <a:srgbClr val="E6E6E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800100" y="3290000"/>
            <a:ext cx="500000" cy="33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1">
                <a:solidFill>
                  <a:srgbClr val="9E2B34"/>
                </a:solidFill>
                <a:latin typeface="Georgia"/>
              </a:rPr>
              <a:t>03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500100" y="3270000"/>
            <a:ext cx="4200000" cy="33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450" b="1">
                <a:solidFill>
                  <a:srgbClr val="16161A"/>
                </a:solidFill>
                <a:latin typeface="Helvetica Neue"/>
              </a:rPr>
              <a:t>Kết quả tuần 1 và tuần 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100100" y="3290000"/>
            <a:ext cx="6200000" cy="33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>
                <a:solidFill>
                  <a:srgbClr val="8A8D96"/>
                </a:solidFill>
                <a:latin typeface="Helvetica Neue"/>
              </a:rPr>
              <a:t>cả hai model đều tụt điểm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1500100" y="3700000"/>
            <a:ext cx="9891495" cy="0"/>
          </a:xfrm>
          <a:prstGeom prst="line">
            <a:avLst/>
          </a:prstGeom>
          <a:ln w="9525">
            <a:solidFill>
              <a:srgbClr val="E6E6E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Box 16"/>
          <p:cNvSpPr txBox="1"/>
          <p:nvPr/>
        </p:nvSpPr>
        <p:spPr>
          <a:xfrm>
            <a:off x="800100" y="3850000"/>
            <a:ext cx="500000" cy="33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1">
                <a:solidFill>
                  <a:srgbClr val="9E2B34"/>
                </a:solidFill>
                <a:latin typeface="Georgia"/>
              </a:rPr>
              <a:t>04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500100" y="3830000"/>
            <a:ext cx="4200000" cy="33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450" b="1">
                <a:solidFill>
                  <a:srgbClr val="16161A"/>
                </a:solidFill>
                <a:latin typeface="Helvetica Neue"/>
              </a:rPr>
              <a:t>Vấn đề trong thiết kế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100100" y="3850000"/>
            <a:ext cx="6200000" cy="33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>
                <a:solidFill>
                  <a:srgbClr val="8A8D96"/>
                </a:solidFill>
                <a:latin typeface="Helvetica Neue"/>
              </a:rPr>
              <a:t>hai lỗi khiến số liệu không dùng được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1500100" y="4260000"/>
            <a:ext cx="9891495" cy="0"/>
          </a:xfrm>
          <a:prstGeom prst="line">
            <a:avLst/>
          </a:prstGeom>
          <a:ln w="9525">
            <a:solidFill>
              <a:srgbClr val="E6E6E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800100" y="4410000"/>
            <a:ext cx="500000" cy="33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1">
                <a:solidFill>
                  <a:srgbClr val="9E2B34"/>
                </a:solidFill>
                <a:latin typeface="Georgia"/>
              </a:rPr>
              <a:t>05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500100" y="4390000"/>
            <a:ext cx="4200000" cy="33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450" b="1">
                <a:solidFill>
                  <a:srgbClr val="16161A"/>
                </a:solidFill>
                <a:latin typeface="Helvetica Neue"/>
              </a:rPr>
              <a:t>Thí nghiệm làm lại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100100" y="4410000"/>
            <a:ext cx="6200000" cy="33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>
                <a:solidFill>
                  <a:srgbClr val="8A8D96"/>
                </a:solidFill>
                <a:latin typeface="Helvetica Neue"/>
              </a:rPr>
              <a:t>năm lần chạy mới, kết quả ngược lại</a:t>
            </a:r>
          </a:p>
        </p:txBody>
      </p:sp>
      <p:cxnSp>
        <p:nvCxnSpPr>
          <p:cNvPr id="24" name="Connector 23"/>
          <p:cNvCxnSpPr/>
          <p:nvPr/>
        </p:nvCxnSpPr>
        <p:spPr>
          <a:xfrm>
            <a:off x="1500100" y="4820000"/>
            <a:ext cx="9891495" cy="0"/>
          </a:xfrm>
          <a:prstGeom prst="line">
            <a:avLst/>
          </a:prstGeom>
          <a:ln w="9525">
            <a:solidFill>
              <a:srgbClr val="E6E6E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TextBox 24"/>
          <p:cNvSpPr txBox="1"/>
          <p:nvPr/>
        </p:nvSpPr>
        <p:spPr>
          <a:xfrm>
            <a:off x="800100" y="4970000"/>
            <a:ext cx="500000" cy="33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1">
                <a:solidFill>
                  <a:srgbClr val="9E2B34"/>
                </a:solidFill>
                <a:latin typeface="Georgia"/>
              </a:rPr>
              <a:t>06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500100" y="4950000"/>
            <a:ext cx="4200000" cy="33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450" b="1">
                <a:solidFill>
                  <a:srgbClr val="16161A"/>
                </a:solidFill>
                <a:latin typeface="Helvetica Neue"/>
              </a:rPr>
              <a:t>Nguyên nhân và đề tài tiếp theo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100100" y="4970000"/>
            <a:ext cx="6200000" cy="33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>
                <a:solidFill>
                  <a:srgbClr val="8A8D96"/>
                </a:solidFill>
                <a:latin typeface="Helvetica Neue"/>
              </a:rPr>
              <a:t>hướng nghiên cứu sau khi điều chỉnh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00100" y="430000"/>
            <a:ext cx="7000000" cy="25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050" b="1">
                <a:solidFill>
                  <a:srgbClr val="9E2B34"/>
                </a:solidFill>
                <a:latin typeface="Helvetica Neue"/>
              </a:rPr>
              <a:t>ĐỀ TÀI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491595" y="400000"/>
            <a:ext cx="900000" cy="40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600"/>
              </a:spcAft>
            </a:pPr>
            <a:r>
              <a:rPr sz="1500" b="1">
                <a:solidFill>
                  <a:srgbClr val="E6E6EA"/>
                </a:solidFill>
                <a:latin typeface="Georgia"/>
              </a:rPr>
              <a:t>02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00100" y="790000"/>
            <a:ext cx="10591495" cy="62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2900" b="1">
                <a:solidFill>
                  <a:srgbClr val="16161A"/>
                </a:solidFill>
                <a:latin typeface="Georgia"/>
              </a:rPr>
              <a:t>Cho model tự học, không cần người dạy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00100" y="1700000"/>
            <a:ext cx="10591495" cy="90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5000"/>
              </a:lnSpc>
              <a:spcAft>
                <a:spcPts val="600"/>
              </a:spcAft>
            </a:pPr>
            <a:r>
              <a:rPr sz="1400" b="0">
                <a:solidFill>
                  <a:srgbClr val="3F4149"/>
                </a:solidFill>
                <a:latin typeface="Helvetica Neue"/>
              </a:rPr>
              <a:t>Muốn model giải toán giỏi hơn thì bình thường phải có người soạn lời giải mẫu cho nó học.</a:t>
            </a:r>
          </a:p>
          <a:p>
            <a:pPr algn="l">
              <a:lnSpc>
                <a:spcPct val="145000"/>
              </a:lnSpc>
              <a:spcAft>
                <a:spcPts val="600"/>
              </a:spcAft>
            </a:pPr>
            <a:r>
              <a:rPr sz="1400" b="0">
                <a:solidFill>
                  <a:srgbClr val="3F4149"/>
                </a:solidFill>
                <a:latin typeface="Helvetica Neue"/>
              </a:rPr>
              <a:t>Việc đó rất tốn công. Nên người ta nghĩ ra cách cho model tự làm bài, rồi dùng một máy chấm</a:t>
            </a:r>
          </a:p>
          <a:p>
            <a:pPr algn="l">
              <a:lnSpc>
                <a:spcPct val="145000"/>
              </a:lnSpc>
              <a:spcAft>
                <a:spcPts val="600"/>
              </a:spcAft>
            </a:pPr>
            <a:r>
              <a:rPr sz="1400" b="0">
                <a:solidFill>
                  <a:srgbClr val="3F4149"/>
                </a:solidFill>
                <a:latin typeface="Helvetica Neue"/>
              </a:rPr>
              <a:t>tự động chọn ra bài nào nó làm đúng, lấy đúng những bài đó dạy lại cho nó. Làm đi làm lại</a:t>
            </a:r>
          </a:p>
          <a:p>
            <a:pPr algn="l">
              <a:lnSpc>
                <a:spcPct val="145000"/>
              </a:lnSpc>
              <a:spcAft>
                <a:spcPts val="600"/>
              </a:spcAft>
            </a:pPr>
            <a:r>
              <a:rPr sz="1400" b="0">
                <a:solidFill>
                  <a:srgbClr val="3F4149"/>
                </a:solidFill>
                <a:latin typeface="Helvetica Neue"/>
              </a:rPr>
              <a:t>nhiều vòng. Cách này tên là tự học (self-training).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80100" y="3300000"/>
            <a:ext cx="10831495" cy="900000"/>
          </a:xfrm>
          <a:prstGeom prst="roundRect">
            <a:avLst>
              <a:gd name="adj" fmla="val 4000"/>
            </a:avLst>
          </a:prstGeom>
          <a:solidFill>
            <a:srgbClr val="F5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20100" y="3480000"/>
            <a:ext cx="10351495" cy="60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  <a:spcAft>
                <a:spcPts val="600"/>
              </a:spcAft>
            </a:pPr>
            <a:r>
              <a:rPr sz="1400" b="0">
                <a:solidFill>
                  <a:srgbClr val="16161A"/>
                </a:solidFill>
                <a:latin typeface="Georgia"/>
              </a:rPr>
              <a:t>Toàn bộ cách làm này dựa trên một niềm tin: máy chấm phải chấm đúng. Nếu máy chấm sai,</a:t>
            </a:r>
          </a:p>
          <a:p>
            <a:pPr algn="l">
              <a:lnSpc>
                <a:spcPct val="140000"/>
              </a:lnSpc>
              <a:spcAft>
                <a:spcPts val="600"/>
              </a:spcAft>
            </a:pPr>
            <a:r>
              <a:rPr sz="1400" b="0">
                <a:solidFill>
                  <a:srgbClr val="16161A"/>
                </a:solidFill>
                <a:latin typeface="Georgia"/>
              </a:rPr>
              <a:t>model sẽ học nhầm, mà không ai biết.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00100" y="4500000"/>
            <a:ext cx="10591495" cy="30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1">
                <a:solidFill>
                  <a:srgbClr val="8A8D96"/>
                </a:solidFill>
                <a:latin typeface="Helvetica Neue"/>
              </a:rPr>
              <a:t>CÂU HỎI CỦA ĐỀ TÀI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00100" y="4870000"/>
            <a:ext cx="10591495" cy="70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600"/>
              </a:spcAft>
            </a:pPr>
            <a:r>
              <a:rPr sz="1600" b="1">
                <a:solidFill>
                  <a:srgbClr val="9E2B34"/>
                </a:solidFill>
                <a:latin typeface="Georgia"/>
              </a:rPr>
              <a:t>Máy chấm có sai, và sai theo một quy luật cố định.</a:t>
            </a:r>
          </a:p>
          <a:p>
            <a:pPr algn="l">
              <a:lnSpc>
                <a:spcPct val="135000"/>
              </a:lnSpc>
              <a:spcAft>
                <a:spcPts val="600"/>
              </a:spcAft>
            </a:pPr>
            <a:r>
              <a:rPr sz="1600" b="1">
                <a:solidFill>
                  <a:srgbClr val="9E2B34"/>
                </a:solidFill>
                <a:latin typeface="Georgia"/>
              </a:rPr>
              <a:t>Sau nhiều vòng tự học, model có bị dở đi không?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00100" y="430000"/>
            <a:ext cx="7000000" cy="25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050" b="1">
                <a:solidFill>
                  <a:srgbClr val="9E2B34"/>
                </a:solidFill>
                <a:latin typeface="Helvetica Neue"/>
              </a:rPr>
              <a:t>MỘT VÒNG CHẠY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491595" y="400000"/>
            <a:ext cx="900000" cy="40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600"/>
              </a:spcAft>
            </a:pPr>
            <a:r>
              <a:rPr sz="1500" b="1">
                <a:solidFill>
                  <a:srgbClr val="E6E6EA"/>
                </a:solidFill>
                <a:latin typeface="Georgia"/>
              </a:rPr>
              <a:t>03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00100" y="790000"/>
            <a:ext cx="10591495" cy="62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2900" b="1">
                <a:solidFill>
                  <a:srgbClr val="16161A"/>
                </a:solidFill>
                <a:latin typeface="Georgia"/>
              </a:rPr>
              <a:t>Ba bước, lặp lại năm lần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00100" y="1900000"/>
            <a:ext cx="3300000" cy="1620000"/>
          </a:xfrm>
          <a:prstGeom prst="roundRect">
            <a:avLst>
              <a:gd name="adj" fmla="val 4000"/>
            </a:avLst>
          </a:prstGeom>
          <a:solidFill>
            <a:srgbClr val="F5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40100" y="2080000"/>
            <a:ext cx="400000" cy="33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700" b="1">
                <a:solidFill>
                  <a:srgbClr val="9E2B34"/>
                </a:solidFill>
                <a:latin typeface="Georgia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0100" y="2500000"/>
            <a:ext cx="2900000" cy="33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>
                <a:solidFill>
                  <a:srgbClr val="16161A"/>
                </a:solidFill>
                <a:latin typeface="Helvetica Neue"/>
              </a:rPr>
              <a:t>Làm bài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40100" y="2880000"/>
            <a:ext cx="2900000" cy="60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00" b="0">
                <a:solidFill>
                  <a:srgbClr val="3F4149"/>
                </a:solidFill>
                <a:latin typeface="Helvetica Neue"/>
              </a:rPr>
              <a:t>Model tự làm mỗi đề 8 lần,</a:t>
            </a: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00" b="0">
                <a:solidFill>
                  <a:srgbClr val="3F4149"/>
                </a:solidFill>
                <a:latin typeface="Helvetica Neue"/>
              </a:rPr>
              <a:t>ra 8 lời giải khác nhau.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60100" y="1900000"/>
            <a:ext cx="3300000" cy="1620000"/>
          </a:xfrm>
          <a:prstGeom prst="roundRect">
            <a:avLst>
              <a:gd name="adj" fmla="val 4000"/>
            </a:avLst>
          </a:prstGeom>
          <a:solidFill>
            <a:srgbClr val="F5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600100" y="2080000"/>
            <a:ext cx="400000" cy="33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700" b="1">
                <a:solidFill>
                  <a:srgbClr val="9E2B34"/>
                </a:solidFill>
                <a:latin typeface="Georgia"/>
              </a:rP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600100" y="2500000"/>
            <a:ext cx="2900000" cy="33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>
                <a:solidFill>
                  <a:srgbClr val="16161A"/>
                </a:solidFill>
                <a:latin typeface="Helvetica Neue"/>
              </a:rPr>
              <a:t>Chấm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600100" y="2880000"/>
            <a:ext cx="2900000" cy="60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00" b="0">
                <a:solidFill>
                  <a:srgbClr val="3F4149"/>
                </a:solidFill>
                <a:latin typeface="Helvetica Neue"/>
              </a:rPr>
              <a:t>Máy chấm so đáp án cuối với</a:t>
            </a: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00" b="0">
                <a:solidFill>
                  <a:srgbClr val="3F4149"/>
                </a:solidFill>
                <a:latin typeface="Helvetica Neue"/>
              </a:rPr>
              <a:t>đáp án trong sách. Sai thì bỏ.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920100" y="1900000"/>
            <a:ext cx="3300000" cy="1620000"/>
          </a:xfrm>
          <a:prstGeom prst="roundRect">
            <a:avLst>
              <a:gd name="adj" fmla="val 4000"/>
            </a:avLst>
          </a:prstGeom>
          <a:solidFill>
            <a:srgbClr val="F5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160100" y="2080000"/>
            <a:ext cx="400000" cy="33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700" b="1">
                <a:solidFill>
                  <a:srgbClr val="9E2B34"/>
                </a:solidFill>
                <a:latin typeface="Georgia"/>
              </a:rPr>
              <a:t>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160100" y="2500000"/>
            <a:ext cx="2900000" cy="33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>
                <a:solidFill>
                  <a:srgbClr val="16161A"/>
                </a:solidFill>
                <a:latin typeface="Helvetica Neue"/>
              </a:rPr>
              <a:t>Học lại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160100" y="2880000"/>
            <a:ext cx="2900000" cy="60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00" b="0">
                <a:solidFill>
                  <a:srgbClr val="3F4149"/>
                </a:solidFill>
                <a:latin typeface="Helvetica Neue"/>
              </a:rPr>
              <a:t>Lấy đúng những bài vừa được</a:t>
            </a: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00" b="0">
                <a:solidFill>
                  <a:srgbClr val="3F4149"/>
                </a:solidFill>
                <a:latin typeface="Helvetica Neue"/>
              </a:rPr>
              <a:t>chấm đúng, dạy lại cho model.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800100" y="3800000"/>
            <a:ext cx="10591495" cy="0"/>
          </a:xfrm>
          <a:prstGeom prst="line">
            <a:avLst/>
          </a:prstGeom>
          <a:ln w="9525">
            <a:solidFill>
              <a:srgbClr val="E6E6E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Box 17"/>
          <p:cNvSpPr txBox="1"/>
          <p:nvPr/>
        </p:nvSpPr>
        <p:spPr>
          <a:xfrm>
            <a:off x="800100" y="3990000"/>
            <a:ext cx="10591495" cy="80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5000"/>
              </a:lnSpc>
              <a:spcAft>
                <a:spcPts val="600"/>
              </a:spcAft>
            </a:pPr>
            <a:r>
              <a:rPr sz="1300" b="0">
                <a:solidFill>
                  <a:srgbClr val="3F4149"/>
                </a:solidFill>
                <a:latin typeface="Helvetica Neue"/>
              </a:rPr>
              <a:t>Mỗi vòng dạy lại từ model gốc, chỉ bằng bài của vòng trước. Nên nếu máy chấm bỏ sót một kiểu</a:t>
            </a:r>
          </a:p>
          <a:p>
            <a:pPr algn="l">
              <a:lnSpc>
                <a:spcPct val="145000"/>
              </a:lnSpc>
              <a:spcAft>
                <a:spcPts val="600"/>
              </a:spcAft>
            </a:pPr>
            <a:r>
              <a:rPr sz="1300" b="0">
                <a:solidFill>
                  <a:srgbClr val="3F4149"/>
                </a:solidFill>
                <a:latin typeface="Helvetica Neue"/>
              </a:rPr>
              <a:t>bài nào đó, vòng sau model càng ít gặp kiểu bài đó. Vòng sau nữa lại càng ít hơn.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80100" y="4950000"/>
            <a:ext cx="10831495" cy="1400000"/>
          </a:xfrm>
          <a:prstGeom prst="roundRect">
            <a:avLst>
              <a:gd name="adj" fmla="val 4000"/>
            </a:avLst>
          </a:prstGeom>
          <a:solidFill>
            <a:srgbClr val="F5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20100" y="5180000"/>
            <a:ext cx="10351495" cy="75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5000"/>
              </a:lnSpc>
              <a:spcAft>
                <a:spcPts val="600"/>
              </a:spcAft>
            </a:pPr>
            <a:r>
              <a:rPr sz="1300" b="0">
                <a:solidFill>
                  <a:srgbClr val="16161A"/>
                </a:solidFill>
                <a:latin typeface="Helvetica Neue"/>
              </a:rPr>
              <a:t>Hai chỉ số dùng xuyên suốt:</a:t>
            </a:r>
          </a:p>
          <a:p>
            <a:pPr algn="l">
              <a:lnSpc>
                <a:spcPct val="145000"/>
              </a:lnSpc>
              <a:spcAft>
                <a:spcPts val="600"/>
              </a:spcAft>
            </a:pPr>
            <a:r>
              <a:rPr sz="1300" b="0">
                <a:solidFill>
                  <a:srgbClr val="16161A"/>
                </a:solidFill>
                <a:latin typeface="Helvetica Neue"/>
              </a:rPr>
              <a:t>pass@1  —  cho model làm 1 lần, đúng bao nhiêu phần trăm số đề.</a:t>
            </a:r>
          </a:p>
          <a:p>
            <a:pPr algn="l">
              <a:lnSpc>
                <a:spcPct val="145000"/>
              </a:lnSpc>
              <a:spcAft>
                <a:spcPts val="600"/>
              </a:spcAft>
            </a:pPr>
            <a:r>
              <a:rPr sz="1300" b="0">
                <a:solidFill>
                  <a:srgbClr val="16161A"/>
                </a:solidFill>
                <a:latin typeface="Helvetica Neue"/>
              </a:rPr>
              <a:t>pass@8  —  cho làm 8 lần, chỉ cần 1 lần đúng là tính đúng. Đo xem model còn giải nổi bài không.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00100" y="430000"/>
            <a:ext cx="7000000" cy="25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050" b="1">
                <a:solidFill>
                  <a:srgbClr val="9E2B34"/>
                </a:solidFill>
                <a:latin typeface="Helvetica Neue"/>
              </a:rPr>
              <a:t>MÁY CHẤM SAI Ở ĐÂU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491595" y="400000"/>
            <a:ext cx="900000" cy="40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600"/>
              </a:spcAft>
            </a:pPr>
            <a:r>
              <a:rPr sz="1500" b="1">
                <a:solidFill>
                  <a:srgbClr val="E6E6EA"/>
                </a:solidFill>
                <a:latin typeface="Georgia"/>
              </a:rPr>
              <a:t>04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00100" y="790000"/>
            <a:ext cx="10591495" cy="62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2900" b="1">
                <a:solidFill>
                  <a:srgbClr val="16161A"/>
                </a:solidFill>
                <a:latin typeface="Georgia"/>
              </a:rPr>
              <a:t>Cùng một đáp án, viết khác kiểu là bị gạch</a:t>
            </a:r>
          </a:p>
        </p:txBody>
      </p:sp>
      <p:pic>
        <p:nvPicPr>
          <p:cNvPr id="5" name="Picture 4" descr="deck_verifier_bu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45847" y="1780000"/>
            <a:ext cx="9900000" cy="2651786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800100" y="4650000"/>
            <a:ext cx="10591495" cy="70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5000"/>
              </a:lnSpc>
              <a:spcAft>
                <a:spcPts val="600"/>
              </a:spcAft>
            </a:pPr>
            <a:r>
              <a:rPr sz="1350" b="0">
                <a:solidFill>
                  <a:srgbClr val="3F4149"/>
                </a:solidFill>
                <a:latin typeface="Helvetica Neue"/>
              </a:rPr>
              <a:t>Máy chấm không đọc cách giải. Nó chỉ lấy đáp án cuối rồi so chữ với đáp án trong sách.</a:t>
            </a:r>
          </a:p>
          <a:p>
            <a:pPr algn="l">
              <a:lnSpc>
                <a:spcPct val="145000"/>
              </a:lnSpc>
              <a:spcAft>
                <a:spcPts val="600"/>
              </a:spcAft>
            </a:pPr>
            <a:r>
              <a:rPr sz="1350" b="0">
                <a:solidFill>
                  <a:srgbClr val="3F4149"/>
                </a:solidFill>
                <a:latin typeface="Helvetica Neue"/>
              </a:rPr>
              <a:t>Hai cách viết trên cho ra cùng một phân số, nhưng nó chỉ nhận một cách.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80100" y="5480000"/>
            <a:ext cx="10831495" cy="800000"/>
          </a:xfrm>
          <a:prstGeom prst="roundRect">
            <a:avLst>
              <a:gd name="adj" fmla="val 4000"/>
            </a:avLst>
          </a:prstGeom>
          <a:solidFill>
            <a:srgbClr val="F5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20100" y="5650000"/>
            <a:ext cx="10351495" cy="52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50" b="1">
                <a:solidFill>
                  <a:srgbClr val="16161A"/>
                </a:solidFill>
                <a:latin typeface="Helvetica Neue"/>
              </a:rPr>
              <a:t>7,8% là tỉ lệ máy chấm gạch OAN bài model làm ĐÚNG (10/128 bài, kiểm tra tay) — không phải tỉ lệ model làm sai.</a:t>
            </a:r>
          </a:p>
          <a:p>
            <a:pPr algn="l">
              <a:spcAft>
                <a:spcPts val="600"/>
              </a:spcAft>
            </a:pPr>
            <a:r>
              <a:rPr sz="1250" b="1">
                <a:solidFill>
                  <a:srgbClr val="16161A"/>
                </a:solidFill>
                <a:latin typeface="Helvetica Neue"/>
              </a:rPr>
              <a:t>Trên GSM8K con số này là 0%: máy chấm ở đó không gạch oan bài nào, nên điểm đo được là năng lực thật của model.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00100" y="430000"/>
            <a:ext cx="7000000" cy="25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050" b="1">
                <a:solidFill>
                  <a:srgbClr val="9E2B34"/>
                </a:solidFill>
                <a:latin typeface="Helvetica Neue"/>
              </a:rPr>
              <a:t>TUẦN 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491595" y="400000"/>
            <a:ext cx="900000" cy="40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600"/>
              </a:spcAft>
            </a:pPr>
            <a:r>
              <a:rPr sz="1500" b="1">
                <a:solidFill>
                  <a:srgbClr val="E6E6EA"/>
                </a:solidFill>
                <a:latin typeface="Georgia"/>
              </a:rPr>
              <a:t>05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00100" y="790000"/>
            <a:ext cx="10591495" cy="62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2900" b="1">
                <a:solidFill>
                  <a:srgbClr val="16161A"/>
                </a:solidFill>
                <a:latin typeface="Georgia"/>
              </a:rPr>
              <a:t>Lần chạy đầu tiên trên model nhỏ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00100" y="1700000"/>
            <a:ext cx="10591495" cy="40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350" b="0">
                <a:solidFill>
                  <a:srgbClr val="3F4149"/>
                </a:solidFill>
                <a:latin typeface="Helvetica Neue"/>
              </a:rPr>
              <a:t>Cấu hình: Qwen 0.5B, 500 đề mỗi bộ, 5 vòng, chạy trên GPU của Kaggle.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00100" y="2250000"/>
            <a:ext cx="5190000" cy="1500000"/>
          </a:xfrm>
          <a:prstGeom prst="roundRect">
            <a:avLst>
              <a:gd name="adj" fmla="val 4000"/>
            </a:avLst>
          </a:prstGeom>
          <a:solidFill>
            <a:srgbClr val="F5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60100" y="2420000"/>
            <a:ext cx="2000000" cy="30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8A8D96"/>
                </a:solidFill>
                <a:latin typeface="Helvetica Neue"/>
              </a:rPr>
              <a:t>pass@1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60100" y="2780000"/>
            <a:ext cx="4700000" cy="55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>
                <a:solidFill>
                  <a:srgbClr val="16161A"/>
                </a:solidFill>
                <a:latin typeface="Georgia"/>
              </a:rPr>
              <a:t>31,1%  →  27,4%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100" y="3400000"/>
            <a:ext cx="4700000" cy="30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>
                <a:solidFill>
                  <a:srgbClr val="8A8D96"/>
                </a:solidFill>
                <a:latin typeface="Helvetica Neue"/>
              </a:rPr>
              <a:t>làm 1 lần đúng, sau 5 vòng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00100" y="2250000"/>
            <a:ext cx="5190000" cy="1500000"/>
          </a:xfrm>
          <a:prstGeom prst="roundRect">
            <a:avLst>
              <a:gd name="adj" fmla="val 4000"/>
            </a:avLst>
          </a:prstGeom>
          <a:solidFill>
            <a:srgbClr val="F5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60100" y="2420000"/>
            <a:ext cx="2000000" cy="30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8A8D96"/>
                </a:solidFill>
                <a:latin typeface="Helvetica Neue"/>
              </a:rPr>
              <a:t>pass@8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60100" y="2780000"/>
            <a:ext cx="4700000" cy="55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>
                <a:solidFill>
                  <a:srgbClr val="16161A"/>
                </a:solidFill>
                <a:latin typeface="Georgia"/>
              </a:rPr>
              <a:t>60,5%  →  54,9%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60100" y="3400000"/>
            <a:ext cx="4700000" cy="30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>
                <a:solidFill>
                  <a:srgbClr val="8A8D96"/>
                </a:solidFill>
                <a:latin typeface="Helvetica Neue"/>
              </a:rPr>
              <a:t>cho làm 8 lần, sau 5 vòng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00100" y="4000000"/>
            <a:ext cx="10591495" cy="80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5000"/>
              </a:lnSpc>
              <a:spcAft>
                <a:spcPts val="600"/>
              </a:spcAft>
            </a:pPr>
            <a:r>
              <a:rPr sz="1350" b="0">
                <a:solidFill>
                  <a:srgbClr val="3F4149"/>
                </a:solidFill>
                <a:latin typeface="Helvetica Neue"/>
              </a:rPr>
              <a:t>Cả hai chỉ số đều tụt, khớp với giả thuyết: máy chấm gạch nhầm bài đúng, model học thiếu nên</a:t>
            </a:r>
          </a:p>
          <a:p>
            <a:pPr algn="l">
              <a:lnSpc>
                <a:spcPct val="145000"/>
              </a:lnSpc>
              <a:spcAft>
                <a:spcPts val="600"/>
              </a:spcAft>
            </a:pPr>
            <a:r>
              <a:rPr sz="1350" b="0">
                <a:solidFill>
                  <a:srgbClr val="3F4149"/>
                </a:solidFill>
                <a:latin typeface="Helvetica Neue"/>
              </a:rPr>
              <a:t>dở đi. Nhưng model này nhỏ và mức tụt cũng ít, chưa đủ cơ sở để kết luận.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80100" y="5050000"/>
            <a:ext cx="10831495" cy="620000"/>
          </a:xfrm>
          <a:prstGeom prst="roundRect">
            <a:avLst>
              <a:gd name="adj" fmla="val 4000"/>
            </a:avLst>
          </a:prstGeom>
          <a:solidFill>
            <a:srgbClr val="F0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20100" y="5240000"/>
            <a:ext cx="10351495" cy="30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50" b="1">
                <a:solidFill>
                  <a:srgbClr val="0173B2"/>
                </a:solidFill>
                <a:latin typeface="Helvetica Neue"/>
              </a:rPr>
              <a:t>Tuần 2 chạy lại với model to gấp ba, để xem hiện tượng có rõ hơn không.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00100" y="430000"/>
            <a:ext cx="7000000" cy="25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050" b="1">
                <a:solidFill>
                  <a:srgbClr val="9E2B34"/>
                </a:solidFill>
                <a:latin typeface="Helvetica Neue"/>
              </a:rPr>
              <a:t>TUẦN 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491595" y="400000"/>
            <a:ext cx="900000" cy="40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600"/>
              </a:spcAft>
            </a:pPr>
            <a:r>
              <a:rPr sz="1500" b="1">
                <a:solidFill>
                  <a:srgbClr val="E6E6EA"/>
                </a:solidFill>
                <a:latin typeface="Georgia"/>
              </a:rPr>
              <a:t>06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00100" y="790000"/>
            <a:ext cx="10591495" cy="62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2900" b="1">
                <a:solidFill>
                  <a:srgbClr val="16161A"/>
                </a:solidFill>
                <a:latin typeface="Georgia"/>
              </a:rPr>
              <a:t>Model to gấp ba, tụt mạnh hơn hẳn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00100" y="1950000"/>
            <a:ext cx="3100000" cy="30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1">
                <a:solidFill>
                  <a:srgbClr val="8A8D96"/>
                </a:solidFill>
                <a:latin typeface="Helvetica Neue"/>
              </a:rPr>
              <a:t>ĐO TRÊN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00100" y="1950000"/>
            <a:ext cx="2200000" cy="30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1">
                <a:solidFill>
                  <a:srgbClr val="8A8D96"/>
                </a:solidFill>
                <a:latin typeface="Helvetica Neue"/>
              </a:rPr>
              <a:t>PASS@1  VÒNG 0 → 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100" y="1950000"/>
            <a:ext cx="2200000" cy="30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1">
                <a:solidFill>
                  <a:srgbClr val="8A8D96"/>
                </a:solidFill>
                <a:latin typeface="Helvetica Neue"/>
              </a:rPr>
              <a:t>PASS@8  VÒNG 0 → 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700100" y="1950000"/>
            <a:ext cx="2600000" cy="30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1">
                <a:solidFill>
                  <a:srgbClr val="8A8D96"/>
                </a:solidFill>
                <a:latin typeface="Helvetica Neue"/>
              </a:rPr>
              <a:t>TỤT BAO NHIÊU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80100" y="2330000"/>
            <a:ext cx="10831495" cy="1890000"/>
          </a:xfrm>
          <a:prstGeom prst="roundRect">
            <a:avLst>
              <a:gd name="adj" fmla="val 4000"/>
            </a:avLst>
          </a:prstGeom>
          <a:solidFill>
            <a:srgbClr val="F5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00100" y="2470000"/>
            <a:ext cx="3100000" cy="33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>
                <a:solidFill>
                  <a:srgbClr val="3F4149"/>
                </a:solidFill>
                <a:latin typeface="Helvetica Neue"/>
              </a:rPr>
              <a:t>Qwen 0.5B  (tuần 1)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100100" y="2470000"/>
            <a:ext cx="2200000" cy="33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>
                <a:solidFill>
                  <a:srgbClr val="3F4149"/>
                </a:solidFill>
                <a:latin typeface="Helvetica Neue"/>
              </a:rPr>
              <a:t>31,1% → 27,4%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100" y="2470000"/>
            <a:ext cx="2200000" cy="33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>
                <a:solidFill>
                  <a:srgbClr val="3F4149"/>
                </a:solidFill>
                <a:latin typeface="Helvetica Neue"/>
              </a:rPr>
              <a:t>60,5% → 54,9%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700100" y="2470000"/>
            <a:ext cx="2600000" cy="33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>
                <a:solidFill>
                  <a:srgbClr val="3F4149"/>
                </a:solidFill>
                <a:latin typeface="Helvetica Neue"/>
              </a:rPr>
              <a:t>5,6 điểm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760100" y="2845000"/>
            <a:ext cx="10671495" cy="0"/>
          </a:xfrm>
          <a:prstGeom prst="line">
            <a:avLst/>
          </a:prstGeom>
          <a:ln w="9525">
            <a:solidFill>
              <a:srgbClr val="E9E9E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800100" y="2900000"/>
            <a:ext cx="3100000" cy="33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16161A"/>
                </a:solidFill>
                <a:latin typeface="Helvetica Neue"/>
              </a:rPr>
              <a:t>Qwen 1.5B  (tuần 2)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100100" y="2900000"/>
            <a:ext cx="2200000" cy="33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16161A"/>
                </a:solidFill>
                <a:latin typeface="Helvetica Neue"/>
              </a:rPr>
              <a:t>50,0% → 18,6%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0100" y="2900000"/>
            <a:ext cx="2200000" cy="33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16161A"/>
                </a:solidFill>
                <a:latin typeface="Helvetica Neue"/>
              </a:rPr>
              <a:t>72,6% → 48,6%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700100" y="2900000"/>
            <a:ext cx="2600000" cy="33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16161A"/>
                </a:solidFill>
                <a:latin typeface="Helvetica Neue"/>
              </a:rPr>
              <a:t>24,0 điểm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760100" y="3275000"/>
            <a:ext cx="10671495" cy="0"/>
          </a:xfrm>
          <a:prstGeom prst="line">
            <a:avLst/>
          </a:prstGeom>
          <a:ln w="9525">
            <a:solidFill>
              <a:srgbClr val="E9E9E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TextBox 19"/>
          <p:cNvSpPr txBox="1"/>
          <p:nvPr/>
        </p:nvSpPr>
        <p:spPr>
          <a:xfrm>
            <a:off x="800100" y="3330000"/>
            <a:ext cx="3100000" cy="33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>
                <a:solidFill>
                  <a:srgbClr val="3F4149"/>
                </a:solidFill>
                <a:latin typeface="Helvetica Neue"/>
              </a:rPr>
              <a:t>1.5B, riêng bộ GSM8K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100100" y="3330000"/>
            <a:ext cx="2200000" cy="33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>
                <a:solidFill>
                  <a:srgbClr val="3F4149"/>
                </a:solidFill>
                <a:latin typeface="Helvetica Neue"/>
              </a:rPr>
              <a:t>69,6% → 26,6%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00100" y="3330000"/>
            <a:ext cx="2200000" cy="33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>
                <a:solidFill>
                  <a:srgbClr val="3F4149"/>
                </a:solidFill>
                <a:latin typeface="Helvetica Neue"/>
              </a:rPr>
              <a:t>91,4% → 65,8%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700100" y="3330000"/>
            <a:ext cx="2600000" cy="33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>
                <a:solidFill>
                  <a:srgbClr val="3F4149"/>
                </a:solidFill>
                <a:latin typeface="Helvetica Neue"/>
              </a:rPr>
              <a:t>25,6 điểm</a:t>
            </a:r>
          </a:p>
        </p:txBody>
      </p:sp>
      <p:cxnSp>
        <p:nvCxnSpPr>
          <p:cNvPr id="24" name="Connector 23"/>
          <p:cNvCxnSpPr/>
          <p:nvPr/>
        </p:nvCxnSpPr>
        <p:spPr>
          <a:xfrm>
            <a:off x="760100" y="3705000"/>
            <a:ext cx="10671495" cy="0"/>
          </a:xfrm>
          <a:prstGeom prst="line">
            <a:avLst/>
          </a:prstGeom>
          <a:ln w="9525">
            <a:solidFill>
              <a:srgbClr val="E9E9E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TextBox 24"/>
          <p:cNvSpPr txBox="1"/>
          <p:nvPr/>
        </p:nvSpPr>
        <p:spPr>
          <a:xfrm>
            <a:off x="800100" y="3760000"/>
            <a:ext cx="3100000" cy="33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>
                <a:solidFill>
                  <a:srgbClr val="3F4149"/>
                </a:solidFill>
                <a:latin typeface="Helvetica Neue"/>
              </a:rPr>
              <a:t>1.5B, riêng bộ MATH-500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100100" y="3760000"/>
            <a:ext cx="2200000" cy="33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>
                <a:solidFill>
                  <a:srgbClr val="3F4149"/>
                </a:solidFill>
                <a:latin typeface="Helvetica Neue"/>
              </a:rPr>
              <a:t>30,4% → 10,6%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400100" y="3760000"/>
            <a:ext cx="2200000" cy="33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>
                <a:solidFill>
                  <a:srgbClr val="3F4149"/>
                </a:solidFill>
                <a:latin typeface="Helvetica Neue"/>
              </a:rPr>
              <a:t>53,8% → 31,4%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700100" y="3760000"/>
            <a:ext cx="2600000" cy="33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>
                <a:solidFill>
                  <a:srgbClr val="3F4149"/>
                </a:solidFill>
                <a:latin typeface="Helvetica Neue"/>
              </a:rPr>
              <a:t>22,4 điểm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00100" y="4520000"/>
            <a:ext cx="10591495" cy="50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5000"/>
              </a:lnSpc>
              <a:spcAft>
                <a:spcPts val="600"/>
              </a:spcAft>
            </a:pPr>
            <a:r>
              <a:rPr sz="1300" b="0">
                <a:solidFill>
                  <a:srgbClr val="3F4149"/>
                </a:solidFill>
                <a:latin typeface="Helvetica Neue"/>
              </a:rPr>
              <a:t>Vòng 0 là model gốc chưa học gì. 69,6% trên GSM8K là năng lực thật của nó — 30,4% còn lại nó làm</a:t>
            </a:r>
          </a:p>
          <a:p>
            <a:pPr algn="l">
              <a:lnSpc>
                <a:spcPct val="145000"/>
              </a:lnSpc>
              <a:spcAft>
                <a:spcPts val="600"/>
              </a:spcAft>
            </a:pPr>
            <a:r>
              <a:rPr sz="1300" b="0">
                <a:solidFill>
                  <a:srgbClr val="3F4149"/>
                </a:solidFill>
                <a:latin typeface="Helvetica Neue"/>
              </a:rPr>
              <a:t>sai thật, máy chấm gạch đúng. Sau 5 vòng chỉ còn 26,6%, và vì máy chấm ở GSM8K không gạch oan,</a:t>
            </a:r>
          </a:p>
          <a:p>
            <a:pPr algn="l">
              <a:lnSpc>
                <a:spcPct val="145000"/>
              </a:lnSpc>
              <a:spcAft>
                <a:spcPts val="600"/>
              </a:spcAft>
            </a:pPr>
            <a:r>
              <a:rPr sz="1300" b="0">
                <a:solidFill>
                  <a:srgbClr val="3F4149"/>
                </a:solidFill>
                <a:latin typeface="Helvetica Neue"/>
              </a:rPr>
              <a:t>cú tụt này là tụt thật, không phải sai số đo.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80100" y="5540000"/>
            <a:ext cx="10831495" cy="830000"/>
          </a:xfrm>
          <a:prstGeom prst="roundRect">
            <a:avLst>
              <a:gd name="adj" fmla="val 4000"/>
            </a:avLst>
          </a:prstGeom>
          <a:solidFill>
            <a:srgbClr val="FD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920100" y="5700000"/>
            <a:ext cx="10351495" cy="46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  <a:spcAft>
                <a:spcPts val="600"/>
              </a:spcAft>
            </a:pPr>
            <a:r>
              <a:rPr sz="1250" b="1">
                <a:solidFill>
                  <a:srgbClr val="9E2B34"/>
                </a:solidFill>
                <a:latin typeface="Helvetica Neue"/>
              </a:rPr>
              <a:t>Nhưng có một điểm bất thường: GSM8K lại tụt nhiều nhất.</a:t>
            </a:r>
          </a:p>
          <a:p>
            <a:pPr algn="l">
              <a:lnSpc>
                <a:spcPct val="140000"/>
              </a:lnSpc>
              <a:spcAft>
                <a:spcPts val="600"/>
              </a:spcAft>
            </a:pPr>
            <a:r>
              <a:rPr sz="1250" b="1">
                <a:solidFill>
                  <a:srgbClr val="9E2B34"/>
                </a:solidFill>
                <a:latin typeface="Helvetica Neue"/>
              </a:rPr>
              <a:t>Mà GSM8K chính là bộ máy chấm gần như không gạch nhầm bài nào.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00100" y="430000"/>
            <a:ext cx="7000000" cy="25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050" b="1">
                <a:solidFill>
                  <a:srgbClr val="9E2B34"/>
                </a:solidFill>
                <a:latin typeface="Helvetica Neue"/>
              </a:rPr>
              <a:t>VẤN ĐỀ TRONG THIẾT KẾ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491595" y="400000"/>
            <a:ext cx="900000" cy="40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600"/>
              </a:spcAft>
            </a:pPr>
            <a:r>
              <a:rPr sz="1500" b="1">
                <a:solidFill>
                  <a:srgbClr val="E6E6EA"/>
                </a:solidFill>
                <a:latin typeface="Georgia"/>
              </a:rPr>
              <a:t>07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00100" y="790000"/>
            <a:ext cx="10591495" cy="62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2900" b="1">
                <a:solidFill>
                  <a:srgbClr val="16161A"/>
                </a:solidFill>
                <a:latin typeface="Georgia"/>
              </a:rPr>
              <a:t>Thiết kế đo có hai lỗi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00100" y="1620000"/>
            <a:ext cx="10591495" cy="30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150" b="1">
                <a:solidFill>
                  <a:srgbClr val="9E2B34"/>
                </a:solidFill>
                <a:latin typeface="Helvetica Neue"/>
              </a:rPr>
              <a:t>LỖI 1 — hai bộ đề bị gộp chung trong cùng một lần dạy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00100" y="2000000"/>
            <a:ext cx="3100000" cy="30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1">
                <a:solidFill>
                  <a:srgbClr val="8A8D96"/>
                </a:solidFill>
                <a:latin typeface="Helvetica Neue"/>
              </a:rPr>
              <a:t>TỈ LỆ BÀI ĐEM ĐI DẠY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200100" y="2000000"/>
            <a:ext cx="1400000" cy="30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1">
                <a:solidFill>
                  <a:srgbClr val="8A8D96"/>
                </a:solidFill>
                <a:latin typeface="Helvetica Neue"/>
              </a:rPr>
              <a:t>VÒNG 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00100" y="2000000"/>
            <a:ext cx="1400000" cy="30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1">
                <a:solidFill>
                  <a:srgbClr val="8A8D96"/>
                </a:solidFill>
                <a:latin typeface="Helvetica Neue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000100" y="2000000"/>
            <a:ext cx="1400000" cy="30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1">
                <a:solidFill>
                  <a:srgbClr val="8A8D96"/>
                </a:solidFill>
                <a:latin typeface="Helvetica Neue"/>
              </a:rPr>
              <a:t>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400100" y="2000000"/>
            <a:ext cx="1400000" cy="30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1">
                <a:solidFill>
                  <a:srgbClr val="8A8D96"/>
                </a:solidFill>
                <a:latin typeface="Helvetica Neue"/>
              </a:rPr>
              <a:t>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800100" y="2000000"/>
            <a:ext cx="1400000" cy="30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1">
                <a:solidFill>
                  <a:srgbClr val="8A8D96"/>
                </a:solidFill>
                <a:latin typeface="Helvetica Neue"/>
              </a:rPr>
              <a:t>4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80100" y="2380000"/>
            <a:ext cx="10831495" cy="1370000"/>
          </a:xfrm>
          <a:prstGeom prst="roundRect">
            <a:avLst>
              <a:gd name="adj" fmla="val 4000"/>
            </a:avLst>
          </a:prstGeom>
          <a:solidFill>
            <a:srgbClr val="F5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00100" y="2520000"/>
            <a:ext cx="3100000" cy="33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150" b="0">
                <a:solidFill>
                  <a:srgbClr val="3F4149"/>
                </a:solidFill>
                <a:latin typeface="Helvetica Neue"/>
              </a:rPr>
              <a:t>Số bài giữ được — GSM8K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200100" y="2520000"/>
            <a:ext cx="1400000" cy="33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150" b="0">
                <a:solidFill>
                  <a:srgbClr val="3F4149"/>
                </a:solidFill>
                <a:latin typeface="Helvetica Neue"/>
              </a:rPr>
              <a:t>2725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600100" y="2520000"/>
            <a:ext cx="1400000" cy="33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150" b="0">
                <a:solidFill>
                  <a:srgbClr val="3F4149"/>
                </a:solidFill>
                <a:latin typeface="Helvetica Neue"/>
              </a:rPr>
              <a:t>2551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000100" y="2520000"/>
            <a:ext cx="1400000" cy="33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150" b="0">
                <a:solidFill>
                  <a:srgbClr val="3F4149"/>
                </a:solidFill>
                <a:latin typeface="Helvetica Neue"/>
              </a:rPr>
              <a:t>2356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400100" y="2520000"/>
            <a:ext cx="1400000" cy="33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150" b="0">
                <a:solidFill>
                  <a:srgbClr val="3F4149"/>
                </a:solidFill>
                <a:latin typeface="Helvetica Neue"/>
              </a:rPr>
              <a:t>1837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800100" y="2520000"/>
            <a:ext cx="1400000" cy="33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150" b="0">
                <a:solidFill>
                  <a:srgbClr val="3F4149"/>
                </a:solidFill>
                <a:latin typeface="Helvetica Neue"/>
              </a:rPr>
              <a:t>1100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760100" y="2865000"/>
            <a:ext cx="10671495" cy="0"/>
          </a:xfrm>
          <a:prstGeom prst="line">
            <a:avLst/>
          </a:prstGeom>
          <a:ln w="9525">
            <a:solidFill>
              <a:srgbClr val="E9E9E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TextBox 19"/>
          <p:cNvSpPr txBox="1"/>
          <p:nvPr/>
        </p:nvSpPr>
        <p:spPr>
          <a:xfrm>
            <a:off x="800100" y="2920000"/>
            <a:ext cx="3100000" cy="33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150" b="0">
                <a:solidFill>
                  <a:srgbClr val="3F4149"/>
                </a:solidFill>
                <a:latin typeface="Helvetica Neue"/>
              </a:rPr>
              <a:t>Số bài giữ được — MATH-500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200100" y="2920000"/>
            <a:ext cx="1400000" cy="33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150" b="0">
                <a:solidFill>
                  <a:srgbClr val="3F4149"/>
                </a:solidFill>
                <a:latin typeface="Helvetica Neue"/>
              </a:rPr>
              <a:t>1237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600100" y="2920000"/>
            <a:ext cx="1400000" cy="33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150" b="0">
                <a:solidFill>
                  <a:srgbClr val="3F4149"/>
                </a:solidFill>
                <a:latin typeface="Helvetica Neue"/>
              </a:rPr>
              <a:t>1179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000100" y="2920000"/>
            <a:ext cx="1400000" cy="33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150" b="0">
                <a:solidFill>
                  <a:srgbClr val="3F4149"/>
                </a:solidFill>
                <a:latin typeface="Helvetica Neue"/>
              </a:rPr>
              <a:t>1039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400100" y="2920000"/>
            <a:ext cx="1400000" cy="33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150" b="0">
                <a:solidFill>
                  <a:srgbClr val="3F4149"/>
                </a:solidFill>
                <a:latin typeface="Helvetica Neue"/>
              </a:rPr>
              <a:t>800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800100" y="2920000"/>
            <a:ext cx="1400000" cy="33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150" b="0">
                <a:solidFill>
                  <a:srgbClr val="3F4149"/>
                </a:solidFill>
                <a:latin typeface="Helvetica Neue"/>
              </a:rPr>
              <a:t>466</a:t>
            </a:r>
          </a:p>
        </p:txBody>
      </p:sp>
      <p:cxnSp>
        <p:nvCxnSpPr>
          <p:cNvPr id="26" name="Connector 25"/>
          <p:cNvCxnSpPr/>
          <p:nvPr/>
        </p:nvCxnSpPr>
        <p:spPr>
          <a:xfrm>
            <a:off x="760100" y="3265000"/>
            <a:ext cx="10671495" cy="0"/>
          </a:xfrm>
          <a:prstGeom prst="line">
            <a:avLst/>
          </a:prstGeom>
          <a:ln w="9525">
            <a:solidFill>
              <a:srgbClr val="E9E9E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TextBox 26"/>
          <p:cNvSpPr txBox="1"/>
          <p:nvPr/>
        </p:nvSpPr>
        <p:spPr>
          <a:xfrm>
            <a:off x="800100" y="3320000"/>
            <a:ext cx="3100000" cy="33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150" b="1">
                <a:solidFill>
                  <a:srgbClr val="16161A"/>
                </a:solidFill>
                <a:latin typeface="Helvetica Neue"/>
              </a:rPr>
              <a:t>GSM8K chiếm bao nhiêu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200100" y="3320000"/>
            <a:ext cx="1400000" cy="33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150" b="1">
                <a:solidFill>
                  <a:srgbClr val="16161A"/>
                </a:solidFill>
                <a:latin typeface="Helvetica Neue"/>
              </a:rPr>
              <a:t>68,8%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600100" y="3320000"/>
            <a:ext cx="1400000" cy="33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150" b="1">
                <a:solidFill>
                  <a:srgbClr val="16161A"/>
                </a:solidFill>
                <a:latin typeface="Helvetica Neue"/>
              </a:rPr>
              <a:t>68,4%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000100" y="3320000"/>
            <a:ext cx="1400000" cy="33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150" b="1">
                <a:solidFill>
                  <a:srgbClr val="16161A"/>
                </a:solidFill>
                <a:latin typeface="Helvetica Neue"/>
              </a:rPr>
              <a:t>69,4%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400100" y="3320000"/>
            <a:ext cx="1400000" cy="33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150" b="1">
                <a:solidFill>
                  <a:srgbClr val="16161A"/>
                </a:solidFill>
                <a:latin typeface="Helvetica Neue"/>
              </a:rPr>
              <a:t>69,7%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800100" y="3320000"/>
            <a:ext cx="1400000" cy="33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150" b="1">
                <a:solidFill>
                  <a:srgbClr val="16161A"/>
                </a:solidFill>
                <a:latin typeface="Helvetica Neue"/>
              </a:rPr>
              <a:t>70,2%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00100" y="4030000"/>
            <a:ext cx="10591495" cy="60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  <a:spcAft>
                <a:spcPts val="600"/>
              </a:spcAft>
            </a:pPr>
            <a:r>
              <a:rPr sz="1250" b="0">
                <a:solidFill>
                  <a:srgbClr val="3F4149"/>
                </a:solidFill>
                <a:latin typeface="Helvetica Neue"/>
              </a:rPr>
              <a:t>Gần 70% bài đem đi dạy là của GSM8K. Nên điểm của MATH-500 thật ra bị ảnh hưởng bởi chuyện</a:t>
            </a:r>
          </a:p>
          <a:p>
            <a:pPr algn="l">
              <a:lnSpc>
                <a:spcPct val="140000"/>
              </a:lnSpc>
              <a:spcAft>
                <a:spcPts val="600"/>
              </a:spcAft>
            </a:pPr>
            <a:r>
              <a:rPr sz="1250" b="0">
                <a:solidFill>
                  <a:srgbClr val="3F4149"/>
                </a:solidFill>
                <a:latin typeface="Helvetica Neue"/>
              </a:rPr>
              <a:t>xảy ra bên GSM8K. Không tách được hai yếu tố này ra khỏi nhau.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680100" y="4790000"/>
            <a:ext cx="10831495" cy="880000"/>
          </a:xfrm>
          <a:prstGeom prst="roundRect">
            <a:avLst>
              <a:gd name="adj" fmla="val 4000"/>
            </a:avLst>
          </a:prstGeom>
          <a:solidFill>
            <a:srgbClr val="FD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920100" y="4930000"/>
            <a:ext cx="10351495" cy="64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600"/>
              </a:spcAft>
            </a:pPr>
            <a:r>
              <a:rPr sz="1250" b="1">
                <a:solidFill>
                  <a:srgbClr val="9E2B34"/>
                </a:solidFill>
                <a:latin typeface="Helvetica Neue"/>
              </a:rPr>
              <a:t>LỖI 2 — chấm điểm trên chính những đề đã dùng để chọn bài dạy.</a:t>
            </a:r>
          </a:p>
          <a:p>
            <a:pPr algn="l">
              <a:lnSpc>
                <a:spcPct val="135000"/>
              </a:lnSpc>
              <a:spcAft>
                <a:spcPts val="600"/>
              </a:spcAft>
            </a:pPr>
            <a:r>
              <a:rPr sz="1250" b="1">
                <a:solidFill>
                  <a:srgbClr val="9E2B34"/>
                </a:solidFill>
                <a:latin typeface="Helvetica Neue"/>
              </a:rPr>
              <a:t>Nên điểm tụt có thể chỉ là model quên bài cũ, chứ chưa chắc năng lực giảm thật.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00100" y="430000"/>
            <a:ext cx="7000000" cy="25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050" b="1">
                <a:solidFill>
                  <a:srgbClr val="9E2B34"/>
                </a:solidFill>
                <a:latin typeface="Helvetica Neue"/>
              </a:rPr>
              <a:t>THÍ NGHIỆM LÀM LẠI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491595" y="400000"/>
            <a:ext cx="900000" cy="40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600"/>
              </a:spcAft>
            </a:pPr>
            <a:r>
              <a:rPr sz="1500" b="1">
                <a:solidFill>
                  <a:srgbClr val="E6E6EA"/>
                </a:solidFill>
                <a:latin typeface="Georgia"/>
              </a:rPr>
              <a:t>08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00100" y="790000"/>
            <a:ext cx="10591495" cy="62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2900" b="1">
                <a:solidFill>
                  <a:srgbClr val="16161A"/>
                </a:solidFill>
                <a:latin typeface="Georgia"/>
              </a:rPr>
              <a:t>Năm lần chạy mới, sửa cả hai lỗi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00100" y="1520000"/>
            <a:ext cx="10591495" cy="42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300" b="0">
                <a:solidFill>
                  <a:srgbClr val="8A8D96"/>
                </a:solidFill>
                <a:latin typeface="Helvetica Neue"/>
              </a:rPr>
              <a:t>Mỗi lần chỉ chạy một bộ đề. Giữ riêng 30% số đề làm đề thi, model chưa từng được học.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00100" y="2150000"/>
            <a:ext cx="2700000" cy="30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1">
                <a:solidFill>
                  <a:srgbClr val="8A8D96"/>
                </a:solidFill>
                <a:latin typeface="Helvetica Neue"/>
              </a:rPr>
              <a:t>LẦN CHẠY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700100" y="2150000"/>
            <a:ext cx="2300000" cy="30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1">
                <a:solidFill>
                  <a:srgbClr val="8A8D96"/>
                </a:solidFill>
                <a:latin typeface="Helvetica Neue"/>
              </a:rPr>
              <a:t>BỘ ĐỀ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000100" y="2150000"/>
            <a:ext cx="2300000" cy="30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1">
                <a:solidFill>
                  <a:srgbClr val="8A8D96"/>
                </a:solidFill>
                <a:latin typeface="Helvetica Neue"/>
              </a:rPr>
              <a:t>MÁY CHẤM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300100" y="2150000"/>
            <a:ext cx="1400000" cy="30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1">
                <a:solidFill>
                  <a:srgbClr val="8A8D96"/>
                </a:solidFill>
                <a:latin typeface="Helvetica Neue"/>
              </a:rPr>
              <a:t>SEED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700100" y="2150000"/>
            <a:ext cx="1600000" cy="30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1">
                <a:solidFill>
                  <a:srgbClr val="8A8D96"/>
                </a:solidFill>
                <a:latin typeface="Helvetica Neue"/>
              </a:rPr>
              <a:t>GPU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80100" y="2530000"/>
            <a:ext cx="10831495" cy="2320000"/>
          </a:xfrm>
          <a:prstGeom prst="roundRect">
            <a:avLst>
              <a:gd name="adj" fmla="val 4000"/>
            </a:avLst>
          </a:prstGeom>
          <a:solidFill>
            <a:srgbClr val="F5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00100" y="2670000"/>
            <a:ext cx="2700000" cy="33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>
                <a:solidFill>
                  <a:srgbClr val="3F4149"/>
                </a:solidFill>
                <a:latin typeface="Helvetica Neue"/>
              </a:rPr>
              <a:t>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700100" y="2670000"/>
            <a:ext cx="2300000" cy="33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>
                <a:solidFill>
                  <a:srgbClr val="3F4149"/>
                </a:solidFill>
                <a:latin typeface="Helvetica Neue"/>
              </a:rPr>
              <a:t>MATH-500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000100" y="2670000"/>
            <a:ext cx="2300000" cy="33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>
                <a:solidFill>
                  <a:srgbClr val="3F4149"/>
                </a:solidFill>
                <a:latin typeface="Helvetica Neue"/>
              </a:rPr>
              <a:t>để nguyên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300100" y="2670000"/>
            <a:ext cx="1400000" cy="33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>
                <a:solidFill>
                  <a:srgbClr val="3F4149"/>
                </a:solidFill>
                <a:latin typeface="Helvetica Neue"/>
              </a:rPr>
              <a:t>0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700100" y="2670000"/>
            <a:ext cx="1600000" cy="33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>
                <a:solidFill>
                  <a:srgbClr val="3F4149"/>
                </a:solidFill>
                <a:latin typeface="Helvetica Neue"/>
              </a:rPr>
              <a:t>~5 giờ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760100" y="3045000"/>
            <a:ext cx="10671495" cy="0"/>
          </a:xfrm>
          <a:prstGeom prst="line">
            <a:avLst/>
          </a:prstGeom>
          <a:ln w="9525">
            <a:solidFill>
              <a:srgbClr val="E9E9E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Box 17"/>
          <p:cNvSpPr txBox="1"/>
          <p:nvPr/>
        </p:nvSpPr>
        <p:spPr>
          <a:xfrm>
            <a:off x="800100" y="3100000"/>
            <a:ext cx="2700000" cy="33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>
                <a:solidFill>
                  <a:srgbClr val="3F4149"/>
                </a:solidFill>
                <a:latin typeface="Helvetica Neue"/>
              </a:rPr>
              <a:t>A  chạy lại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700100" y="3100000"/>
            <a:ext cx="2300000" cy="33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>
                <a:solidFill>
                  <a:srgbClr val="3F4149"/>
                </a:solidFill>
                <a:latin typeface="Helvetica Neue"/>
              </a:rPr>
              <a:t>MATH-500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000100" y="3100000"/>
            <a:ext cx="2300000" cy="33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>
                <a:solidFill>
                  <a:srgbClr val="3F4149"/>
                </a:solidFill>
                <a:latin typeface="Helvetica Neue"/>
              </a:rPr>
              <a:t>để nguyên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300100" y="3100000"/>
            <a:ext cx="1400000" cy="33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>
                <a:solidFill>
                  <a:srgbClr val="3F4149"/>
                </a:solidFill>
                <a:latin typeface="Helvetica Neue"/>
              </a:rPr>
              <a:t>1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700100" y="3100000"/>
            <a:ext cx="1600000" cy="33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>
                <a:solidFill>
                  <a:srgbClr val="3F4149"/>
                </a:solidFill>
                <a:latin typeface="Helvetica Neue"/>
              </a:rPr>
              <a:t>~5 giờ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760100" y="3475000"/>
            <a:ext cx="10671495" cy="0"/>
          </a:xfrm>
          <a:prstGeom prst="line">
            <a:avLst/>
          </a:prstGeom>
          <a:ln w="9525">
            <a:solidFill>
              <a:srgbClr val="E9E9E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TextBox 23"/>
          <p:cNvSpPr txBox="1"/>
          <p:nvPr/>
        </p:nvSpPr>
        <p:spPr>
          <a:xfrm>
            <a:off x="800100" y="3530000"/>
            <a:ext cx="2700000" cy="33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16161A"/>
                </a:solidFill>
                <a:latin typeface="Helvetica Neue"/>
              </a:rPr>
              <a:t>B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700100" y="3530000"/>
            <a:ext cx="2300000" cy="33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16161A"/>
                </a:solidFill>
                <a:latin typeface="Helvetica Neue"/>
              </a:rPr>
              <a:t>MATH-500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000100" y="3530000"/>
            <a:ext cx="2300000" cy="33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16161A"/>
                </a:solidFill>
                <a:latin typeface="Helvetica Neue"/>
              </a:rPr>
              <a:t>ĐÃ SỬA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300100" y="3530000"/>
            <a:ext cx="1400000" cy="33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16161A"/>
                </a:solidFill>
                <a:latin typeface="Helvetica Neue"/>
              </a:rPr>
              <a:t>0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700100" y="3530000"/>
            <a:ext cx="1600000" cy="33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16161A"/>
                </a:solidFill>
                <a:latin typeface="Helvetica Neue"/>
              </a:rPr>
              <a:t>~5 giờ</a:t>
            </a:r>
          </a:p>
        </p:txBody>
      </p:sp>
      <p:cxnSp>
        <p:nvCxnSpPr>
          <p:cNvPr id="29" name="Connector 28"/>
          <p:cNvCxnSpPr/>
          <p:nvPr/>
        </p:nvCxnSpPr>
        <p:spPr>
          <a:xfrm>
            <a:off x="760100" y="3905000"/>
            <a:ext cx="10671495" cy="0"/>
          </a:xfrm>
          <a:prstGeom prst="line">
            <a:avLst/>
          </a:prstGeom>
          <a:ln w="9525">
            <a:solidFill>
              <a:srgbClr val="E9E9E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TextBox 29"/>
          <p:cNvSpPr txBox="1"/>
          <p:nvPr/>
        </p:nvSpPr>
        <p:spPr>
          <a:xfrm>
            <a:off x="800100" y="3960000"/>
            <a:ext cx="2700000" cy="33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16161A"/>
                </a:solidFill>
                <a:latin typeface="Helvetica Neue"/>
              </a:rPr>
              <a:t>B  chạy lại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700100" y="3960000"/>
            <a:ext cx="2300000" cy="33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16161A"/>
                </a:solidFill>
                <a:latin typeface="Helvetica Neue"/>
              </a:rPr>
              <a:t>MATH-500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000100" y="3960000"/>
            <a:ext cx="2300000" cy="33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16161A"/>
                </a:solidFill>
                <a:latin typeface="Helvetica Neue"/>
              </a:rPr>
              <a:t>ĐÃ SỬA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300100" y="3960000"/>
            <a:ext cx="1400000" cy="33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16161A"/>
                </a:solidFill>
                <a:latin typeface="Helvetica Neue"/>
              </a:rPr>
              <a:t>1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700100" y="3960000"/>
            <a:ext cx="1600000" cy="33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16161A"/>
                </a:solidFill>
                <a:latin typeface="Helvetica Neue"/>
              </a:rPr>
              <a:t>~5 giờ</a:t>
            </a:r>
          </a:p>
        </p:txBody>
      </p:sp>
      <p:cxnSp>
        <p:nvCxnSpPr>
          <p:cNvPr id="35" name="Connector 34"/>
          <p:cNvCxnSpPr/>
          <p:nvPr/>
        </p:nvCxnSpPr>
        <p:spPr>
          <a:xfrm>
            <a:off x="760100" y="4335000"/>
            <a:ext cx="10671495" cy="0"/>
          </a:xfrm>
          <a:prstGeom prst="line">
            <a:avLst/>
          </a:prstGeom>
          <a:ln w="9525">
            <a:solidFill>
              <a:srgbClr val="E9E9E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TextBox 35"/>
          <p:cNvSpPr txBox="1"/>
          <p:nvPr/>
        </p:nvSpPr>
        <p:spPr>
          <a:xfrm>
            <a:off x="800100" y="4390000"/>
            <a:ext cx="2700000" cy="33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>
                <a:solidFill>
                  <a:srgbClr val="3F4149"/>
                </a:solidFill>
                <a:latin typeface="Helvetica Neue"/>
              </a:rPr>
              <a:t>C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700100" y="4390000"/>
            <a:ext cx="2300000" cy="33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>
                <a:solidFill>
                  <a:srgbClr val="3F4149"/>
                </a:solidFill>
                <a:latin typeface="Helvetica Neue"/>
              </a:rPr>
              <a:t>GSM8K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000100" y="4390000"/>
            <a:ext cx="2300000" cy="33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>
                <a:solidFill>
                  <a:srgbClr val="3F4149"/>
                </a:solidFill>
                <a:latin typeface="Helvetica Neue"/>
              </a:rPr>
              <a:t>để nguyên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300100" y="4390000"/>
            <a:ext cx="1400000" cy="33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>
                <a:solidFill>
                  <a:srgbClr val="3F4149"/>
                </a:solidFill>
                <a:latin typeface="Helvetica Neue"/>
              </a:rPr>
              <a:t>0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9700100" y="4390000"/>
            <a:ext cx="1600000" cy="33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>
                <a:solidFill>
                  <a:srgbClr val="3F4149"/>
                </a:solidFill>
                <a:latin typeface="Helvetica Neue"/>
              </a:rPr>
              <a:t>~5,5 giờ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680100" y="5150000"/>
            <a:ext cx="10831495" cy="780000"/>
          </a:xfrm>
          <a:prstGeom prst="roundRect">
            <a:avLst>
              <a:gd name="adj" fmla="val 4000"/>
            </a:avLst>
          </a:prstGeom>
          <a:solidFill>
            <a:srgbClr val="F0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920100" y="5310000"/>
            <a:ext cx="10351495" cy="52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600"/>
              </a:spcAft>
            </a:pPr>
            <a:r>
              <a:rPr sz="1250" b="1">
                <a:solidFill>
                  <a:srgbClr val="0173B2"/>
                </a:solidFill>
                <a:latin typeface="Helvetica Neue"/>
              </a:rPr>
              <a:t>A và B giống hệt nhau, chỉ khác đúng một chỗ: ở B, lỗi của máy chấm đã được sửa.</a:t>
            </a:r>
          </a:p>
          <a:p>
            <a:pPr algn="l">
              <a:lnSpc>
                <a:spcPct val="135000"/>
              </a:lnSpc>
              <a:spcAft>
                <a:spcPts val="600"/>
              </a:spcAft>
            </a:pPr>
            <a:r>
              <a:rPr sz="1250" b="1">
                <a:solidFill>
                  <a:srgbClr val="0173B2"/>
                </a:solidFill>
                <a:latin typeface="Helvetica Neue"/>
              </a:rPr>
              <a:t>Nếu giả thuyết ban đầu đúng thì B phải khá hơn A rõ rệt.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00100" y="6350000"/>
            <a:ext cx="10591495" cy="30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8A8D96"/>
                </a:solidFill>
                <a:latin typeface="Helvetica Neue"/>
              </a:rPr>
              <a:t>Tổng khoảng 25 giờ GPU, chia nhiều phiên vì Kaggle giới hạn 12 tiếng một lần.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00100" y="430000"/>
            <a:ext cx="7000000" cy="25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050" b="1">
                <a:solidFill>
                  <a:srgbClr val="9E2B34"/>
                </a:solidFill>
                <a:latin typeface="Helvetica Neue"/>
              </a:rPr>
              <a:t>KẾT QUẢ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491595" y="400000"/>
            <a:ext cx="900000" cy="40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600"/>
              </a:spcAft>
            </a:pPr>
            <a:r>
              <a:rPr sz="1500" b="1">
                <a:solidFill>
                  <a:srgbClr val="E6E6EA"/>
                </a:solidFill>
                <a:latin typeface="Georgia"/>
              </a:rPr>
              <a:t>09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00100" y="790000"/>
            <a:ext cx="10591495" cy="62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2900" b="1">
                <a:solidFill>
                  <a:srgbClr val="16161A"/>
                </a:solidFill>
                <a:latin typeface="Georgia"/>
              </a:rPr>
              <a:t>Đo đúng cách thì không còn thấy tụt</a:t>
            </a:r>
          </a:p>
        </p:txBody>
      </p:sp>
      <p:pic>
        <p:nvPicPr>
          <p:cNvPr id="5" name="Picture 4" descr="deck_collaps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45847" y="1720000"/>
            <a:ext cx="9300000" cy="3948113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800100" y="5830000"/>
            <a:ext cx="10591495" cy="50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  <a:spcAft>
                <a:spcPts val="600"/>
              </a:spcAft>
            </a:pPr>
            <a:r>
              <a:rPr sz="1250" b="0">
                <a:solidFill>
                  <a:srgbClr val="3F4149"/>
                </a:solidFill>
                <a:latin typeface="Helvetica Neue"/>
              </a:rPr>
              <a:t>Hai đường cam là cách đo cũ, tụt 22 đến 26 điểm. Ba đường còn lại là cách đo mới, gần như nằm ngang.</a:t>
            </a:r>
          </a:p>
          <a:p>
            <a:pPr algn="l">
              <a:lnSpc>
                <a:spcPct val="140000"/>
              </a:lnSpc>
              <a:spcAft>
                <a:spcPts val="600"/>
              </a:spcAft>
            </a:pPr>
            <a:r>
              <a:rPr sz="1250" b="0">
                <a:solidFill>
                  <a:srgbClr val="3F4149"/>
                </a:solidFill>
                <a:latin typeface="Helvetica Neue"/>
              </a:rPr>
              <a:t>Cú tụt ban đầu đến từ thiết kế đo, không phải từ máy chấm.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00100" y="430000"/>
            <a:ext cx="7000000" cy="25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050" b="1">
                <a:solidFill>
                  <a:srgbClr val="9E2B34"/>
                </a:solidFill>
                <a:latin typeface="Helvetica Neue"/>
              </a:rPr>
              <a:t>THÍ NGHIỆM ĐỐI CHỨNG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491595" y="400000"/>
            <a:ext cx="900000" cy="40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600"/>
              </a:spcAft>
            </a:pPr>
            <a:r>
              <a:rPr sz="1500" b="1">
                <a:solidFill>
                  <a:srgbClr val="E6E6EA"/>
                </a:solidFill>
                <a:latin typeface="Georgia"/>
              </a:rPr>
              <a:t>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00100" y="790000"/>
            <a:ext cx="10591495" cy="62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2900" b="1">
                <a:solidFill>
                  <a:srgbClr val="16161A"/>
                </a:solidFill>
                <a:latin typeface="Georgia"/>
              </a:rPr>
              <a:t>Sửa máy chấm nhưng kết quả không đổi</a:t>
            </a:r>
          </a:p>
        </p:txBody>
      </p:sp>
      <p:pic>
        <p:nvPicPr>
          <p:cNvPr id="5" name="Picture 4" descr="deck_contro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45847" y="1720000"/>
            <a:ext cx="9300000" cy="3772642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800100" y="5660000"/>
            <a:ext cx="10591495" cy="70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  <a:spcAft>
                <a:spcPts val="600"/>
              </a:spcAft>
            </a:pPr>
            <a:r>
              <a:rPr sz="1250" b="0">
                <a:solidFill>
                  <a:srgbClr val="3F4149"/>
                </a:solidFill>
                <a:latin typeface="Helvetica Neue"/>
              </a:rPr>
              <a:t>Hai đường nằm chồng lên nhau ở cả hai lần chạy. Đúng cái lỗi mà đề tài cho là nguyên nhân đã được</a:t>
            </a:r>
          </a:p>
          <a:p>
            <a:pPr algn="l">
              <a:lnSpc>
                <a:spcPct val="140000"/>
              </a:lnSpc>
              <a:spcAft>
                <a:spcPts val="600"/>
              </a:spcAft>
            </a:pPr>
            <a:r>
              <a:rPr sz="1250" b="0">
                <a:solidFill>
                  <a:srgbClr val="3F4149"/>
                </a:solidFill>
                <a:latin typeface="Helvetica Neue"/>
              </a:rPr>
              <a:t>sửa, nhưng điểm không nhúc nhích. Đây là bằng chứng mạnh nhất bác bỏ giả thuyết ban đầu.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00100" y="6400000"/>
            <a:ext cx="10591495" cy="30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8A8D96"/>
                </a:solidFill>
                <a:latin typeface="Helvetica Neue"/>
              </a:rPr>
              <a:t>Đề thi có 150 đề nên mỗi đề đáng 0,67 điểm. A và B chênh nhau nhiều nhất 0,6 điểm, tức đúng một đề.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616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00100" y="430000"/>
            <a:ext cx="7000000" cy="25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050" b="1">
                <a:solidFill>
                  <a:srgbClr val="E88A92"/>
                </a:solidFill>
                <a:latin typeface="Helvetica Neue"/>
              </a:rPr>
              <a:t>VÌ SAO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00100" y="830000"/>
            <a:ext cx="10591495" cy="62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2900" b="1">
                <a:solidFill>
                  <a:srgbClr val="FFFFFF"/>
                </a:solidFill>
                <a:latin typeface="Georgia"/>
              </a:rPr>
              <a:t>Lỗi đó nặng thật, nhưng rất hiếm khi xảy ra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00100" y="2150000"/>
            <a:ext cx="3300000" cy="80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5200" b="1">
                <a:solidFill>
                  <a:srgbClr val="FFFFFF"/>
                </a:solidFill>
                <a:latin typeface="Georgia"/>
              </a:rPr>
              <a:t>100%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00100" y="3150000"/>
            <a:ext cx="3300000" cy="80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600"/>
              </a:spcAft>
            </a:pPr>
            <a:r>
              <a:rPr sz="1250" b="0">
                <a:solidFill>
                  <a:srgbClr val="9A9CA5"/>
                </a:solidFill>
                <a:latin typeface="Helvetica Neue"/>
              </a:rPr>
              <a:t>gặp cách viết đó là máy chấm</a:t>
            </a:r>
          </a:p>
          <a:p>
            <a:pPr algn="l">
              <a:lnSpc>
                <a:spcPct val="135000"/>
              </a:lnSpc>
              <a:spcAft>
                <a:spcPts val="600"/>
              </a:spcAft>
            </a:pPr>
            <a:r>
              <a:rPr sz="1250" b="0">
                <a:solidFill>
                  <a:srgbClr val="9A9CA5"/>
                </a:solidFill>
                <a:latin typeface="Helvetica Neue"/>
              </a:rPr>
              <a:t>gạch, không trượt lần nào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980100" y="2300000"/>
            <a:ext cx="300000" cy="50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2400" b="0">
                <a:solidFill>
                  <a:srgbClr val="5A5C66"/>
                </a:solidFill>
                <a:latin typeface="Helvetica Neue"/>
              </a:rPr>
              <a:t>×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360100" y="2150000"/>
            <a:ext cx="3300000" cy="80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5200" b="1">
                <a:solidFill>
                  <a:srgbClr val="FFFFFF"/>
                </a:solidFill>
                <a:latin typeface="Georgia"/>
              </a:rPr>
              <a:t>0,55%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360100" y="3150000"/>
            <a:ext cx="3300000" cy="80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600"/>
              </a:spcAft>
            </a:pPr>
            <a:r>
              <a:rPr sz="1250" b="0">
                <a:solidFill>
                  <a:srgbClr val="9A9CA5"/>
                </a:solidFill>
                <a:latin typeface="Helvetica Neue"/>
              </a:rPr>
              <a:t>nhưng trong 4000 bài model làm</a:t>
            </a:r>
          </a:p>
          <a:p>
            <a:pPr algn="l">
              <a:lnSpc>
                <a:spcPct val="135000"/>
              </a:lnSpc>
              <a:spcAft>
                <a:spcPts val="600"/>
              </a:spcAft>
            </a:pPr>
            <a:r>
              <a:rPr sz="1250" b="0">
                <a:solidFill>
                  <a:srgbClr val="9A9CA5"/>
                </a:solidFill>
                <a:latin typeface="Helvetica Neue"/>
              </a:rPr>
              <a:t>mỗi vòng, chỉ 22 bài viết kiểu đó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540100" y="2300000"/>
            <a:ext cx="300000" cy="50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2400" b="0">
                <a:solidFill>
                  <a:srgbClr val="5A5C66"/>
                </a:solidFill>
                <a:latin typeface="Helvetica Neue"/>
              </a:rPr>
              <a:t>=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920100" y="2150000"/>
            <a:ext cx="3300000" cy="80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5200" b="1">
                <a:solidFill>
                  <a:srgbClr val="FFC94D"/>
                </a:solidFill>
                <a:latin typeface="Georgia"/>
              </a:rPr>
              <a:t>0,55%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920100" y="3150000"/>
            <a:ext cx="3300000" cy="80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600"/>
              </a:spcAft>
            </a:pPr>
            <a:r>
              <a:rPr sz="1250" b="0">
                <a:solidFill>
                  <a:srgbClr val="9A9CA5"/>
                </a:solidFill>
                <a:latin typeface="Helvetica Neue"/>
              </a:rPr>
              <a:t>nhân lại, đó là phần bài bị gạch</a:t>
            </a:r>
          </a:p>
          <a:p>
            <a:pPr algn="l">
              <a:lnSpc>
                <a:spcPct val="135000"/>
              </a:lnSpc>
              <a:spcAft>
                <a:spcPts val="600"/>
              </a:spcAft>
            </a:pPr>
            <a:r>
              <a:rPr sz="1250" b="0">
                <a:solidFill>
                  <a:srgbClr val="9A9CA5"/>
                </a:solidFill>
                <a:latin typeface="Helvetica Neue"/>
              </a:rPr>
              <a:t>oan. Quá ít để làm tụt 20 điểm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800100" y="4350000"/>
            <a:ext cx="10591495" cy="0"/>
          </a:xfrm>
          <a:prstGeom prst="line">
            <a:avLst/>
          </a:prstGeom>
          <a:ln w="9525">
            <a:solidFill>
              <a:srgbClr val="33343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Box 13"/>
          <p:cNvSpPr txBox="1"/>
          <p:nvPr/>
        </p:nvSpPr>
        <p:spPr>
          <a:xfrm>
            <a:off x="800100" y="4600000"/>
            <a:ext cx="10591495" cy="90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5000"/>
              </a:lnSpc>
              <a:spcAft>
                <a:spcPts val="600"/>
              </a:spcAft>
            </a:pPr>
            <a:r>
              <a:rPr sz="1300" b="0">
                <a:solidFill>
                  <a:srgbClr val="D6D7DC"/>
                </a:solidFill>
                <a:latin typeface="Helvetica Neue"/>
              </a:rPr>
              <a:t>Đo trực tiếp: ở vòng 0 model chưa học gì, nên A và B làm ra y hệt một bộ bài. Khác nhau duy nhất</a:t>
            </a:r>
          </a:p>
          <a:p>
            <a:pPr algn="l">
              <a:lnSpc>
                <a:spcPct val="145000"/>
              </a:lnSpc>
              <a:spcAft>
                <a:spcPts val="600"/>
              </a:spcAft>
            </a:pPr>
            <a:r>
              <a:rPr sz="1300" b="0">
                <a:solidFill>
                  <a:srgbClr val="D6D7DC"/>
                </a:solidFill>
                <a:latin typeface="Helvetica Neue"/>
              </a:rPr>
              <a:t>là máy chấm nào chấm. Sửa máy chấm xong, kết quả đổi đúng 1 đề trên 150 đề.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00100" y="5750000"/>
            <a:ext cx="10591495" cy="40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1">
                <a:solidFill>
                  <a:srgbClr val="FFC94D"/>
                </a:solidFill>
                <a:latin typeface="Helvetica Neue"/>
              </a:rPr>
              <a:t>Bài học: một lỗi nặng tới đâu cũng chỉ hại được đúng bằng số lần nó thật sự xảy ra.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00100" y="430000"/>
            <a:ext cx="7000000" cy="25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050" b="1">
                <a:solidFill>
                  <a:srgbClr val="9E2B34"/>
                </a:solidFill>
                <a:latin typeface="Helvetica Neue"/>
              </a:rPr>
              <a:t>PHẠM VI ĐỀ TÀI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491595" y="400000"/>
            <a:ext cx="900000" cy="40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600"/>
              </a:spcAft>
            </a:pPr>
            <a:r>
              <a:rPr sz="1500" b="1">
                <a:solidFill>
                  <a:srgbClr val="E6E6EA"/>
                </a:solidFill>
                <a:latin typeface="Georgia"/>
              </a:rPr>
              <a:t>11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00100" y="790000"/>
            <a:ext cx="10591495" cy="62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2900" b="1">
                <a:solidFill>
                  <a:srgbClr val="16161A"/>
                </a:solidFill>
                <a:latin typeface="Georgia"/>
              </a:rPr>
              <a:t>Kết luận thu hẹp lại, nhưng có cơ sở vững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80100" y="1950000"/>
            <a:ext cx="5100000" cy="3120000"/>
          </a:xfrm>
          <a:prstGeom prst="roundRect">
            <a:avLst>
              <a:gd name="adj" fmla="val 4000"/>
            </a:avLst>
          </a:prstGeom>
          <a:solidFill>
            <a:srgbClr val="F5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920100" y="2150000"/>
            <a:ext cx="1200000" cy="300000"/>
          </a:xfrm>
          <a:prstGeom prst="roundRect">
            <a:avLst>
              <a:gd name="adj" fmla="val 50000"/>
            </a:avLst>
          </a:prstGeom>
          <a:solidFill>
            <a:srgbClr val="8A8D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/>
          <a:lstStyle/>
          <a:p>
            <a:pPr algn="ctr"/>
            <a:r>
              <a:rPr sz="1050" b="1">
                <a:solidFill>
                  <a:srgbClr val="FFFFFF"/>
                </a:solidFill>
                <a:latin typeface="Helvetica Neue"/>
              </a:rPr>
              <a:t>ĐÃ BỎ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20100" y="2650000"/>
            <a:ext cx="4700000" cy="90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500" b="1">
                <a:solidFill>
                  <a:srgbClr val="8A8D96"/>
                </a:solidFill>
                <a:latin typeface="Georgia"/>
              </a:rPr>
              <a:t>“Máy chấm gạch nhầm theo</a:t>
            </a: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500" b="1">
                <a:solidFill>
                  <a:srgbClr val="8A8D96"/>
                </a:solidFill>
                <a:latin typeface="Georgia"/>
              </a:rPr>
              <a:t>một kiểu cố định sẽ làm</a:t>
            </a: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500" b="1">
                <a:solidFill>
                  <a:srgbClr val="8A8D96"/>
                </a:solidFill>
                <a:latin typeface="Georgia"/>
              </a:rPr>
              <a:t>model dở đi qua từng vòng.”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20100" y="3950000"/>
            <a:ext cx="4700000" cy="80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600"/>
              </a:spcAft>
            </a:pPr>
            <a:r>
              <a:rPr sz="1200" b="0">
                <a:solidFill>
                  <a:srgbClr val="8A8D96"/>
                </a:solidFill>
                <a:latin typeface="Helvetica Neue"/>
              </a:rPr>
              <a:t>Đã kiểm tra bằng thí nghiệm đối chứng,</a:t>
            </a:r>
          </a:p>
          <a:p>
            <a:pPr algn="l">
              <a:lnSpc>
                <a:spcPct val="135000"/>
              </a:lnSpc>
              <a:spcAft>
                <a:spcPts val="600"/>
              </a:spcAft>
            </a:pPr>
            <a:r>
              <a:rPr sz="1200" b="0">
                <a:solidFill>
                  <a:srgbClr val="8A8D96"/>
                </a:solidFill>
                <a:latin typeface="Helvetica Neue"/>
              </a:rPr>
              <a:t>chạy lặp hai lần. Không đúng.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00100" y="1950000"/>
            <a:ext cx="5310000" cy="3120000"/>
          </a:xfrm>
          <a:prstGeom prst="roundRect">
            <a:avLst>
              <a:gd name="adj" fmla="val 4000"/>
            </a:avLst>
          </a:prstGeom>
          <a:solidFill>
            <a:srgbClr val="F0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6440100" y="2150000"/>
            <a:ext cx="1300000" cy="300000"/>
          </a:xfrm>
          <a:prstGeom prst="roundRect">
            <a:avLst>
              <a:gd name="adj" fmla="val 50000"/>
            </a:avLst>
          </a:prstGeom>
          <a:solidFill>
            <a:srgbClr val="0173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/>
          <a:lstStyle/>
          <a:p>
            <a:pPr algn="ctr"/>
            <a:r>
              <a:rPr sz="1050" b="1">
                <a:solidFill>
                  <a:srgbClr val="FFFFFF"/>
                </a:solidFill>
                <a:latin typeface="Helvetica Neue"/>
              </a:rPr>
              <a:t>GIỮ LẠI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40100" y="2650000"/>
            <a:ext cx="4800000" cy="90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500" b="1">
                <a:solidFill>
                  <a:srgbClr val="16161A"/>
                </a:solidFill>
                <a:latin typeface="Georgia"/>
              </a:rPr>
              <a:t>“Gộp nhiều bộ đề dạy chung,</a:t>
            </a: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500" b="1">
                <a:solidFill>
                  <a:srgbClr val="16161A"/>
                </a:solidFill>
                <a:latin typeface="Georgia"/>
              </a:rPr>
              <a:t>rồi chấm trên chính đề đã học,</a:t>
            </a: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500" b="1">
                <a:solidFill>
                  <a:srgbClr val="16161A"/>
                </a:solidFill>
                <a:latin typeface="Georgia"/>
              </a:rPr>
              <a:t>sẽ tạo ra cú tụt giả.”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40100" y="3950000"/>
            <a:ext cx="4800000" cy="80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600"/>
              </a:spcAft>
            </a:pPr>
            <a:r>
              <a:rPr sz="1200" b="0">
                <a:solidFill>
                  <a:srgbClr val="3F4149"/>
                </a:solidFill>
                <a:latin typeface="Helvetica Neue"/>
              </a:rPr>
              <a:t>Kèm một lưu ý cho người sau: muốn biết</a:t>
            </a:r>
          </a:p>
          <a:p>
            <a:pPr algn="l">
              <a:lnSpc>
                <a:spcPct val="135000"/>
              </a:lnSpc>
              <a:spcAft>
                <a:spcPts val="600"/>
              </a:spcAft>
            </a:pPr>
            <a:r>
              <a:rPr sz="1200" b="0">
                <a:solidFill>
                  <a:srgbClr val="3F4149"/>
                </a:solidFill>
                <a:latin typeface="Helvetica Neue"/>
              </a:rPr>
              <a:t>một lỗi máy chấm có hại không thì phải</a:t>
            </a:r>
          </a:p>
          <a:p>
            <a:pPr algn="l">
              <a:lnSpc>
                <a:spcPct val="135000"/>
              </a:lnSpc>
              <a:spcAft>
                <a:spcPts val="600"/>
              </a:spcAft>
            </a:pPr>
            <a:r>
              <a:rPr sz="1200" b="0">
                <a:solidFill>
                  <a:srgbClr val="3F4149"/>
                </a:solidFill>
                <a:latin typeface="Helvetica Neue"/>
              </a:rPr>
              <a:t>đếm xem nó xảy ra bao nhiêu lần.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00100" y="5330000"/>
            <a:ext cx="10591495" cy="70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  <a:spcAft>
                <a:spcPts val="600"/>
              </a:spcAft>
            </a:pPr>
            <a:r>
              <a:rPr sz="1300" b="0">
                <a:solidFill>
                  <a:srgbClr val="3F4149"/>
                </a:solidFill>
                <a:latin typeface="Helvetica Neue"/>
              </a:rPr>
              <a:t>Kết luận này hẹp hơn mục tiêu ban đầu. Nhưng cái bẫy thiết kế ở đây khá phổ biến trong các</a:t>
            </a:r>
          </a:p>
          <a:p>
            <a:pPr algn="l">
              <a:lnSpc>
                <a:spcPct val="140000"/>
              </a:lnSpc>
              <a:spcAft>
                <a:spcPts val="600"/>
              </a:spcAft>
            </a:pPr>
            <a:r>
              <a:rPr sz="1300" b="0">
                <a:solidFill>
                  <a:srgbClr val="3F4149"/>
                </a:solidFill>
                <a:latin typeface="Helvetica Neue"/>
              </a:rPr>
              <a:t>nghiên cứu cùng hướng, nên vẫn là đóng góp có ích.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00100" y="430000"/>
            <a:ext cx="7000000" cy="25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050" b="1">
                <a:solidFill>
                  <a:srgbClr val="9E2B34"/>
                </a:solidFill>
                <a:latin typeface="Helvetica Neue"/>
              </a:rPr>
              <a:t>HƯỚNG TIẾP THEO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491595" y="400000"/>
            <a:ext cx="900000" cy="40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600"/>
              </a:spcAft>
            </a:pPr>
            <a:r>
              <a:rPr sz="1500" b="1">
                <a:solidFill>
                  <a:srgbClr val="E6E6EA"/>
                </a:solidFill>
                <a:latin typeface="Georgia"/>
              </a:rPr>
              <a:t>12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00100" y="790000"/>
            <a:ext cx="10591495" cy="62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2900" b="1">
                <a:solidFill>
                  <a:srgbClr val="16161A"/>
                </a:solidFill>
                <a:latin typeface="Georgia"/>
              </a:rPr>
              <a:t>Lỗi phải xảy ra nhiều tới mức nào mới gây hại?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00100" y="1600000"/>
            <a:ext cx="10591495" cy="50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5000"/>
              </a:lnSpc>
              <a:spcAft>
                <a:spcPts val="600"/>
              </a:spcAft>
            </a:pPr>
            <a:r>
              <a:rPr sz="1350" b="0">
                <a:solidFill>
                  <a:srgbClr val="3F4149"/>
                </a:solidFill>
                <a:latin typeface="Helvetica Neue"/>
              </a:rPr>
              <a:t>Bài học từ ba tuần: một lỗi máy chấm nặng tới đâu cũng chỉ hại đúng bằng số lần nó xảy ra.</a:t>
            </a:r>
          </a:p>
          <a:p>
            <a:pPr algn="l">
              <a:lnSpc>
                <a:spcPct val="145000"/>
              </a:lnSpc>
              <a:spcAft>
                <a:spcPts val="600"/>
              </a:spcAft>
            </a:pPr>
            <a:r>
              <a:rPr sz="1350" b="0">
                <a:solidFill>
                  <a:srgbClr val="3F4149"/>
                </a:solidFill>
                <a:latin typeface="Helvetica Neue"/>
              </a:rPr>
              <a:t>Mới thử một lỗi rất hiếm. Bước tiếp theo là thử một lỗi phổ biến hơn nhiều.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00100" y="2650000"/>
            <a:ext cx="5190000" cy="2500000"/>
          </a:xfrm>
          <a:prstGeom prst="roundRect">
            <a:avLst>
              <a:gd name="adj" fmla="val 4000"/>
            </a:avLst>
          </a:prstGeom>
          <a:solidFill>
            <a:srgbClr val="F5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1080100" y="2850000"/>
            <a:ext cx="1300000" cy="300000"/>
          </a:xfrm>
          <a:prstGeom prst="roundRect">
            <a:avLst>
              <a:gd name="adj" fmla="val 50000"/>
            </a:avLst>
          </a:prstGeom>
          <a:solidFill>
            <a:srgbClr val="8A8D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/>
          <a:lstStyle/>
          <a:p>
            <a:pPr algn="ctr"/>
            <a:r>
              <a:rPr sz="1050" b="1">
                <a:solidFill>
                  <a:srgbClr val="FFFFFF"/>
                </a:solidFill>
                <a:latin typeface="Helvetica Neue"/>
              </a:rPr>
              <a:t>ĐÃ THỬ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80100" y="3330000"/>
            <a:ext cx="4600000" cy="40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700" b="1">
                <a:solidFill>
                  <a:srgbClr val="16161A"/>
                </a:solidFill>
                <a:latin typeface="Helvetica Neue"/>
              </a:rPr>
              <a:t>Lỗi \dfrac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80100" y="3800000"/>
            <a:ext cx="4600000" cy="70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4400" b="1">
                <a:solidFill>
                  <a:srgbClr val="8A8D96"/>
                </a:solidFill>
                <a:latin typeface="Georgia"/>
              </a:rPr>
              <a:t>0,55%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80100" y="4550000"/>
            <a:ext cx="4600000" cy="55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600"/>
              </a:spcAft>
            </a:pPr>
            <a:r>
              <a:rPr sz="1250" b="0">
                <a:solidFill>
                  <a:srgbClr val="3F4149"/>
                </a:solidFill>
                <a:latin typeface="Helvetica Neue"/>
              </a:rPr>
              <a:t>số bài bị gạch oan mỗi vòng</a:t>
            </a:r>
          </a:p>
          <a:p>
            <a:pPr algn="l">
              <a:lnSpc>
                <a:spcPct val="135000"/>
              </a:lnSpc>
              <a:spcAft>
                <a:spcPts val="600"/>
              </a:spcAft>
            </a:pPr>
            <a:r>
              <a:rPr sz="1250" b="0">
                <a:solidFill>
                  <a:srgbClr val="3F4149"/>
                </a:solidFill>
                <a:latin typeface="Helvetica Neue"/>
              </a:rPr>
              <a:t>→ không thấy ảnh hưởng gì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00100" y="2650000"/>
            <a:ext cx="5190000" cy="2500000"/>
          </a:xfrm>
          <a:prstGeom prst="roundRect">
            <a:avLst>
              <a:gd name="adj" fmla="val 4000"/>
            </a:avLst>
          </a:prstGeom>
          <a:solidFill>
            <a:srgbClr val="F0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6480100" y="2850000"/>
            <a:ext cx="1300000" cy="300000"/>
          </a:xfrm>
          <a:prstGeom prst="roundRect">
            <a:avLst>
              <a:gd name="adj" fmla="val 50000"/>
            </a:avLst>
          </a:prstGeom>
          <a:solidFill>
            <a:srgbClr val="0173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/>
          <a:lstStyle/>
          <a:p>
            <a:pPr algn="ctr"/>
            <a:r>
              <a:rPr sz="1050" b="1">
                <a:solidFill>
                  <a:srgbClr val="FFFFFF"/>
                </a:solidFill>
                <a:latin typeface="Helvetica Neue"/>
              </a:rPr>
              <a:t>SẮP THỬ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80100" y="3330000"/>
            <a:ext cx="4600000" cy="40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700" b="1">
                <a:solidFill>
                  <a:srgbClr val="16161A"/>
                </a:solidFill>
                <a:latin typeface="Helvetica Neue"/>
              </a:rPr>
              <a:t>Lỗi \boxed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80100" y="3800000"/>
            <a:ext cx="4600000" cy="70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4400" b="1">
                <a:solidFill>
                  <a:srgbClr val="0173B2"/>
                </a:solidFill>
                <a:latin typeface="Georgia"/>
              </a:rPr>
              <a:t>4,4%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80100" y="4550000"/>
            <a:ext cx="4600000" cy="55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600"/>
              </a:spcAft>
            </a:pPr>
            <a:r>
              <a:rPr sz="1250" b="0">
                <a:solidFill>
                  <a:srgbClr val="3F4149"/>
                </a:solidFill>
                <a:latin typeface="Helvetica Neue"/>
              </a:rPr>
              <a:t>số bài bị gạch oan mỗi vòng</a:t>
            </a:r>
          </a:p>
          <a:p>
            <a:pPr algn="l">
              <a:lnSpc>
                <a:spcPct val="135000"/>
              </a:lnSpc>
              <a:spcAft>
                <a:spcPts val="600"/>
              </a:spcAft>
            </a:pPr>
            <a:r>
              <a:rPr sz="1250" b="0">
                <a:solidFill>
                  <a:srgbClr val="3F4149"/>
                </a:solidFill>
                <a:latin typeface="Helvetica Neue"/>
              </a:rPr>
              <a:t>→ nhiều gấp 8 lần, liệu có hại?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00100" y="5500000"/>
            <a:ext cx="10591495" cy="50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  <a:spcAft>
                <a:spcPts val="600"/>
              </a:spcAft>
            </a:pPr>
            <a:r>
              <a:rPr sz="1250" b="1">
                <a:solidFill>
                  <a:srgbClr val="16161A"/>
                </a:solidFill>
                <a:latin typeface="Helvetica Neue"/>
              </a:rPr>
              <a:t>Nếu lỗi phổ biến gây hại còn lỗi hiếm thì không, sẽ biết được ngưỡng: lỗi máy chấm xảy ra</a:t>
            </a:r>
          </a:p>
          <a:p>
            <a:pPr algn="l">
              <a:lnSpc>
                <a:spcPct val="140000"/>
              </a:lnSpc>
              <a:spcAft>
                <a:spcPts val="600"/>
              </a:spcAft>
            </a:pPr>
            <a:r>
              <a:rPr sz="1250" b="1">
                <a:solidFill>
                  <a:srgbClr val="16161A"/>
                </a:solidFill>
                <a:latin typeface="Helvetica Neue"/>
              </a:rPr>
              <a:t>bao nhiêu thì bắt đầu đáng lo. Đây là con số người làm tự học có thể dùng ngay.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00100" y="430000"/>
            <a:ext cx="7000000" cy="25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050" b="1">
                <a:solidFill>
                  <a:srgbClr val="9E2B34"/>
                </a:solidFill>
                <a:latin typeface="Helvetica Neue"/>
              </a:rPr>
              <a:t>LỖI THỨ HAI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491595" y="400000"/>
            <a:ext cx="900000" cy="40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600"/>
              </a:spcAft>
            </a:pPr>
            <a:r>
              <a:rPr sz="1500" b="1">
                <a:solidFill>
                  <a:srgbClr val="E6E6EA"/>
                </a:solidFill>
                <a:latin typeface="Georgia"/>
              </a:rPr>
              <a:t>13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00100" y="790000"/>
            <a:ext cx="10591495" cy="62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2900" b="1">
                <a:solidFill>
                  <a:srgbClr val="16161A"/>
                </a:solidFill>
                <a:latin typeface="Georgia"/>
              </a:rPr>
              <a:t>Máy chấm đọc đáp án trong sách bị thiếu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00100" y="1600000"/>
            <a:ext cx="10591495" cy="40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350" b="0">
                <a:solidFill>
                  <a:srgbClr val="3F4149"/>
                </a:solidFill>
                <a:latin typeface="Helvetica Neue"/>
              </a:rPr>
              <a:t>Ví dụ một bài có đáp án là 3√13. Model làm đúng, nhưng vẫn bị gạch: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80100" y="2150000"/>
            <a:ext cx="10831495" cy="1150000"/>
          </a:xfrm>
          <a:prstGeom prst="roundRect">
            <a:avLst>
              <a:gd name="adj" fmla="val 4000"/>
            </a:avLst>
          </a:prstGeom>
          <a:solidFill>
            <a:srgbClr val="FD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20100" y="2300000"/>
            <a:ext cx="10351495" cy="30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150" b="1">
                <a:solidFill>
                  <a:srgbClr val="B85C00"/>
                </a:solidFill>
                <a:latin typeface="Helvetica Neue"/>
              </a:rPr>
              <a:t>ĐÁP ÁN TRONG SÁCH (lưu dạng trần)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20100" y="2650000"/>
            <a:ext cx="4600000" cy="50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900" b="0">
                <a:solidFill>
                  <a:srgbClr val="16161A"/>
                </a:solidFill>
                <a:latin typeface="Helvetica Neue"/>
              </a:rPr>
              <a:t>3\sqrt{13}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00100" y="2650000"/>
            <a:ext cx="5200000" cy="50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700" b="1">
                <a:solidFill>
                  <a:srgbClr val="B85C00"/>
                </a:solidFill>
                <a:latin typeface="Helvetica Neue"/>
              </a:rPr>
              <a:t>máy đọc được:  3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80100" y="3450000"/>
            <a:ext cx="10831495" cy="1150000"/>
          </a:xfrm>
          <a:prstGeom prst="roundRect">
            <a:avLst>
              <a:gd name="adj" fmla="val 4000"/>
            </a:avLst>
          </a:prstGeom>
          <a:solidFill>
            <a:srgbClr val="EDF7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20100" y="3600000"/>
            <a:ext cx="10351495" cy="30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150" b="1">
                <a:solidFill>
                  <a:srgbClr val="029E73"/>
                </a:solidFill>
                <a:latin typeface="Helvetica Neue"/>
              </a:rPr>
              <a:t>BÀI MODEL LÀM (có \boxed theo yêu cầu đề)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20100" y="3950000"/>
            <a:ext cx="4600000" cy="50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900" b="0">
                <a:solidFill>
                  <a:srgbClr val="16161A"/>
                </a:solidFill>
                <a:latin typeface="Helvetica Neue"/>
              </a:rPr>
              <a:t>\boxed{3\sqrt{13}}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900100" y="3950000"/>
            <a:ext cx="5200000" cy="50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700" b="1">
                <a:solidFill>
                  <a:srgbClr val="029E73"/>
                </a:solidFill>
                <a:latin typeface="Helvetica Neue"/>
              </a:rPr>
              <a:t>máy đọc được:  3√13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00100" y="4900000"/>
            <a:ext cx="10591495" cy="70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5000"/>
              </a:lnSpc>
              <a:spcAft>
                <a:spcPts val="600"/>
              </a:spcAft>
            </a:pPr>
            <a:r>
              <a:rPr sz="1300" b="0">
                <a:solidFill>
                  <a:srgbClr val="3F4149"/>
                </a:solidFill>
                <a:latin typeface="Helvetica Neue"/>
              </a:rPr>
              <a:t>Máy chấm chỉ đọc đầy đủ khi đáp án nằm trong \boxed. Đáp án trong sách không có \boxed nên bị</a:t>
            </a:r>
          </a:p>
          <a:p>
            <a:pPr algn="l">
              <a:lnSpc>
                <a:spcPct val="145000"/>
              </a:lnSpc>
              <a:spcAft>
                <a:spcPts val="600"/>
              </a:spcAft>
            </a:pPr>
            <a:r>
              <a:rPr sz="1300" b="0">
                <a:solidFill>
                  <a:srgbClr val="3F4149"/>
                </a:solidFill>
                <a:latin typeface="Helvetica Neue"/>
              </a:rPr>
              <a:t>đọc thiếu, thành ra "3" khác "3√13". Lỗi này gặp ở 8,5% số đề MATH-500.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80100" y="5850000"/>
            <a:ext cx="10831495" cy="520000"/>
          </a:xfrm>
          <a:prstGeom prst="roundRect">
            <a:avLst>
              <a:gd name="adj" fmla="val 4000"/>
            </a:avLst>
          </a:prstGeom>
          <a:solidFill>
            <a:srgbClr val="F0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20100" y="5980000"/>
            <a:ext cx="10351495" cy="30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0173B2"/>
                </a:solidFill>
                <a:latin typeface="Helvetica Neue"/>
              </a:rPr>
              <a:t>Đã sửa: bọc đáp án trong sách vào \boxed trước khi chấm. Đã kiểm tra, không làm hỏng chỗ khác.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00100" y="430000"/>
            <a:ext cx="7000000" cy="25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050" b="1">
                <a:solidFill>
                  <a:srgbClr val="9E2B34"/>
                </a:solidFill>
                <a:latin typeface="Helvetica Neue"/>
              </a:rPr>
              <a:t>KẾ HOẠCH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491595" y="400000"/>
            <a:ext cx="900000" cy="40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600"/>
              </a:spcAft>
            </a:pPr>
            <a:r>
              <a:rPr sz="1500" b="1">
                <a:solidFill>
                  <a:srgbClr val="E6E6EA"/>
                </a:solidFill>
                <a:latin typeface="Georgia"/>
              </a:rPr>
              <a:t>14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00100" y="790000"/>
            <a:ext cx="10591495" cy="62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2900" b="1">
                <a:solidFill>
                  <a:srgbClr val="16161A"/>
                </a:solidFill>
                <a:latin typeface="Georgia"/>
              </a:rPr>
              <a:t>Một lần chạy, so với kết quả đã có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00100" y="1650000"/>
            <a:ext cx="3300000" cy="1500000"/>
          </a:xfrm>
          <a:prstGeom prst="roundRect">
            <a:avLst>
              <a:gd name="adj" fmla="val 4000"/>
            </a:avLst>
          </a:prstGeom>
          <a:solidFill>
            <a:srgbClr val="F5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40100" y="1800000"/>
            <a:ext cx="400000" cy="33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700" b="1">
                <a:solidFill>
                  <a:srgbClr val="9E2B34"/>
                </a:solidFill>
                <a:latin typeface="Georgia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0100" y="2200000"/>
            <a:ext cx="2900000" cy="33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450" b="1">
                <a:solidFill>
                  <a:srgbClr val="16161A"/>
                </a:solidFill>
                <a:latin typeface="Helvetica Neue"/>
              </a:rPr>
              <a:t>Giữ nguyên mọi thứ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40100" y="2580000"/>
            <a:ext cx="2900000" cy="55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00" b="0">
                <a:solidFill>
                  <a:srgbClr val="3F4149"/>
                </a:solidFill>
                <a:latin typeface="Helvetica Neue"/>
              </a:rPr>
              <a:t>Cùng model, cùng bộ đề, cùng</a:t>
            </a: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00" b="0">
                <a:solidFill>
                  <a:srgbClr val="3F4149"/>
                </a:solidFill>
                <a:latin typeface="Helvetica Neue"/>
              </a:rPr>
              <a:t>cách chia đề thi như lần chạy A.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60100" y="1650000"/>
            <a:ext cx="3300000" cy="1500000"/>
          </a:xfrm>
          <a:prstGeom prst="roundRect">
            <a:avLst>
              <a:gd name="adj" fmla="val 4000"/>
            </a:avLst>
          </a:prstGeom>
          <a:solidFill>
            <a:srgbClr val="F5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600100" y="1800000"/>
            <a:ext cx="400000" cy="33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700" b="1">
                <a:solidFill>
                  <a:srgbClr val="9E2B34"/>
                </a:solidFill>
                <a:latin typeface="Georgia"/>
              </a:rP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600100" y="2200000"/>
            <a:ext cx="2900000" cy="33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450" b="1">
                <a:solidFill>
                  <a:srgbClr val="16161A"/>
                </a:solidFill>
                <a:latin typeface="Helvetica Neue"/>
              </a:rPr>
              <a:t>Chỉ đổi một chỗ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600100" y="2580000"/>
            <a:ext cx="2900000" cy="55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00" b="0">
                <a:solidFill>
                  <a:srgbClr val="3F4149"/>
                </a:solidFill>
                <a:latin typeface="Helvetica Neue"/>
              </a:rPr>
              <a:t>Bật bản sửa lỗi \boxed.</a:t>
            </a: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00" b="0">
                <a:solidFill>
                  <a:srgbClr val="3F4149"/>
                </a:solidFill>
                <a:latin typeface="Helvetica Neue"/>
              </a:rPr>
              <a:t>Khoảng 5 giờ GPU.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920100" y="1650000"/>
            <a:ext cx="3300000" cy="1500000"/>
          </a:xfrm>
          <a:prstGeom prst="roundRect">
            <a:avLst>
              <a:gd name="adj" fmla="val 4000"/>
            </a:avLst>
          </a:prstGeom>
          <a:solidFill>
            <a:srgbClr val="F5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160100" y="1800000"/>
            <a:ext cx="400000" cy="33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700" b="1">
                <a:solidFill>
                  <a:srgbClr val="9E2B34"/>
                </a:solidFill>
                <a:latin typeface="Georgia"/>
              </a:rPr>
              <a:t>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160100" y="2200000"/>
            <a:ext cx="2900000" cy="33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450" b="1">
                <a:solidFill>
                  <a:srgbClr val="16161A"/>
                </a:solidFill>
                <a:latin typeface="Helvetica Neue"/>
              </a:rPr>
              <a:t>So với lần chạy 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160100" y="2580000"/>
            <a:ext cx="2900000" cy="55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00" b="0">
                <a:solidFill>
                  <a:srgbClr val="3F4149"/>
                </a:solidFill>
                <a:latin typeface="Helvetica Neue"/>
              </a:rPr>
              <a:t>Lần A đã có sẵn số liệu,</a:t>
            </a: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00" b="0">
                <a:solidFill>
                  <a:srgbClr val="3F4149"/>
                </a:solidFill>
                <a:latin typeface="Helvetica Neue"/>
              </a:rPr>
              <a:t>không cần chạy lại.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00100" y="3450000"/>
            <a:ext cx="10591495" cy="30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1">
                <a:solidFill>
                  <a:srgbClr val="8A8D96"/>
                </a:solidFill>
                <a:latin typeface="Helvetica Neue"/>
              </a:rPr>
              <a:t>HAI KẾT QUẢ CÓ THỂ XẢY RA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00100" y="3850000"/>
            <a:ext cx="5190000" cy="1650000"/>
          </a:xfrm>
          <a:prstGeom prst="roundRect">
            <a:avLst>
              <a:gd name="adj" fmla="val 4000"/>
            </a:avLst>
          </a:prstGeom>
          <a:solidFill>
            <a:srgbClr val="F5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1060100" y="4030000"/>
            <a:ext cx="2600000" cy="320000"/>
          </a:xfrm>
          <a:prstGeom prst="roundRect">
            <a:avLst>
              <a:gd name="adj" fmla="val 50000"/>
            </a:avLst>
          </a:prstGeom>
          <a:solidFill>
            <a:srgbClr val="029E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/>
          <a:lstStyle/>
          <a:p>
            <a:pPr algn="ctr"/>
            <a:r>
              <a:rPr sz="1050" b="1">
                <a:solidFill>
                  <a:srgbClr val="FFFFFF"/>
                </a:solidFill>
                <a:latin typeface="Helvetica Neue"/>
              </a:rPr>
              <a:t>Điểm khác lần A rõ rệt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60100" y="4530000"/>
            <a:ext cx="4700000" cy="80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600"/>
              </a:spcAft>
            </a:pPr>
            <a:r>
              <a:rPr sz="1250" b="0">
                <a:solidFill>
                  <a:srgbClr val="3F4149"/>
                </a:solidFill>
                <a:latin typeface="Helvetica Neue"/>
              </a:rPr>
              <a:t>Lỗi phổ biến có gây hại. Ngưỡng bắt đầu</a:t>
            </a:r>
          </a:p>
          <a:p>
            <a:pPr algn="l">
              <a:lnSpc>
                <a:spcPct val="135000"/>
              </a:lnSpc>
              <a:spcAft>
                <a:spcPts val="600"/>
              </a:spcAft>
            </a:pPr>
            <a:r>
              <a:rPr sz="1250" b="0">
                <a:solidFill>
                  <a:srgbClr val="3F4149"/>
                </a:solidFill>
                <a:latin typeface="Helvetica Neue"/>
              </a:rPr>
              <a:t>gây hại nằm đâu đó giữa 0,55% và 4,4%.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200100" y="3850000"/>
            <a:ext cx="5190000" cy="1650000"/>
          </a:xfrm>
          <a:prstGeom prst="roundRect">
            <a:avLst>
              <a:gd name="adj" fmla="val 4000"/>
            </a:avLst>
          </a:prstGeom>
          <a:solidFill>
            <a:srgbClr val="F5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6460100" y="4030000"/>
            <a:ext cx="2600000" cy="320000"/>
          </a:xfrm>
          <a:prstGeom prst="roundRect">
            <a:avLst>
              <a:gd name="adj" fmla="val 50000"/>
            </a:avLst>
          </a:prstGeom>
          <a:solidFill>
            <a:srgbClr val="B85C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/>
          <a:lstStyle/>
          <a:p>
            <a:pPr algn="ctr"/>
            <a:r>
              <a:rPr sz="1050" b="1">
                <a:solidFill>
                  <a:srgbClr val="FFFFFF"/>
                </a:solidFill>
                <a:latin typeface="Helvetica Neue"/>
              </a:rPr>
              <a:t>Điểm gần như lần A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60100" y="4530000"/>
            <a:ext cx="4700000" cy="80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600"/>
              </a:spcAft>
            </a:pPr>
            <a:r>
              <a:rPr sz="1250" b="0">
                <a:solidFill>
                  <a:srgbClr val="3F4149"/>
                </a:solidFill>
                <a:latin typeface="Helvetica Neue"/>
              </a:rPr>
              <a:t>Kể cả lỗi gấp 8 lần cũng vô hại. Kết luận</a:t>
            </a:r>
          </a:p>
          <a:p>
            <a:pPr algn="l">
              <a:lnSpc>
                <a:spcPct val="135000"/>
              </a:lnSpc>
              <a:spcAft>
                <a:spcPts val="600"/>
              </a:spcAft>
            </a:pPr>
            <a:r>
              <a:rPr sz="1250" b="0">
                <a:solidFill>
                  <a:srgbClr val="3F4149"/>
                </a:solidFill>
                <a:latin typeface="Helvetica Neue"/>
              </a:rPr>
              <a:t>"lỗi máy chấm không phải thủ phạm" càng chắc.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00100" y="5800000"/>
            <a:ext cx="10591495" cy="40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150" b="0">
                <a:solidFill>
                  <a:srgbClr val="8A8D96"/>
                </a:solidFill>
                <a:latin typeface="Helvetica Neue"/>
              </a:rPr>
              <a:t>Kết quả nào cũng viết được vào bài báo. Hàng đợi GPU: seed thứ hai cho GSM8K, ablation, rồi lần chạy này.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00100" y="430000"/>
            <a:ext cx="7000000" cy="25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050" b="1">
                <a:solidFill>
                  <a:srgbClr val="9E2B34"/>
                </a:solidFill>
                <a:latin typeface="Helvetica Neue"/>
              </a:rPr>
              <a:t>CÂU HỎI CHƯA TRẢ LỜI ĐƯỢC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491595" y="400000"/>
            <a:ext cx="900000" cy="40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600"/>
              </a:spcAft>
            </a:pPr>
            <a:r>
              <a:rPr sz="1500" b="1">
                <a:solidFill>
                  <a:srgbClr val="E6E6EA"/>
                </a:solidFill>
                <a:latin typeface="Georgia"/>
              </a:rPr>
              <a:t>15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00100" y="790000"/>
            <a:ext cx="10591495" cy="62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2900" b="1">
                <a:solidFill>
                  <a:srgbClr val="16161A"/>
                </a:solidFill>
                <a:latin typeface="Georgia"/>
              </a:rPr>
              <a:t>Thí nghiệm kiểm chứng đang chạy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00100" y="1620000"/>
            <a:ext cx="10591495" cy="70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  <a:spcAft>
                <a:spcPts val="600"/>
              </a:spcAft>
            </a:pPr>
            <a:r>
              <a:rPr sz="1400" b="0">
                <a:solidFill>
                  <a:srgbClr val="16161A"/>
                </a:solidFill>
                <a:latin typeface="Helvetica Neue"/>
              </a:rPr>
              <a:t>Cả 7 lần chạy, điểm đều tụt khoảng 3 điểm ngay ở vòng 1 rồi đứng yên. Nhưng các công trình lớn</a:t>
            </a:r>
          </a:p>
          <a:p>
            <a:pPr algn="l">
              <a:lnSpc>
                <a:spcPct val="140000"/>
              </a:lnSpc>
              <a:spcAft>
                <a:spcPts val="600"/>
              </a:spcAft>
            </a:pPr>
            <a:r>
              <a:rPr sz="1400" b="0">
                <a:solidFill>
                  <a:srgbClr val="16161A"/>
                </a:solidFill>
                <a:latin typeface="Helvetica Neue"/>
              </a:rPr>
              <a:t>về tự học đều báo cáo model KHÁ LÊN. Chưa giải thích được vì sao kết quả ở đây ngược lại.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80100" y="2550000"/>
            <a:ext cx="10831495" cy="900000"/>
          </a:xfrm>
          <a:prstGeom prst="roundRect">
            <a:avLst>
              <a:gd name="adj" fmla="val 4000"/>
            </a:avLst>
          </a:prstGeom>
          <a:solidFill>
            <a:srgbClr val="F5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20100" y="2720000"/>
            <a:ext cx="10351495" cy="64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5000"/>
              </a:lnSpc>
              <a:spcAft>
                <a:spcPts val="600"/>
              </a:spcAft>
            </a:pPr>
            <a:r>
              <a:rPr sz="1250" b="0">
                <a:solidFill>
                  <a:srgbClr val="3F4149"/>
                </a:solidFill>
                <a:latin typeface="Helvetica Neue"/>
              </a:rPr>
              <a:t>Có một khả năng đơn giản chưa loại trừ được: model này vốn đã được tinh chỉnh rất kỹ. Dạy thêm</a:t>
            </a:r>
          </a:p>
          <a:p>
            <a:pPr algn="l">
              <a:lnSpc>
                <a:spcPct val="145000"/>
              </a:lnSpc>
              <a:spcAft>
                <a:spcPts val="600"/>
              </a:spcAft>
            </a:pPr>
            <a:r>
              <a:rPr sz="1250" b="0">
                <a:solidFill>
                  <a:srgbClr val="3F4149"/>
                </a:solidFill>
                <a:latin typeface="Helvetica Neue"/>
              </a:rPr>
              <a:t>một lượng nhỏ có thể chỉ làm nó lệch khỏi trạng thái tốt sẵn có, bất kể dạy bằng dữ liệu gì.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00100" y="3720000"/>
            <a:ext cx="10591495" cy="30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1">
                <a:solidFill>
                  <a:srgbClr val="8A8D96"/>
                </a:solidFill>
                <a:latin typeface="Helvetica Neue"/>
              </a:rPr>
              <a:t>THÍ NGHIỆM PHÂN ĐỊNH: dạy bằng lời giải mẫu của sách, thay vì bài model tự làm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00100" y="4180000"/>
            <a:ext cx="5190000" cy="1350000"/>
          </a:xfrm>
          <a:prstGeom prst="roundRect">
            <a:avLst>
              <a:gd name="adj" fmla="val 4000"/>
            </a:avLst>
          </a:prstGeom>
          <a:solidFill>
            <a:srgbClr val="F5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1040100" y="4360000"/>
            <a:ext cx="1500000" cy="310000"/>
          </a:xfrm>
          <a:prstGeom prst="roundRect">
            <a:avLst>
              <a:gd name="adj" fmla="val 50000"/>
            </a:avLst>
          </a:prstGeom>
          <a:solidFill>
            <a:srgbClr val="029E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/>
          <a:lstStyle/>
          <a:p>
            <a:pPr algn="ctr"/>
            <a:r>
              <a:rPr sz="1050" b="1">
                <a:solidFill>
                  <a:srgbClr val="FFFFFF"/>
                </a:solidFill>
                <a:latin typeface="Helvetica Neue"/>
              </a:rPr>
              <a:t>Nếu khá lên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40100" y="4830000"/>
            <a:ext cx="4700000" cy="60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600"/>
              </a:spcAft>
            </a:pPr>
            <a:r>
              <a:rPr sz="1200" b="0">
                <a:solidFill>
                  <a:srgbClr val="3F4149"/>
                </a:solidFill>
                <a:latin typeface="Helvetica Neue"/>
              </a:rPr>
              <a:t>thì vòng lặp không sao, và cái hại đúng là</a:t>
            </a:r>
          </a:p>
          <a:p>
            <a:pPr algn="l">
              <a:lnSpc>
                <a:spcPct val="135000"/>
              </a:lnSpc>
              <a:spcAft>
                <a:spcPts val="600"/>
              </a:spcAft>
            </a:pPr>
            <a:r>
              <a:rPr sz="1200" b="0">
                <a:solidFill>
                  <a:srgbClr val="3F4149"/>
                </a:solidFill>
                <a:latin typeface="Helvetica Neue"/>
              </a:rPr>
              <a:t>do model học từ bài của chính nó.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00100" y="4180000"/>
            <a:ext cx="5190000" cy="1350000"/>
          </a:xfrm>
          <a:prstGeom prst="roundRect">
            <a:avLst>
              <a:gd name="adj" fmla="val 4000"/>
            </a:avLst>
          </a:prstGeom>
          <a:solidFill>
            <a:srgbClr val="F5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6440100" y="4360000"/>
            <a:ext cx="1500000" cy="310000"/>
          </a:xfrm>
          <a:prstGeom prst="roundRect">
            <a:avLst>
              <a:gd name="adj" fmla="val 50000"/>
            </a:avLst>
          </a:prstGeom>
          <a:solidFill>
            <a:srgbClr val="B85C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/>
          <a:lstStyle/>
          <a:p>
            <a:pPr algn="ctr"/>
            <a:r>
              <a:rPr sz="1050" b="1">
                <a:solidFill>
                  <a:srgbClr val="FFFFFF"/>
                </a:solidFill>
                <a:latin typeface="Helvetica Neue"/>
              </a:rPr>
              <a:t>Nếu cũng tụt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40100" y="4830000"/>
            <a:ext cx="4700000" cy="60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600"/>
              </a:spcAft>
            </a:pPr>
            <a:r>
              <a:rPr sz="1200" b="0">
                <a:solidFill>
                  <a:srgbClr val="3F4149"/>
                </a:solidFill>
                <a:latin typeface="Helvetica Neue"/>
              </a:rPr>
              <a:t>thì cú tụt là do việc dạy thêm, không liên</a:t>
            </a:r>
          </a:p>
          <a:p>
            <a:pPr algn="l">
              <a:lnSpc>
                <a:spcPct val="135000"/>
              </a:lnSpc>
              <a:spcAft>
                <a:spcPts val="600"/>
              </a:spcAft>
            </a:pPr>
            <a:r>
              <a:rPr sz="1200" b="0">
                <a:solidFill>
                  <a:srgbClr val="3F4149"/>
                </a:solidFill>
                <a:latin typeface="Helvetica Neue"/>
              </a:rPr>
              <a:t>quan tự học. Kết luận phải sửa lần nữa.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00100" y="5800000"/>
            <a:ext cx="10591495" cy="30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050" b="0">
                <a:solidFill>
                  <a:srgbClr val="8A8D96"/>
                </a:solidFill>
                <a:latin typeface="Helvetica Neue"/>
              </a:rPr>
              <a:t>Phần code đã hoàn tất, đang chờ tới lượt GPU.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00100" y="430000"/>
            <a:ext cx="7000000" cy="25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050" b="1">
                <a:solidFill>
                  <a:srgbClr val="9E2B34"/>
                </a:solidFill>
                <a:latin typeface="Helvetica Neue"/>
              </a:rPr>
              <a:t>HẠN CHẾ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491595" y="400000"/>
            <a:ext cx="900000" cy="40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600"/>
              </a:spcAft>
            </a:pPr>
            <a:r>
              <a:rPr sz="1500" b="1">
                <a:solidFill>
                  <a:srgbClr val="E6E6EA"/>
                </a:solidFill>
                <a:latin typeface="Georgia"/>
              </a:rPr>
              <a:t>16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00100" y="790000"/>
            <a:ext cx="10591495" cy="62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2900" b="1">
                <a:solidFill>
                  <a:srgbClr val="16161A"/>
                </a:solidFill>
                <a:latin typeface="Georgia"/>
              </a:rPr>
              <a:t>Ba điểm cần lưu ý khi đọc kết quả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80100" y="2000000"/>
            <a:ext cx="10831495" cy="1150000"/>
          </a:xfrm>
          <a:prstGeom prst="roundRect">
            <a:avLst>
              <a:gd name="adj" fmla="val 4000"/>
            </a:avLst>
          </a:prstGeom>
          <a:solidFill>
            <a:srgbClr val="F5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20100" y="2200000"/>
            <a:ext cx="400000" cy="30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1">
                <a:solidFill>
                  <a:srgbClr val="9E2B34"/>
                </a:solidFill>
                <a:latin typeface="Georgia"/>
              </a:rPr>
              <a:t>01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500100" y="2190000"/>
            <a:ext cx="9500000" cy="30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>
                <a:solidFill>
                  <a:srgbClr val="16161A"/>
                </a:solidFill>
                <a:latin typeface="Helvetica Neue"/>
              </a:rPr>
              <a:t>Đề thi chỉ có 150 đề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500100" y="2600000"/>
            <a:ext cx="9500000" cy="45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00" b="0">
                <a:solidFill>
                  <a:srgbClr val="3F4149"/>
                </a:solidFill>
                <a:latin typeface="Helvetica Neue"/>
              </a:rPr>
              <a:t>Mỗi đề đáng 0,67 điểm. Chỉ đổi cách bốc đề thi thôi là điểm vòng 0 đã lệch 4,7 điểm, lớn hơn cả hiệu ứng đang đo.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80100" y="3330000"/>
            <a:ext cx="10831495" cy="1150000"/>
          </a:xfrm>
          <a:prstGeom prst="roundRect">
            <a:avLst>
              <a:gd name="adj" fmla="val 4000"/>
            </a:avLst>
          </a:prstGeom>
          <a:solidFill>
            <a:srgbClr val="F5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20100" y="3530000"/>
            <a:ext cx="400000" cy="30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1">
                <a:solidFill>
                  <a:srgbClr val="9E2B34"/>
                </a:solidFill>
                <a:latin typeface="Georgia"/>
              </a:rPr>
              <a:t>02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00100" y="3520000"/>
            <a:ext cx="9500000" cy="30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>
                <a:solidFill>
                  <a:srgbClr val="16161A"/>
                </a:solidFill>
                <a:latin typeface="Helvetica Neue"/>
              </a:rPr>
              <a:t>Mỗi cấu hình mới chạy 2 lần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00100" y="3930000"/>
            <a:ext cx="9500000" cy="45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00" b="0">
                <a:solidFill>
                  <a:srgbClr val="3F4149"/>
                </a:solidFill>
                <a:latin typeface="Helvetica Neue"/>
              </a:rPr>
              <a:t>Riêng lần chạy C và các lần chạy cũ mới có 1 lần. Chưa đủ cơ sở để khẳng định về cú tụt 12,7 điểm của GSM8K.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80100" y="4660000"/>
            <a:ext cx="10831495" cy="1150000"/>
          </a:xfrm>
          <a:prstGeom prst="roundRect">
            <a:avLst>
              <a:gd name="adj" fmla="val 4000"/>
            </a:avLst>
          </a:prstGeom>
          <a:solidFill>
            <a:srgbClr val="F5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20100" y="4860000"/>
            <a:ext cx="400000" cy="30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1">
                <a:solidFill>
                  <a:srgbClr val="9E2B34"/>
                </a:solidFill>
                <a:latin typeface="Georgia"/>
              </a:rPr>
              <a:t>03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500100" y="4850000"/>
            <a:ext cx="9500000" cy="30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>
                <a:solidFill>
                  <a:srgbClr val="16161A"/>
                </a:solidFill>
                <a:latin typeface="Helvetica Neue"/>
              </a:rPr>
              <a:t>Lần chạy mới khác lần cũ ba chỗ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500100" y="5260000"/>
            <a:ext cx="9500000" cy="45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00" b="0">
                <a:solidFill>
                  <a:srgbClr val="3F4149"/>
                </a:solidFill>
                <a:latin typeface="Helvetica Neue"/>
              </a:rPr>
              <a:t>Bỏ gộp bộ đề, thêm đề thi riêng, giảm số đề. Nên kết luận chỉ dựa trên so sánh A với B, vì hai lần chạy đó chỉ khác nhau đúng một biến.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00100" y="430000"/>
            <a:ext cx="7000000" cy="25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050" b="1">
                <a:solidFill>
                  <a:srgbClr val="9E2B34"/>
                </a:solidFill>
                <a:latin typeface="Helvetica Neue"/>
              </a:rPr>
              <a:t>TÓM TẮT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491595" y="400000"/>
            <a:ext cx="900000" cy="40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600"/>
              </a:spcAft>
            </a:pPr>
            <a:r>
              <a:rPr sz="1500" b="1">
                <a:solidFill>
                  <a:srgbClr val="E6E6EA"/>
                </a:solidFill>
                <a:latin typeface="Georgia"/>
              </a:rPr>
              <a:t>17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00100" y="790000"/>
            <a:ext cx="10591495" cy="62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2900" b="1">
                <a:solidFill>
                  <a:srgbClr val="16161A"/>
                </a:solidFill>
                <a:latin typeface="Georgia"/>
              </a:rPr>
              <a:t>Kết quả ba tuần và hướng tiếp theo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80100" y="1900000"/>
            <a:ext cx="10831495" cy="1460000"/>
          </a:xfrm>
          <a:prstGeom prst="roundRect">
            <a:avLst>
              <a:gd name="adj" fmla="val 4000"/>
            </a:avLst>
          </a:prstGeom>
          <a:solidFill>
            <a:srgbClr val="F0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20100" y="2100000"/>
            <a:ext cx="10351495" cy="110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  <a:spcAft>
                <a:spcPts val="600"/>
              </a:spcAft>
            </a:pPr>
            <a:r>
              <a:rPr sz="1400" b="0">
                <a:solidFill>
                  <a:srgbClr val="16161A"/>
                </a:solidFill>
                <a:latin typeface="Georgia"/>
              </a:rPr>
              <a:t>Thí nghiệm đối chứng cho thấy giả thuyết ban đầu không đúng. Nguyên nhân đã xác định được:</a:t>
            </a:r>
          </a:p>
          <a:p>
            <a:pPr algn="l">
              <a:lnSpc>
                <a:spcPct val="140000"/>
              </a:lnSpc>
              <a:spcAft>
                <a:spcPts val="600"/>
              </a:spcAft>
            </a:pPr>
            <a:r>
              <a:rPr sz="1400" b="0">
                <a:solidFill>
                  <a:srgbClr val="16161A"/>
                </a:solidFill>
                <a:latin typeface="Georgia"/>
              </a:rPr>
              <a:t>lỗi của máy chấm tuy nặng nhưng chỉ xảy ra ở 0,55% số bài.</a:t>
            </a:r>
          </a:p>
          <a:p>
            <a:pPr algn="l">
              <a:lnSpc>
                <a:spcPct val="140000"/>
              </a:lnSpc>
              <a:spcAft>
                <a:spcPts val="600"/>
              </a:spcAft>
            </a:pPr>
            <a:r>
              <a:rPr sz="1400" b="0">
                <a:solidFill>
                  <a:srgbClr val="16161A"/>
                </a:solidFill>
                <a:latin typeface="Georgia"/>
              </a:rPr>
              <a:t>Đề tài chuyển sang cảnh báo về thiết kế đo — hẹp hơn, nhưng có cơ sở vững.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00100" y="3560000"/>
            <a:ext cx="1700000" cy="30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1">
                <a:solidFill>
                  <a:srgbClr val="9E2B34"/>
                </a:solidFill>
                <a:latin typeface="Helvetica Neue"/>
              </a:rPr>
              <a:t>ĐÃ LÀM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600100" y="3545000"/>
            <a:ext cx="8700000" cy="33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50" b="0">
                <a:solidFill>
                  <a:srgbClr val="3F4149"/>
                </a:solidFill>
                <a:latin typeface="Helvetica Neue"/>
              </a:rPr>
              <a:t>7 lần chạy, khoảng 40 giờ GPU. Phát hiện 2 lỗi độc lập trong máy chấm, cả hai đã vá và có test.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00100" y="4130000"/>
            <a:ext cx="1700000" cy="30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1">
                <a:solidFill>
                  <a:srgbClr val="9E2B34"/>
                </a:solidFill>
                <a:latin typeface="Helvetica Neue"/>
              </a:rPr>
              <a:t>KẾT QUẢ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600100" y="4115000"/>
            <a:ext cx="8700000" cy="33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50" b="0">
                <a:solidFill>
                  <a:srgbClr val="3F4149"/>
                </a:solidFill>
                <a:latin typeface="Helvetica Neue"/>
              </a:rPr>
              <a:t>Giả thuyết ban đầu không đúng, và đo được nguyên nhân vì sao.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00100" y="4700000"/>
            <a:ext cx="1700000" cy="30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1">
                <a:solidFill>
                  <a:srgbClr val="9E2B34"/>
                </a:solidFill>
                <a:latin typeface="Helvetica Neue"/>
              </a:rPr>
              <a:t>SẮP TỚI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600100" y="4685000"/>
            <a:ext cx="8700000" cy="33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50" b="0">
                <a:solidFill>
                  <a:srgbClr val="3F4149"/>
                </a:solidFill>
                <a:latin typeface="Helvetica Neue"/>
              </a:rPr>
              <a:t>Chạy thử lỗi phổ biến (\boxed) để tìm ngưỡng lỗi máy chấm bắt đầu gây hại.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00100" y="5270000"/>
            <a:ext cx="1700000" cy="30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1">
                <a:solidFill>
                  <a:srgbClr val="9E2B34"/>
                </a:solidFill>
                <a:latin typeface="Helvetica Neue"/>
              </a:rPr>
              <a:t>SAU ĐÓ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600100" y="5255000"/>
            <a:ext cx="8700000" cy="33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50" b="0">
                <a:solidFill>
                  <a:srgbClr val="3F4149"/>
                </a:solidFill>
                <a:latin typeface="Helvetica Neue"/>
              </a:rPr>
              <a:t>Viết lại bài báo theo kết luận mới.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800100" y="5900000"/>
            <a:ext cx="10591495" cy="0"/>
          </a:xfrm>
          <a:prstGeom prst="line">
            <a:avLst/>
          </a:prstGeom>
          <a:ln w="9525">
            <a:solidFill>
              <a:srgbClr val="E6E6E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800100" y="6100000"/>
            <a:ext cx="10591495" cy="30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50" b="0">
                <a:solidFill>
                  <a:srgbClr val="8A8D96"/>
                </a:solidFill>
                <a:latin typeface="Helvetica Neue"/>
              </a:rPr>
              <a:t>Cảm ơn đã theo dõi. Rất mong nhận được góp ý.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