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50000"/>
          </a:xfrm>
          <a:prstGeom prst="roundRect">
            <a:avLst>
              <a:gd name="adj" fmla="val 0"/>
            </a:avLst>
          </a:prstGeom>
          <a:solidFill>
            <a:srgbClr val="9E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118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E2B34"/>
                </a:solidFill>
                <a:latin typeface="Helvetica Neue"/>
              </a:rPr>
              <a:t>BÁO CÁO TIẾN ĐỘ  ·  TUẦN 1 ĐẾN TUẦN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700000"/>
            <a:ext cx="10200000" cy="1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000" b="1">
                <a:solidFill>
                  <a:srgbClr val="16161A"/>
                </a:solidFill>
                <a:latin typeface="Georgia"/>
              </a:rPr>
              <a:t>Thí nghiệm đối chứng cho thấy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000" b="1">
                <a:solidFill>
                  <a:srgbClr val="16161A"/>
                </a:solidFill>
                <a:latin typeface="Georgia"/>
              </a:rPr>
              <a:t>giả thuyết ban đầu không đúng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850000"/>
            <a:ext cx="9200000" cy="10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3F4149"/>
                </a:solidFill>
                <a:latin typeface="Helvetica Neue"/>
              </a:rPr>
              <a:t>Ba tuần đầu, kết quả thí nghiệm tưởng như đã xác nhận giả thuyết. Sau đó phát hiện thiết kế đo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500" b="0">
                <a:solidFill>
                  <a:srgbClr val="3F4149"/>
                </a:solidFill>
                <a:latin typeface="Helvetica Neue"/>
              </a:rPr>
              <a:t>có lỗi. Đo lại cho đúng thì kết quả ngược lại.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00100" y="5250000"/>
            <a:ext cx="2400000" cy="0"/>
          </a:xfrm>
          <a:prstGeom prst="line">
            <a:avLst/>
          </a:prstGeom>
          <a:ln w="25400">
            <a:solidFill>
              <a:srgbClr val="9E2B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0100" y="548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6161A"/>
                </a:solidFill>
                <a:latin typeface="Helvetica Neue"/>
              </a:rPr>
              <a:t>Nguyễn Tấn Sang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582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13 tháng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NỘI 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Thứ tự trình bày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17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100" y="215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Bối cảnh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0100" y="217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và quy trình một vòng thí nghiệm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00100" y="258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0100" y="273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0100" y="271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Lỗi của máy chấm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00100" y="273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đo được trước khi chạy thí nghiệm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00100" y="314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00100" y="329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0100" y="327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Kết quả tuần 1 và tuần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0100" y="329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cả hai model đều tụt điểm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00100" y="370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0100" y="385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0100" y="383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Vấn đề trong thiết kế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0100" y="385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hai lỗi khiến số liệu không dùng được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00100" y="426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0100" y="441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0100" y="439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Thí nghiệm làm lại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0100" y="441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năm lần chạy mới, kết quả ngược lại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0100" y="4820000"/>
            <a:ext cx="98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0100" y="4970000"/>
            <a:ext cx="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0100" y="4950000"/>
            <a:ext cx="4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Trả lời câu hỏi đề tài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0100" y="4970000"/>
            <a:ext cx="6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và ba thí nghiệm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Cho model tự học, không cần người dạy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700000"/>
            <a:ext cx="10591495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400" b="0">
                <a:solidFill>
                  <a:srgbClr val="3F4149"/>
                </a:solidFill>
                <a:latin typeface="Helvetica Neue"/>
              </a:rPr>
              <a:t>Muốn model giải toán giỏi hơn thì bình thường phải có người soạn lời giải mẫu cho nó học.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400" b="0">
                <a:solidFill>
                  <a:srgbClr val="3F4149"/>
                </a:solidFill>
                <a:latin typeface="Helvetica Neue"/>
              </a:rPr>
              <a:t>Việc đó rất tốn công. Nên người ta nghĩ ra cách cho model tự làm bài, rồi dùng một máy chấm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400" b="0">
                <a:solidFill>
                  <a:srgbClr val="3F4149"/>
                </a:solidFill>
                <a:latin typeface="Helvetica Neue"/>
              </a:rPr>
              <a:t>tự động chọn ra bài nào nó làm đúng, lấy đúng những bài đó dạy lại cho nó. Làm đi làm lại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400" b="0">
                <a:solidFill>
                  <a:srgbClr val="3F4149"/>
                </a:solidFill>
                <a:latin typeface="Helvetica Neue"/>
              </a:rPr>
              <a:t>nhiều vòng. Cách này tên là tự học (self-training).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0100" y="3300000"/>
            <a:ext cx="10831495" cy="90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0100" y="3480000"/>
            <a:ext cx="1035149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Toàn bộ cách làm này dựa trên một niềm tin: máy chấm phải chấm đúng. Nếu máy chấm sai,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model sẽ học nhầm, mà không ai biết.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50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CÂU HỎI CỦA ĐỀ TÀI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870000"/>
            <a:ext cx="10591495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9E2B34"/>
                </a:solidFill>
                <a:latin typeface="Georgia"/>
              </a:rPr>
              <a:t>Sau nhiều vòng tự học, model giỏi toán hơn thật, hay chỉ học cách viết mà máy chấm ưa?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500" b="1">
                <a:solidFill>
                  <a:srgbClr val="9E2B34"/>
                </a:solidFill>
                <a:latin typeface="Georgia"/>
              </a:rPr>
              <a:t>Giả thuyết ban đầu: máy chấm sai theo một quy luật cố định sẽ làm model dở đi.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MỘT VÒNG CHẠY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Ba bước, lặp lại năm lần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" y="1900000"/>
            <a:ext cx="3300000" cy="16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0100" y="2080000"/>
            <a:ext cx="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E2B34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00" y="2500000"/>
            <a:ext cx="29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Helvetica Neue"/>
              </a:rPr>
              <a:t>Làm bài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100" y="2880000"/>
            <a:ext cx="29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Model tự làm mỗi đề 8 lần,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ra 8 lời giải khác nhau.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0100" y="1900000"/>
            <a:ext cx="3300000" cy="16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0100" y="2080000"/>
            <a:ext cx="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E2B34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0100" y="2500000"/>
            <a:ext cx="29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Helvetica Neue"/>
              </a:rPr>
              <a:t>Chấm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100" y="2880000"/>
            <a:ext cx="29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Máy chấm so đáp án cuối với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đáp án trong sách. Sai thì bỏ.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100" y="1900000"/>
            <a:ext cx="3300000" cy="16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0100" y="2080000"/>
            <a:ext cx="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E2B3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0100" y="2500000"/>
            <a:ext cx="29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Helvetica Neue"/>
              </a:rPr>
              <a:t>Học lại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0100" y="2880000"/>
            <a:ext cx="2900000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Lấy đúng những bài vừa được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chấm đúng, dạy lại cho model.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" y="3800000"/>
            <a:ext cx="105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0100" y="3990000"/>
            <a:ext cx="10591495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Mỗi vòng dạy lại từ model gốc, chỉ bằng bài của vòng trước. Nên nếu máy chấm bỏ sót một kiểu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bài nào đó, vòng sau model càng ít gặp kiểu bài đó. Vòng sau nữa lại càng ít hơn.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100" y="4950000"/>
            <a:ext cx="10831495" cy="140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100" y="5180000"/>
            <a:ext cx="10351495" cy="7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6161A"/>
                </a:solidFill>
                <a:latin typeface="Helvetica Neue"/>
              </a:rPr>
              <a:t>Hai chỉ số dùng xuyên suốt: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6161A"/>
                </a:solidFill>
                <a:latin typeface="Helvetica Neue"/>
              </a:rPr>
              <a:t>pass@1  —  cho model làm 1 lần, đúng bao nhiêu phần trăm số đề.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16161A"/>
                </a:solidFill>
                <a:latin typeface="Helvetica Neue"/>
              </a:rPr>
              <a:t>pass@8  —  cho làm 8 lần, chỉ cần 1 lần đúng là tính đúng. Đo xem model còn giải nổi bài không.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MÁY CHẤM SAI Ở ĐÂU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Cùng một đáp án, viết khác kiểu là bị gạch</a:t>
            </a:r>
          </a:p>
        </p:txBody>
      </p:sp>
      <p:pic>
        <p:nvPicPr>
          <p:cNvPr id="5" name="Picture 4" descr="deck_verifier_b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847" y="1780000"/>
            <a:ext cx="9900000" cy="26517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4650000"/>
            <a:ext cx="105914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3F4149"/>
                </a:solidFill>
                <a:latin typeface="Helvetica Neue"/>
              </a:rPr>
              <a:t>Máy chấm không đọc cách giải. Nó chỉ lấy đáp án cuối rồi so chữ với đáp án trong sách.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3F4149"/>
                </a:solidFill>
                <a:latin typeface="Helvetica Neue"/>
              </a:rPr>
              <a:t>Hai cách viết trên cho ra cùng một phân số, nhưng nó chỉ nhận một cách.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0100" y="5480000"/>
            <a:ext cx="10831495" cy="80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100" y="5650000"/>
            <a:ext cx="10351495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6161A"/>
                </a:solidFill>
                <a:latin typeface="Helvetica Neue"/>
              </a:rPr>
              <a:t>7,8% là tỉ lệ máy chấm gạch OAN bài model làm ĐÚNG (10/128 bài, kiểm tra tay) — không phải tỉ lệ model làm sai.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6161A"/>
                </a:solidFill>
                <a:latin typeface="Helvetica Neue"/>
              </a:rPr>
              <a:t>Trên GSM8K con số này là 0%: máy chấm ở đó không gạch oan bài nào, nên điểm đo được là năng lực thật của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TUẦN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Lần chạy đầu tiên trên model nhỏ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700000"/>
            <a:ext cx="10591495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3F4149"/>
                </a:solidFill>
                <a:latin typeface="Helvetica Neue"/>
              </a:rPr>
              <a:t>Cấu hình: Qwen 0.5B, 500 đề mỗi bộ, 5 vòng, chạy trên GPU của Kaggle.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2250000"/>
            <a:ext cx="5190000" cy="150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100" y="2420000"/>
            <a:ext cx="2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A8D96"/>
                </a:solidFill>
                <a:latin typeface="Helvetica Neue"/>
              </a:rPr>
              <a:t>pass@1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100" y="2780000"/>
            <a:ext cx="4700000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61A"/>
                </a:solidFill>
                <a:latin typeface="Georgia"/>
              </a:rPr>
              <a:t>31,1%  →  27,4%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100" y="340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làm 1 lần đúng, sau 5 vòng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0100" y="2250000"/>
            <a:ext cx="5190000" cy="150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100" y="2420000"/>
            <a:ext cx="2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8A8D96"/>
                </a:solidFill>
                <a:latin typeface="Helvetica Neue"/>
              </a:rPr>
              <a:t>pass@8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100" y="2780000"/>
            <a:ext cx="4700000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6161A"/>
                </a:solidFill>
                <a:latin typeface="Georgia"/>
              </a:rPr>
              <a:t>60,5%  →  54,9%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0100" y="3400000"/>
            <a:ext cx="4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cho làm 8 lần, sau 5 vòng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000000"/>
            <a:ext cx="10591495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3F4149"/>
                </a:solidFill>
                <a:latin typeface="Helvetica Neue"/>
              </a:rPr>
              <a:t>Cả hai chỉ số đều tụt, khớp với giả thuyết: máy chấm gạch nhầm bài đúng, model học thiếu nên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3F4149"/>
                </a:solidFill>
                <a:latin typeface="Helvetica Neue"/>
              </a:rPr>
              <a:t>dở đi. Nhưng model này nhỏ và mức tụt cũng ít, chưa đủ cơ sở để kết luận.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100" y="5050000"/>
            <a:ext cx="10831495" cy="620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100" y="5240000"/>
            <a:ext cx="1035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173B2"/>
                </a:solidFill>
                <a:latin typeface="Helvetica Neue"/>
              </a:rPr>
              <a:t>Tuần 2 chạy lại với model to gấp ba, để xem hiện tượng có rõ hơn không.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TUẦN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Model to gấp ba, tụt mạnh hơn hẳn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950000"/>
            <a:ext cx="31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ĐO TRÊN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00100" y="19500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PASS@1  VÒNG 0 →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100" y="1950000"/>
            <a:ext cx="22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PASS@8  VÒNG 0 →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00100" y="1950000"/>
            <a:ext cx="2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TỤT BAO NHIÊU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100" y="2330000"/>
            <a:ext cx="10831495" cy="189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247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Qwen 0.5B  (tuần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00100" y="247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31,1% → 27,4%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100" y="247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60,5% → 54,9%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0100" y="2470000"/>
            <a:ext cx="2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5,6 điểm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0100" y="284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0100" y="290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Qwen 1.5B  (tuần 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0100" y="290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50,0% → 18,6%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100" y="290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72,6% → 48,6%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0100" y="2900000"/>
            <a:ext cx="2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24,0 điểm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100" y="327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0100" y="333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1.5B, riêng bộ GSM8K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00100" y="333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69,6% → 26,6%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100" y="333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91,4% → 65,8%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0100" y="3330000"/>
            <a:ext cx="2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25,6 điểm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0100" y="370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0100" y="376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1.5B, riêng bộ MATH-500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0100" y="376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30,4% → 10,6%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100" y="3760000"/>
            <a:ext cx="22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53,8% → 31,4%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0100" y="3760000"/>
            <a:ext cx="2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22,4 điểm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" y="4520000"/>
            <a:ext cx="10591495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Vòng 0 là model gốc chưa học gì. 69,6% trên GSM8K là năng lực thật của nó — 30,4% còn lại nó làm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sai thật, máy chấm gạch đúng. Sau 5 vòng chỉ còn 26,6%, và vì máy chấm ở GSM8K không gạch oan,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cú tụt này là tụt thật, không phải sai số đo.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0100" y="5540000"/>
            <a:ext cx="10831495" cy="830000"/>
          </a:xfrm>
          <a:prstGeom prst="roundRect">
            <a:avLst>
              <a:gd name="adj" fmla="val 4000"/>
            </a:avLst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100" y="5700000"/>
            <a:ext cx="10351495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1">
                <a:solidFill>
                  <a:srgbClr val="9E2B34"/>
                </a:solidFill>
                <a:latin typeface="Helvetica Neue"/>
              </a:rPr>
              <a:t>Nhưng có một điểm bất thường: GSM8K lại tụt nhiều nhất.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1">
                <a:solidFill>
                  <a:srgbClr val="9E2B34"/>
                </a:solidFill>
                <a:latin typeface="Helvetica Neue"/>
              </a:rPr>
              <a:t>Mà GSM8K chính là bộ máy chấm gần như không gạch nhầm bài nào.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VẤN ĐỀ TRONG THIẾT KẾ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Thiết kế đo có hai lỗi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62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9E2B34"/>
                </a:solidFill>
                <a:latin typeface="Helvetica Neue"/>
              </a:rPr>
              <a:t>LỖI 1 — hai bộ đề bị gộp chung trong cùng một lần dạy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000000"/>
            <a:ext cx="31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TỈ LỆ BÀI ĐEM ĐI DẠY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VÒNG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00100" y="200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0100" y="2380000"/>
            <a:ext cx="10831495" cy="137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" y="252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Số bài giữ được — GSM8K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2725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2551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2356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1837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0100" y="25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1100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60100" y="286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0100" y="292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Số bài giữ được — MATH-500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1237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1179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1039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00100" y="29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3F4149"/>
                </a:solidFill>
                <a:latin typeface="Helvetica Neue"/>
              </a:rPr>
              <a:t>466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0100" y="326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0100" y="3320000"/>
            <a:ext cx="3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GSM8K chiếm bao nhiêu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68,8%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68,4%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69,4%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69,7%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0100" y="33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6161A"/>
                </a:solidFill>
                <a:latin typeface="Helvetica Neue"/>
              </a:rPr>
              <a:t>70,2%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" y="4030000"/>
            <a:ext cx="1059149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Gần 70% bài đem đi dạy là của GSM8K. Nên điểm của MATH-500 thật ra bị ảnh hưởng bởi chuyện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xảy ra bên GSM8K. Không tách được hai yếu tố này ra khỏi nhau.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0100" y="4790000"/>
            <a:ext cx="10831495" cy="880000"/>
          </a:xfrm>
          <a:prstGeom prst="roundRect">
            <a:avLst>
              <a:gd name="adj" fmla="val 4000"/>
            </a:avLst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0100" y="4930000"/>
            <a:ext cx="10351495" cy="6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9E2B34"/>
                </a:solidFill>
                <a:latin typeface="Helvetica Neue"/>
              </a:rPr>
              <a:t>LỖI 2 — chấm điểm trên chính những đề đã dùng để chọn bài dạy.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9E2B34"/>
                </a:solidFill>
                <a:latin typeface="Helvetica Neue"/>
              </a:rPr>
              <a:t>Nên điểm tụt có thể chỉ là model quên bài cũ, chứ chưa chắc năng lực giảm thật.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THÍ NGHIỆM LÀM LẠI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Năm lần chạy mới, sửa cả hai lỗi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520000"/>
            <a:ext cx="10591495" cy="4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8A8D96"/>
                </a:solidFill>
                <a:latin typeface="Helvetica Neue"/>
              </a:rPr>
              <a:t>Mỗi lần chỉ chạy một bộ đề. Giữ riêng 30% số đề làm đề thi, model chưa từng được học.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2150000"/>
            <a:ext cx="2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LẦN CHẠY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0100" y="2150000"/>
            <a:ext cx="2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BỘ ĐỀ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100" y="2150000"/>
            <a:ext cx="2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MÁY CHẤM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00100" y="2150000"/>
            <a:ext cx="1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SEED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0100" y="2150000"/>
            <a:ext cx="16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GPU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0100" y="2530000"/>
            <a:ext cx="10831495" cy="23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267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0100" y="267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MATH-500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0100" y="267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để nguyên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0100" y="267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00100" y="267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~5 giờ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0100" y="304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0100" y="310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A  chạy lại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0100" y="310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MATH-500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0100" y="310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để nguyên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0100" y="310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00100" y="310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~5 giờ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0100" y="347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0100" y="353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0100" y="353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MATH-500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00100" y="353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ĐÃ SỬA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0100" y="353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0100" y="353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~5 giờ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0100" y="390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00100" y="396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B  chạy lại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0100" y="396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MATH-500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00100" y="396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ĐÃ SỬA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0100" y="396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0100" y="396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6161A"/>
                </a:solidFill>
                <a:latin typeface="Helvetica Neue"/>
              </a:rPr>
              <a:t>~5 giờ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0100" y="433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00100" y="4390000"/>
            <a:ext cx="2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0100" y="439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GSM8K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00100" y="439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để nguyên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0100" y="439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00100" y="4390000"/>
            <a:ext cx="16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~5,5 giờ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0100" y="5150000"/>
            <a:ext cx="10831495" cy="780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0100" y="5310000"/>
            <a:ext cx="10351495" cy="5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0173B2"/>
                </a:solidFill>
                <a:latin typeface="Helvetica Neue"/>
              </a:rPr>
              <a:t>A và B giống hệt nhau, chỉ khác đúng một chỗ: ở B, lỗi của máy chấm đã được sửa.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1">
                <a:solidFill>
                  <a:srgbClr val="0173B2"/>
                </a:solidFill>
                <a:latin typeface="Helvetica Neue"/>
              </a:rPr>
              <a:t>Nếu giả thuyết ban đầu đúng thì B phải khá hơn A rõ rệt.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" y="635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D96"/>
                </a:solidFill>
                <a:latin typeface="Helvetica Neue"/>
              </a:rPr>
              <a:t>Tổng khoảng 25 giờ GPU, chia nhiều phiên vì Kaggle giới hạn 12 tiếng một lần.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Đo đúng cách thì không còn thấy tụt</a:t>
            </a:r>
          </a:p>
        </p:txBody>
      </p:sp>
      <p:pic>
        <p:nvPicPr>
          <p:cNvPr id="5" name="Picture 4" descr="deck_collap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47" y="1720000"/>
            <a:ext cx="9300000" cy="3948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5830000"/>
            <a:ext cx="10591495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Hai đường cam là cách đo cũ, tụt 22 đến 26 điểm. Ba đường còn lại là cách đo mới, gần như nằm ngang.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Cú tụt ban đầu đến từ thiết kế đo, không phải từ máy chấm.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THÍ NGHIỆM ĐỐI CHỨNG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Sửa máy chấm nhưng kết quả không đổi</a:t>
            </a:r>
          </a:p>
        </p:txBody>
      </p:sp>
      <p:pic>
        <p:nvPicPr>
          <p:cNvPr id="5" name="Picture 4" descr="deck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847" y="1720000"/>
            <a:ext cx="9300000" cy="3772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5660000"/>
            <a:ext cx="105914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Hai đường nằm chồng lên nhau ở cả hai lần chạy. Đúng cái lỗi mà đề tài cho là nguyên nhân đã được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sửa, nhưng điểm không nhúc nhích. Đây là bằng chứng mạnh nhất bác bỏ giả thuyết ban đầu.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40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D96"/>
                </a:solidFill>
                <a:latin typeface="Helvetica Neue"/>
              </a:rPr>
              <a:t>Đề thi có 150 đề nên mỗi đề đáng 0,67 điểm. A và B chênh nhau nhiều nhất 0,6 điểm, tức đúng một đề.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E88A92"/>
                </a:solidFill>
                <a:latin typeface="Helvetica Neue"/>
              </a:rPr>
              <a:t>VÌ SAO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83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900" b="1">
                <a:solidFill>
                  <a:srgbClr val="FFFFFF"/>
                </a:solidFill>
                <a:latin typeface="Georgia"/>
              </a:rPr>
              <a:t>Lỗi đó nặng thật, nhưng rất hiếm khi xảy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gặp cách viết đó là máy chấm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gạch, không trượt lần nào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80100" y="2300000"/>
            <a:ext cx="3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5A5C66"/>
                </a:solidFill>
                <a:latin typeface="Helvetica Neue"/>
              </a:rP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60100" y="2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Georgia"/>
              </a:rPr>
              <a:t>0,55%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60100" y="3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nhưng trong 4000 bài model làm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mỗi vòng, chỉ 22 bài viết kiểu đó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0100" y="2300000"/>
            <a:ext cx="3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5A5C66"/>
                </a:solidFill>
                <a:latin typeface="Helvetica Neue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100" y="2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C94D"/>
                </a:solidFill>
                <a:latin typeface="Georgia"/>
              </a:rPr>
              <a:t>0,55%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100" y="3150000"/>
            <a:ext cx="33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nhân lại, đó là phần bài bị gạch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9A9CA5"/>
                </a:solidFill>
                <a:latin typeface="Helvetica Neue"/>
              </a:rPr>
              <a:t>oan. Quá ít để làm tụt 20 điểm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0100" y="4350000"/>
            <a:ext cx="10591495" cy="0"/>
          </a:xfrm>
          <a:prstGeom prst="line">
            <a:avLst/>
          </a:prstGeom>
          <a:ln w="9525">
            <a:solidFill>
              <a:srgbClr val="33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0100" y="4600000"/>
            <a:ext cx="10591495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D6D7DC"/>
                </a:solidFill>
                <a:latin typeface="Helvetica Neue"/>
              </a:rPr>
              <a:t>Đo trực tiếp: ở vòng 0 model chưa học gì, nên A và B làm ra y hệt một bộ bài. Khác nhau duy nhất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0">
                <a:solidFill>
                  <a:srgbClr val="D6D7DC"/>
                </a:solidFill>
                <a:latin typeface="Helvetica Neue"/>
              </a:rPr>
              <a:t>là máy chấm nào chấm. Sửa máy chấm xong, kết quả đổi đúng 1 đề trên 150 đề.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5750000"/>
            <a:ext cx="10591495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C94D"/>
                </a:solidFill>
                <a:latin typeface="Helvetica Neue"/>
              </a:rPr>
              <a:t>Bài học: một lỗi nặng tới đâu cũng chỉ hại được đúng bằng số lần nó thật sự xảy 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PHẠM VI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Kết luận thu hẹp lại, nhưng có cơ sở vững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100" y="1950000"/>
            <a:ext cx="5100000" cy="312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0100" y="2150000"/>
            <a:ext cx="1200000" cy="300000"/>
          </a:xfrm>
          <a:prstGeom prst="roundRect">
            <a:avLst>
              <a:gd name="adj" fmla="val 50000"/>
            </a:avLst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ĐÃ BỎ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100" y="2650000"/>
            <a:ext cx="47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A8D96"/>
                </a:solidFill>
                <a:latin typeface="Georgia"/>
              </a:rPr>
              <a:t>“Máy chấm gạch nhầm theo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A8D96"/>
                </a:solidFill>
                <a:latin typeface="Georgia"/>
              </a:rPr>
              <a:t>một kiểu cố định sẽ làm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8A8D96"/>
                </a:solidFill>
                <a:latin typeface="Georgia"/>
              </a:rPr>
              <a:t>model dở đi qua từng vòng.”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100" y="3950000"/>
            <a:ext cx="47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Đã kiểm tra bằng thí nghiệm đối chứng,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chạy lặp hai lần. Không đúng.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100" y="1950000"/>
            <a:ext cx="5310000" cy="3120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0100" y="2150000"/>
            <a:ext cx="1300000" cy="300000"/>
          </a:xfrm>
          <a:prstGeom prst="roundRect">
            <a:avLst>
              <a:gd name="adj" fmla="val 50000"/>
            </a:avLst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GIỮ LẠI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0100" y="2650000"/>
            <a:ext cx="48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Georgia"/>
              </a:rPr>
              <a:t>“Gộp nhiều bộ đề dạy chung,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Georgia"/>
              </a:rPr>
              <a:t>rồi chấm trên chính đề đã học,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16161A"/>
                </a:solidFill>
                <a:latin typeface="Georgia"/>
              </a:rPr>
              <a:t>sẽ tạo ra cú tụt giả.”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0100" y="3950000"/>
            <a:ext cx="48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Kèm một lưu ý cho người sau: muốn biết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một lỗi máy chấm có hại không thì phải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đếm xem nó xảy ra bao nhiêu lần.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330000"/>
            <a:ext cx="10591495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Kết luận này hẹp hơn mục tiêu ban đầu. Nhưng cái bẫy thiết kế ở đây khá phổ biến trong các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0">
                <a:solidFill>
                  <a:srgbClr val="3F4149"/>
                </a:solidFill>
                <a:latin typeface="Helvetica Neue"/>
              </a:rPr>
              <a:t>nghiên cứu cùng hướng, nên vẫn là đóng góp có ích.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TRẢ LỜI CÂU HỎI ĐỀ TÀI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Model không giỏi lên, cũng không học theo máy chấm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100" y="1600000"/>
            <a:ext cx="51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SAU 4 VÒNG TỰ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0100" y="1600000"/>
            <a:ext cx="25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MATH-500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100" y="1600000"/>
            <a:ext cx="23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8A8D96"/>
                </a:solidFill>
                <a:latin typeface="Helvetica Neue"/>
              </a:rPr>
              <a:t>GSM8K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0100" y="1980000"/>
            <a:ext cx="10831495" cy="217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0100" y="2120000"/>
            <a:ext cx="5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pass@1, vòng 0 →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0100" y="2120000"/>
            <a:ext cx="2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32,0% → 29,3%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0100" y="212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66,7% → 54,0%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0100" y="246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20100" y="2520000"/>
            <a:ext cx="5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pass@8, vòng 0 →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100" y="2520000"/>
            <a:ext cx="2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57,3% → 56,0%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100" y="252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92,7% → 90,0%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0100" y="286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0100" y="2920000"/>
            <a:ext cx="5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Đề giải thêm được / đề mất đi (150 đề thi)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100" y="2920000"/>
            <a:ext cx="2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32 / 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0100" y="292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16 / 20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0100" y="326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20100" y="3320000"/>
            <a:ext cx="5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Số lời giải có \boxed (trong 4.000 lời giải)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0100" y="3320000"/>
            <a:ext cx="2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2.136 → 1.999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0100" y="332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3.466 → 2.926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0100" y="3665000"/>
            <a:ext cx="10671495" cy="0"/>
          </a:xfrm>
          <a:prstGeom prst="line">
            <a:avLst/>
          </a:prstGeom>
          <a:ln w="9525">
            <a:solidFill>
              <a:srgbClr val="E9E9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20100" y="3720000"/>
            <a:ext cx="51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Tỉ lệ đáp án khác nhau trong 8 lần làm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100" y="3720000"/>
            <a:ext cx="25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0,54 → 0,55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0100" y="3720000"/>
            <a:ext cx="23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0,36 → 0,50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0100" y="4400000"/>
            <a:ext cx="5300000" cy="1350000"/>
          </a:xfrm>
          <a:prstGeom prst="roundRect">
            <a:avLst>
              <a:gd name="adj" fmla="val 4000"/>
            </a:avLst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0100" y="4570000"/>
            <a:ext cx="2700000" cy="310000"/>
          </a:xfrm>
          <a:prstGeom prst="roundRect">
            <a:avLst>
              <a:gd name="adj" fmla="val 50000"/>
            </a:avLst>
          </a:prstGeom>
          <a:solidFill>
            <a:srgbClr val="9E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KHÔNG GIỎI LÊN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100" y="5030000"/>
            <a:ext cx="4850000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pass@1 giảm, pass@8 đứng yên. Số đề giải thêm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được gần bằng số đề mất đi.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0100" y="4400000"/>
            <a:ext cx="5300000" cy="1350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90100" y="4570000"/>
            <a:ext cx="2700000" cy="310000"/>
          </a:xfrm>
          <a:prstGeom prst="roundRect">
            <a:avLst>
              <a:gd name="adj" fmla="val 50000"/>
            </a:avLst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KHÔNG HỌC THEO MÁY CHẤM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0100" y="5030000"/>
            <a:ext cx="4850000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Vá máy chấm xong, kết quả y như cũ (slide 11). Cách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viết không dồn về một kiểu, đáp án còn đa dạng hơn.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" y="598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8D96"/>
                </a:solidFill>
                <a:latin typeface="Helvetica Neue"/>
              </a:rPr>
              <a:t>Số của các lần chạy đã sửa thiết kế (tách đề thi riêng). Cú tụt 12,7 điểm của GSM8K mới có một lần chạy.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HƯỚNG TIẾP THEO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Vì sao tự học không làm model giỏi lên?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1600000"/>
            <a:ext cx="1059149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3F4149"/>
                </a:solidFill>
                <a:latin typeface="Helvetica Neue"/>
              </a:rPr>
              <a:t>Tên phương pháp có ba ý: model “tự” học, qua bước “chấm”, để “giỏi lên”. Mỗi thí nghiệm dưới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3F4149"/>
                </a:solidFill>
                <a:latin typeface="Helvetica Neue"/>
              </a:rPr>
              <a:t>đây kiểm tra một ý. Cả ba đã code xong, đang chờ GPU.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" y="2550000"/>
            <a:ext cx="3300000" cy="29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0100" y="273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9E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GIỎI LÊN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0100" y="3220000"/>
            <a:ext cx="2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Chạy lại GSM8K lần hai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0100" y="37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Cú tụt 12,7 điểm mới thấy 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một lần chạy. Chạy lại với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seed khác.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40100" y="4620000"/>
            <a:ext cx="2820000" cy="0"/>
          </a:xfrm>
          <a:prstGeom prst="line">
            <a:avLst/>
          </a:prstGeom>
          <a:ln w="9525">
            <a:solidFill>
              <a:srgbClr val="DD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40100" y="4750000"/>
            <a:ext cx="2900000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9E2B34"/>
                </a:solidFill>
                <a:latin typeface="Helvetica Neue"/>
              </a:rPr>
              <a:t>Nếu tụt lại: tự học làm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9E2B34"/>
                </a:solidFill>
                <a:latin typeface="Helvetica Neue"/>
              </a:rPr>
              <a:t>model dở đi thật.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0100" y="2550000"/>
            <a:ext cx="3300000" cy="29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00100" y="273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017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BƯỚC CHẤM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0100" y="3220000"/>
            <a:ext cx="2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Bỏ bước lọc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100" y="37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Dạy lại bằng cả 8 bài model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làm, không qua máy chấm.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00100" y="4620000"/>
            <a:ext cx="2820000" cy="0"/>
          </a:xfrm>
          <a:prstGeom prst="line">
            <a:avLst/>
          </a:prstGeom>
          <a:ln w="9525">
            <a:solidFill>
              <a:srgbClr val="DD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00100" y="4750000"/>
            <a:ext cx="2900000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0173B2"/>
                </a:solidFill>
                <a:latin typeface="Helvetica Neue"/>
              </a:rPr>
              <a:t>Nếu điểm như cũ: bước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0173B2"/>
                </a:solidFill>
                <a:latin typeface="Helvetica Neue"/>
              </a:rPr>
              <a:t>chấm không đóng góp gì.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20100" y="2550000"/>
            <a:ext cx="3300000" cy="29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60100" y="2730000"/>
            <a:ext cx="1500000" cy="300000"/>
          </a:xfrm>
          <a:prstGeom prst="roundRect">
            <a:avLst>
              <a:gd name="adj" fmla="val 50000"/>
            </a:avLst>
          </a:prstGeom>
          <a:solidFill>
            <a:srgbClr val="02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050" b="1">
                <a:solidFill>
                  <a:srgbClr val="FFFFFF"/>
                </a:solidFill>
                <a:latin typeface="Helvetica Neue"/>
              </a:rPr>
              <a:t>TỰ HỌC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0100" y="3220000"/>
            <a:ext cx="2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6161A"/>
                </a:solidFill>
                <a:latin typeface="Helvetica Neue"/>
              </a:rPr>
              <a:t>Dạy bằng lời giải sách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0100" y="3700000"/>
            <a:ext cx="29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Thay bài model tự làm bằng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lời giải mẫu trong sách.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60100" y="4620000"/>
            <a:ext cx="2820000" cy="0"/>
          </a:xfrm>
          <a:prstGeom prst="line">
            <a:avLst/>
          </a:prstGeom>
          <a:ln w="9525">
            <a:solidFill>
              <a:srgbClr val="DD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60100" y="4750000"/>
            <a:ext cx="2900000" cy="6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029E73"/>
                </a:solidFill>
                <a:latin typeface="Helvetica Neue"/>
              </a:rPr>
              <a:t>Nếu vẫn tụt: lỗi ở việc dạy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1">
                <a:solidFill>
                  <a:srgbClr val="029E73"/>
                </a:solidFill>
                <a:latin typeface="Helvetica Neue"/>
              </a:rPr>
              <a:t>thêm, không ở chuyện tự học.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5750000"/>
            <a:ext cx="10591495" cy="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Khả năng đơn giản nhất chưa loại trừ: model đang dùng là bản Instruct đã được tinh chỉnh kỹ, dạy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200" b="0">
                <a:solidFill>
                  <a:srgbClr val="8A8D96"/>
                </a:solidFill>
                <a:latin typeface="Helvetica Neue"/>
              </a:rPr>
              <a:t>thêm một lượng nhỏ có thể chỉ làm nó lệch đi. Thí nghiệm thứ ba kiểm tra đúng điều này.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HẠN CHẾ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Ba điểm cần lưu ý khi đọc kết quả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100" y="2000000"/>
            <a:ext cx="10831495" cy="11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00" y="220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0100" y="2190000"/>
            <a:ext cx="95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61A"/>
                </a:solidFill>
                <a:latin typeface="Helvetica Neue"/>
              </a:rPr>
              <a:t>Đề thi chỉ có 150 đề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0100" y="2600000"/>
            <a:ext cx="95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Mỗi đề đáng 0,67 điểm. Chỉ đổi cách bốc đề thi thôi là điểm vòng 0 đã lệch 4,7 điểm, lớn hơn cả hiệu ứng đang đo.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0100" y="3330000"/>
            <a:ext cx="10831495" cy="11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0100" y="353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0100" y="3520000"/>
            <a:ext cx="95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61A"/>
                </a:solidFill>
                <a:latin typeface="Helvetica Neue"/>
              </a:rPr>
              <a:t>Mỗi cấu hình mới chạy 2 lần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0100" y="3930000"/>
            <a:ext cx="95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Riêng lần chạy C và các lần chạy cũ mới có 1 lần. Chưa đủ cơ sở để khẳng định về cú tụt 12,7 điểm của GSM8K.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0100" y="4660000"/>
            <a:ext cx="10831495" cy="11500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100" y="4860000"/>
            <a:ext cx="4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9E2B34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0100" y="4850000"/>
            <a:ext cx="95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6161A"/>
                </a:solidFill>
                <a:latin typeface="Helvetica Neue"/>
              </a:rPr>
              <a:t>Lần chạy mới khác lần cũ ba chỗ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0100" y="5260000"/>
            <a:ext cx="9500000" cy="4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3F4149"/>
                </a:solidFill>
                <a:latin typeface="Helvetica Neue"/>
              </a:rPr>
              <a:t>Bỏ gộp bộ đề, thêm đề thi riêng, giảm số đề. Nên kết luận chỉ dựa trên so sánh A với B, vì hai lần chạy đó chỉ khác nhau đúng một biến.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00100" y="430000"/>
            <a:ext cx="7000000" cy="2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>
                <a:solidFill>
                  <a:srgbClr val="9E2B34"/>
                </a:solidFill>
                <a:latin typeface="Helvetica Neue"/>
              </a:rPr>
              <a:t>TÓM TẮT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91595" y="400000"/>
            <a:ext cx="900000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500" b="1">
                <a:solidFill>
                  <a:srgbClr val="E6E6EA"/>
                </a:solidFill>
                <a:latin typeface="Georgia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790000"/>
            <a:ext cx="10591495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900" b="1">
                <a:solidFill>
                  <a:srgbClr val="16161A"/>
                </a:solidFill>
                <a:latin typeface="Georgia"/>
              </a:rPr>
              <a:t>Kết quả ba tuần và hướng tiếp theo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0100" y="1900000"/>
            <a:ext cx="10831495" cy="1460000"/>
          </a:xfrm>
          <a:prstGeom prst="roundRect">
            <a:avLst>
              <a:gd name="adj" fmla="val 4000"/>
            </a:avLst>
          </a:prstGeom>
          <a:solidFill>
            <a:srgbClr val="F0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0100" y="2100000"/>
            <a:ext cx="10351495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Câu hỏi của đề tài: tự học có làm model giỏi toán hơn thật không?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Với model 1.5B: không. Model đứng yên hoặc hơi dở đi, và không phải do máy chấm.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solidFill>
                  <a:srgbClr val="16161A"/>
                </a:solidFill>
                <a:latin typeface="Georgia"/>
              </a:rPr>
              <a:t>Cú sụp thấy ở tuần 1 và tuần 2 phần lớn do cách đo sai.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56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E2B34"/>
                </a:solidFill>
                <a:latin typeface="Helvetica Neue"/>
              </a:rPr>
              <a:t>ĐÃ LÀM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0100" y="3545000"/>
            <a:ext cx="8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7 lần chạy, khoảng 40 giờ GPU. Sửa thiết kế đo, có thí nghiệm đối chứng chạy lặp hai lần.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13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E2B34"/>
                </a:solidFill>
                <a:latin typeface="Helvetica Neue"/>
              </a:rPr>
              <a:t>KẾT QUẢ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0100" y="4115000"/>
            <a:ext cx="8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Máy chấm sai không làm model dở đi. Tự học cũng không làm model giỏi lên.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70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E2B34"/>
                </a:solidFill>
                <a:latin typeface="Helvetica Neue"/>
              </a:rPr>
              <a:t>SẮP TỚI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0100" y="4685000"/>
            <a:ext cx="8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Ba thí nghiệm tìm nguyên nhân: chạy lại GSM8K, bỏ bước lọc, dạy bằng lời giải sách.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270000"/>
            <a:ext cx="17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9E2B34"/>
                </a:solidFill>
                <a:latin typeface="Helvetica Neue"/>
              </a:rPr>
              <a:t>SAU ĐÓ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0100" y="5255000"/>
            <a:ext cx="870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3F4149"/>
                </a:solidFill>
                <a:latin typeface="Helvetica Neue"/>
              </a:rPr>
              <a:t>Viết lại bài báo theo câu trả lời này.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0100" y="5900000"/>
            <a:ext cx="10591495" cy="0"/>
          </a:xfrm>
          <a:prstGeom prst="line">
            <a:avLst/>
          </a:prstGeom>
          <a:ln w="9525">
            <a:solidFill>
              <a:srgbClr val="E6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0100" y="6100000"/>
            <a:ext cx="10591495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8A8D96"/>
                </a:solidFill>
                <a:latin typeface="Helvetica Neue"/>
              </a:rPr>
              <a:t>Cảm ơn đã theo dõi. Rất mong nhận được góp 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