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50000"/>
          </a:xfrm>
          <a:prstGeom prst="roundRect">
            <a:avLst>
              <a:gd name="adj" fmla="val 0"/>
            </a:avLst>
          </a:prstGeom>
          <a:solidFill>
            <a:srgbClr val="9E2B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0100" y="1180000"/>
            <a:ext cx="10591495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9E2B34"/>
                </a:solidFill>
                <a:latin typeface="Helvetica Neue"/>
              </a:rPr>
              <a:t>BÁO CÁO TIẾN ĐỘ  ·  TUẦN 1 ĐẾN TUẦN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0100" y="1700000"/>
            <a:ext cx="10200000" cy="19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4000" b="1">
                <a:solidFill>
                  <a:srgbClr val="16161A"/>
                </a:solidFill>
                <a:latin typeface="Georgia"/>
              </a:rPr>
              <a:t>Em kiểm tra lại giả thuyết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4000" b="1">
                <a:solidFill>
                  <a:srgbClr val="16161A"/>
                </a:solidFill>
                <a:latin typeface="Georgia"/>
              </a:rPr>
              <a:t>của mình, và nó sai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0100" y="3850000"/>
            <a:ext cx="9200000" cy="10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500" b="0">
                <a:solidFill>
                  <a:srgbClr val="3F4149"/>
                </a:solidFill>
                <a:latin typeface="Helvetica Neue"/>
              </a:rPr>
              <a:t>Ba tuần đầu em chạy thí nghiệm và tưởng đã chứng minh được điều mình nghĩ. Sau đó em phát hiện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500" b="0">
                <a:solidFill>
                  <a:srgbClr val="3F4149"/>
                </a:solidFill>
                <a:latin typeface="Helvetica Neue"/>
              </a:rPr>
              <a:t>cách đo của mình có lỗi. Em đo lại cho đúng, và kết quả ngược với giả thuyết ban đầu.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800100" y="5250000"/>
            <a:ext cx="2400000" cy="0"/>
          </a:xfrm>
          <a:prstGeom prst="line">
            <a:avLst/>
          </a:prstGeom>
          <a:ln w="25400">
            <a:solidFill>
              <a:srgbClr val="9E2B3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800100" y="5480000"/>
            <a:ext cx="60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16161A"/>
                </a:solidFill>
                <a:latin typeface="Helvetica Neue"/>
              </a:rPr>
              <a:t>Nguyễn Tấn Sang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100" y="5820000"/>
            <a:ext cx="60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8A8D96"/>
                </a:solidFill>
                <a:latin typeface="Helvetica Neue"/>
              </a:rPr>
              <a:t>12 tháng 9,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00100" y="430000"/>
            <a:ext cx="7000000" cy="2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1">
                <a:solidFill>
                  <a:srgbClr val="9E2B34"/>
                </a:solidFill>
                <a:latin typeface="Helvetica Neue"/>
              </a:rPr>
              <a:t>NỘI DUNG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91595" y="400000"/>
            <a:ext cx="900000" cy="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500" b="1">
                <a:solidFill>
                  <a:srgbClr val="E6E6EA"/>
                </a:solidFill>
                <a:latin typeface="Georgia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0100" y="790000"/>
            <a:ext cx="10591495" cy="6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900" b="1">
                <a:solidFill>
                  <a:srgbClr val="16161A"/>
                </a:solidFill>
                <a:latin typeface="Georgia"/>
              </a:rPr>
              <a:t>Em sẽ trình bày theo thứ tự này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0100" y="2170000"/>
            <a:ext cx="5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9E2B34"/>
                </a:solidFill>
                <a:latin typeface="Georgia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100" y="2150000"/>
            <a:ext cx="42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1">
                <a:solidFill>
                  <a:srgbClr val="16161A"/>
                </a:solidFill>
                <a:latin typeface="Helvetica Neue"/>
              </a:rPr>
              <a:t>Đề tài của em là gì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00100" y="2170000"/>
            <a:ext cx="62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8A8D96"/>
                </a:solidFill>
                <a:latin typeface="Helvetica Neue"/>
              </a:rPr>
              <a:t>và một vòng thí nghiệm chạy ra sao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500100" y="2580000"/>
            <a:ext cx="9891495" cy="0"/>
          </a:xfrm>
          <a:prstGeom prst="line">
            <a:avLst/>
          </a:prstGeom>
          <a:ln w="9525">
            <a:solidFill>
              <a:srgbClr val="E6E6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00100" y="2730000"/>
            <a:ext cx="5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9E2B34"/>
                </a:solidFill>
                <a:latin typeface="Georgia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00100" y="2710000"/>
            <a:ext cx="42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1">
                <a:solidFill>
                  <a:srgbClr val="16161A"/>
                </a:solidFill>
                <a:latin typeface="Helvetica Neue"/>
              </a:rPr>
              <a:t>Máy chấm sai ở chỗ nào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00100" y="2730000"/>
            <a:ext cx="62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8A8D96"/>
                </a:solidFill>
                <a:latin typeface="Helvetica Neue"/>
              </a:rPr>
              <a:t>em đo được trước khi chạy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500100" y="3140000"/>
            <a:ext cx="9891495" cy="0"/>
          </a:xfrm>
          <a:prstGeom prst="line">
            <a:avLst/>
          </a:prstGeom>
          <a:ln w="9525">
            <a:solidFill>
              <a:srgbClr val="E6E6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00100" y="3290000"/>
            <a:ext cx="5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9E2B34"/>
                </a:solidFill>
                <a:latin typeface="Georgia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00100" y="3270000"/>
            <a:ext cx="42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1">
                <a:solidFill>
                  <a:srgbClr val="16161A"/>
                </a:solidFill>
                <a:latin typeface="Helvetica Neue"/>
              </a:rPr>
              <a:t>Tuần 1 và tuần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00100" y="3290000"/>
            <a:ext cx="62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8A8D96"/>
                </a:solidFill>
                <a:latin typeface="Helvetica Neue"/>
              </a:rPr>
              <a:t>chạy thật, và cả hai model đều tụt điểm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500100" y="3700000"/>
            <a:ext cx="9891495" cy="0"/>
          </a:xfrm>
          <a:prstGeom prst="line">
            <a:avLst/>
          </a:prstGeom>
          <a:ln w="9525">
            <a:solidFill>
              <a:srgbClr val="E6E6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800100" y="3850000"/>
            <a:ext cx="5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9E2B34"/>
                </a:solidFill>
                <a:latin typeface="Georgia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00100" y="3830000"/>
            <a:ext cx="42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1">
                <a:solidFill>
                  <a:srgbClr val="16161A"/>
                </a:solidFill>
                <a:latin typeface="Helvetica Neue"/>
              </a:rPr>
              <a:t>Chỗ em thấy không ổn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00100" y="3850000"/>
            <a:ext cx="62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8A8D96"/>
                </a:solidFill>
                <a:latin typeface="Helvetica Neue"/>
              </a:rPr>
              <a:t>cách đo của em có hai lỗi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500100" y="4260000"/>
            <a:ext cx="9891495" cy="0"/>
          </a:xfrm>
          <a:prstGeom prst="line">
            <a:avLst/>
          </a:prstGeom>
          <a:ln w="9525">
            <a:solidFill>
              <a:srgbClr val="E6E6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800100" y="4410000"/>
            <a:ext cx="5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9E2B34"/>
                </a:solidFill>
                <a:latin typeface="Georgia"/>
              </a:rPr>
              <a:t>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00100" y="4390000"/>
            <a:ext cx="42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1">
                <a:solidFill>
                  <a:srgbClr val="16161A"/>
                </a:solidFill>
                <a:latin typeface="Helvetica Neue"/>
              </a:rPr>
              <a:t>Đo lại cho đúng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00100" y="4410000"/>
            <a:ext cx="62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8A8D96"/>
                </a:solidFill>
                <a:latin typeface="Helvetica Neue"/>
              </a:rPr>
              <a:t>năm lần chạy mới, kết quả ngược lại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1500100" y="4820000"/>
            <a:ext cx="9891495" cy="0"/>
          </a:xfrm>
          <a:prstGeom prst="line">
            <a:avLst/>
          </a:prstGeom>
          <a:ln w="9525">
            <a:solidFill>
              <a:srgbClr val="E6E6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800100" y="4970000"/>
            <a:ext cx="5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9E2B34"/>
                </a:solidFill>
                <a:latin typeface="Georgia"/>
              </a:rPr>
              <a:t>06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00100" y="4950000"/>
            <a:ext cx="42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1">
                <a:solidFill>
                  <a:srgbClr val="16161A"/>
                </a:solidFill>
                <a:latin typeface="Helvetica Neue"/>
              </a:rPr>
              <a:t>Vì sao lại như vậy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00100" y="4970000"/>
            <a:ext cx="62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8A8D96"/>
                </a:solidFill>
                <a:latin typeface="Helvetica Neue"/>
              </a:rPr>
              <a:t>và đề tài đi tiếp thế nào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00100" y="430000"/>
            <a:ext cx="7000000" cy="2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1">
                <a:solidFill>
                  <a:srgbClr val="9E2B34"/>
                </a:solidFill>
                <a:latin typeface="Helvetica Neue"/>
              </a:rPr>
              <a:t>ĐỀ TÀI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91595" y="400000"/>
            <a:ext cx="900000" cy="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500" b="1">
                <a:solidFill>
                  <a:srgbClr val="E6E6EA"/>
                </a:solidFill>
                <a:latin typeface="Georgia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0100" y="790000"/>
            <a:ext cx="10591495" cy="6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900" b="1">
                <a:solidFill>
                  <a:srgbClr val="16161A"/>
                </a:solidFill>
                <a:latin typeface="Georgia"/>
              </a:rPr>
              <a:t>Cho model tự học, không cần người dạy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0100" y="1700000"/>
            <a:ext cx="10591495" cy="9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400" b="0">
                <a:solidFill>
                  <a:srgbClr val="3F4149"/>
                </a:solidFill>
                <a:latin typeface="Helvetica Neue"/>
              </a:rPr>
              <a:t>Muốn model giải toán giỏi hơn thì bình thường phải có người soạn lời giải mẫu cho nó học.</a:t>
            </a:r>
          </a:p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400" b="0">
                <a:solidFill>
                  <a:srgbClr val="3F4149"/>
                </a:solidFill>
                <a:latin typeface="Helvetica Neue"/>
              </a:rPr>
              <a:t>Việc đó rất tốn công. Nên người ta nghĩ ra cách cho model tự làm bài, rồi dùng một máy chấm</a:t>
            </a:r>
          </a:p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400" b="0">
                <a:solidFill>
                  <a:srgbClr val="3F4149"/>
                </a:solidFill>
                <a:latin typeface="Helvetica Neue"/>
              </a:rPr>
              <a:t>tự động chọn ra bài nào nó làm đúng, lấy đúng những bài đó dạy lại cho nó. Làm đi làm lại</a:t>
            </a:r>
          </a:p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400" b="0">
                <a:solidFill>
                  <a:srgbClr val="3F4149"/>
                </a:solidFill>
                <a:latin typeface="Helvetica Neue"/>
              </a:rPr>
              <a:t>nhiều vòng. Cách này tên là tự học (self-training).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0100" y="3300000"/>
            <a:ext cx="10831495" cy="9000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0100" y="3480000"/>
            <a:ext cx="10351495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400" b="0">
                <a:solidFill>
                  <a:srgbClr val="16161A"/>
                </a:solidFill>
                <a:latin typeface="Georgia"/>
              </a:rPr>
              <a:t>Toàn bộ cách làm này dựa trên một niềm tin: máy chấm phải chấm đúng. Nếu máy chấm sai,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400" b="0">
                <a:solidFill>
                  <a:srgbClr val="16161A"/>
                </a:solidFill>
                <a:latin typeface="Georgia"/>
              </a:rPr>
              <a:t>model sẽ học nhầm, mà không ai biết.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100" y="4500000"/>
            <a:ext cx="10591495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8A8D96"/>
                </a:solidFill>
                <a:latin typeface="Helvetica Neue"/>
              </a:rPr>
              <a:t>CÂU HỎI CỦA ĐỀ TÀI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0100" y="4870000"/>
            <a:ext cx="10591495" cy="7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600" b="1">
                <a:solidFill>
                  <a:srgbClr val="9E2B34"/>
                </a:solidFill>
                <a:latin typeface="Georgia"/>
              </a:rPr>
              <a:t>Máy chấm của em có sai, và sai theo một quy luật cố định. Vậy sau nhiều vòng tự học,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600" b="1">
                <a:solidFill>
                  <a:srgbClr val="9E2B34"/>
                </a:solidFill>
                <a:latin typeface="Georgia"/>
              </a:rPr>
              <a:t>model có bị dở đi không?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00100" y="430000"/>
            <a:ext cx="7000000" cy="2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1">
                <a:solidFill>
                  <a:srgbClr val="9E2B34"/>
                </a:solidFill>
                <a:latin typeface="Helvetica Neue"/>
              </a:rPr>
              <a:t>MỘT VÒNG CHẠY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91595" y="400000"/>
            <a:ext cx="900000" cy="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500" b="1">
                <a:solidFill>
                  <a:srgbClr val="E6E6EA"/>
                </a:solidFill>
                <a:latin typeface="Georgia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0100" y="790000"/>
            <a:ext cx="10591495" cy="6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900" b="1">
                <a:solidFill>
                  <a:srgbClr val="16161A"/>
                </a:solidFill>
                <a:latin typeface="Georgia"/>
              </a:rPr>
              <a:t>Ba bước, lặp lại năm lần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00100" y="1900000"/>
            <a:ext cx="3300000" cy="16200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40100" y="2080000"/>
            <a:ext cx="4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9E2B34"/>
                </a:solidFill>
                <a:latin typeface="Georgia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0100" y="2500000"/>
            <a:ext cx="29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6161A"/>
                </a:solidFill>
                <a:latin typeface="Helvetica Neue"/>
              </a:rPr>
              <a:t>Làm bài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0100" y="2880000"/>
            <a:ext cx="290000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Model tự làm mỗi đề 8 lần,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ra 8 lời giải khác nhau.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60100" y="1900000"/>
            <a:ext cx="3300000" cy="16200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00100" y="2080000"/>
            <a:ext cx="4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9E2B34"/>
                </a:solidFill>
                <a:latin typeface="Georgia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00100" y="2500000"/>
            <a:ext cx="29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6161A"/>
                </a:solidFill>
                <a:latin typeface="Helvetica Neue"/>
              </a:rPr>
              <a:t>Chấm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00100" y="2880000"/>
            <a:ext cx="290000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Máy chấm so đáp án cuối với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đáp án trong sách. Sai thì bỏ.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20100" y="1900000"/>
            <a:ext cx="3300000" cy="16200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60100" y="2080000"/>
            <a:ext cx="4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9E2B34"/>
                </a:solidFill>
                <a:latin typeface="Georgia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60100" y="2500000"/>
            <a:ext cx="29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6161A"/>
                </a:solidFill>
                <a:latin typeface="Helvetica Neue"/>
              </a:rPr>
              <a:t>Học lại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60100" y="2880000"/>
            <a:ext cx="290000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Lấy đúng những bài vừa được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chấm đúng, dạy lại cho model.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00100" y="3800000"/>
            <a:ext cx="10591495" cy="0"/>
          </a:xfrm>
          <a:prstGeom prst="line">
            <a:avLst/>
          </a:prstGeom>
          <a:ln w="9525">
            <a:solidFill>
              <a:srgbClr val="E6E6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800100" y="3990000"/>
            <a:ext cx="10591495" cy="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300" b="0">
                <a:solidFill>
                  <a:srgbClr val="3F4149"/>
                </a:solidFill>
                <a:latin typeface="Helvetica Neue"/>
              </a:rPr>
              <a:t>Mỗi vòng em dạy lại từ model gốc, chỉ bằng những bài của vòng trước. Nên nếu máy chấm bỏ sót</a:t>
            </a:r>
          </a:p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300" b="0">
                <a:solidFill>
                  <a:srgbClr val="3F4149"/>
                </a:solidFill>
                <a:latin typeface="Helvetica Neue"/>
              </a:rPr>
              <a:t>một kiểu bài nào đó, thì vòng sau model càng ít gặp kiểu bài đó. Vòng sau nữa lại càng ít hơn.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0100" y="4950000"/>
            <a:ext cx="10831495" cy="14000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0100" y="5180000"/>
            <a:ext cx="10351495" cy="7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300" b="0">
                <a:solidFill>
                  <a:srgbClr val="16161A"/>
                </a:solidFill>
                <a:latin typeface="Helvetica Neue"/>
              </a:rPr>
              <a:t>Hai con số em dùng để đo suốt bài:</a:t>
            </a:r>
          </a:p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300" b="0">
                <a:solidFill>
                  <a:srgbClr val="16161A"/>
                </a:solidFill>
                <a:latin typeface="Helvetica Neue"/>
              </a:rPr>
              <a:t>pass@1  —  cho model làm 1 lần, đúng bao nhiêu phần trăm số đề.</a:t>
            </a:r>
          </a:p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300" b="0">
                <a:solidFill>
                  <a:srgbClr val="16161A"/>
                </a:solidFill>
                <a:latin typeface="Helvetica Neue"/>
              </a:rPr>
              <a:t>pass@8  —  cho làm 8 lần, chỉ cần 1 lần đúng là tính đúng. Đo xem model còn giải nổi bài không.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00100" y="430000"/>
            <a:ext cx="7000000" cy="2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1">
                <a:solidFill>
                  <a:srgbClr val="9E2B34"/>
                </a:solidFill>
                <a:latin typeface="Helvetica Neue"/>
              </a:rPr>
              <a:t>MÁY CHẤM SAI Ở ĐÂU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91595" y="400000"/>
            <a:ext cx="900000" cy="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500" b="1">
                <a:solidFill>
                  <a:srgbClr val="E6E6EA"/>
                </a:solidFill>
                <a:latin typeface="Georgia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0100" y="790000"/>
            <a:ext cx="10591495" cy="6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900" b="1">
                <a:solidFill>
                  <a:srgbClr val="16161A"/>
                </a:solidFill>
                <a:latin typeface="Georgia"/>
              </a:rPr>
              <a:t>Cùng một đáp án, viết khác kiểu là bị gạch</a:t>
            </a:r>
          </a:p>
        </p:txBody>
      </p:sp>
      <p:pic>
        <p:nvPicPr>
          <p:cNvPr id="5" name="Picture 4" descr="deck_verifier_bu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5847" y="1780000"/>
            <a:ext cx="9900000" cy="265178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00100" y="4650000"/>
            <a:ext cx="10591495" cy="7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350" b="0">
                <a:solidFill>
                  <a:srgbClr val="3F4149"/>
                </a:solidFill>
                <a:latin typeface="Helvetica Neue"/>
              </a:rPr>
              <a:t>Máy chấm không đọc cách giải. Nó chỉ lấy đáp án cuối rồi so chữ với đáp án trong sách.</a:t>
            </a:r>
          </a:p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350" b="0">
                <a:solidFill>
                  <a:srgbClr val="3F4149"/>
                </a:solidFill>
                <a:latin typeface="Helvetica Neue"/>
              </a:rPr>
              <a:t>Hai cách viết trên cho ra cùng một phân số, nhưng nó chỉ nhận một cách.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0100" y="5550000"/>
            <a:ext cx="10831495" cy="6200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0100" y="5740000"/>
            <a:ext cx="10351495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1">
                <a:solidFill>
                  <a:srgbClr val="16161A"/>
                </a:solidFill>
                <a:latin typeface="Helvetica Neue"/>
              </a:rPr>
              <a:t>Em kiểm tra tay 128 bài đúng trên MATH-500: máy gạch nhầm 10 bài, tức 7,8%. Trên GSM8K thì không gạch nhầm bài nào.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00100" y="430000"/>
            <a:ext cx="7000000" cy="2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1">
                <a:solidFill>
                  <a:srgbClr val="9E2B34"/>
                </a:solidFill>
                <a:latin typeface="Helvetica Neue"/>
              </a:rPr>
              <a:t>TUẦN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91595" y="400000"/>
            <a:ext cx="900000" cy="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500" b="1">
                <a:solidFill>
                  <a:srgbClr val="E6E6EA"/>
                </a:solidFill>
                <a:latin typeface="Georgia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0100" y="790000"/>
            <a:ext cx="10591495" cy="6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900" b="1">
                <a:solidFill>
                  <a:srgbClr val="16161A"/>
                </a:solidFill>
                <a:latin typeface="Georgia"/>
              </a:rPr>
              <a:t>Lần chạy đầu tiên, model nhỏ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0100" y="1700000"/>
            <a:ext cx="10591495" cy="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3F4149"/>
                </a:solidFill>
                <a:latin typeface="Helvetica Neue"/>
              </a:rPr>
              <a:t>Em chạy model Qwen 0.5B, 500 đề mỗi bộ, 5 vòng, trên GPU của Kaggle.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0100" y="2250000"/>
            <a:ext cx="5190000" cy="15000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0100" y="2420000"/>
            <a:ext cx="20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8A8D96"/>
                </a:solidFill>
                <a:latin typeface="Helvetica Neue"/>
              </a:rPr>
              <a:t>pass@1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100" y="2780000"/>
            <a:ext cx="4700000" cy="5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6161A"/>
                </a:solidFill>
                <a:latin typeface="Georgia"/>
              </a:rPr>
              <a:t>31,1%  →  27,4%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100" y="3400000"/>
            <a:ext cx="47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8A8D96"/>
                </a:solidFill>
                <a:latin typeface="Helvetica Neue"/>
              </a:rPr>
              <a:t>làm 1 lần đúng, sau 5 vòng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00100" y="2250000"/>
            <a:ext cx="5190000" cy="15000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60100" y="2420000"/>
            <a:ext cx="20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8A8D96"/>
                </a:solidFill>
                <a:latin typeface="Helvetica Neue"/>
              </a:rPr>
              <a:t>pass@8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60100" y="2780000"/>
            <a:ext cx="4700000" cy="5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6161A"/>
                </a:solidFill>
                <a:latin typeface="Georgia"/>
              </a:rPr>
              <a:t>60,5%  →  54,9%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60100" y="3400000"/>
            <a:ext cx="47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8A8D96"/>
                </a:solidFill>
                <a:latin typeface="Helvetica Neue"/>
              </a:rPr>
              <a:t>cho làm 8 lần, sau 5 vòng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0100" y="4000000"/>
            <a:ext cx="10591495" cy="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350" b="0">
                <a:solidFill>
                  <a:srgbClr val="3F4149"/>
                </a:solidFill>
                <a:latin typeface="Helvetica Neue"/>
              </a:rPr>
              <a:t>Cả hai con số đều tụt. Em thấy vậy là khớp với điều mình nghĩ: máy chấm gạch nhầm bài đúng,</a:t>
            </a:r>
          </a:p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350" b="0">
                <a:solidFill>
                  <a:srgbClr val="3F4149"/>
                </a:solidFill>
                <a:latin typeface="Helvetica Neue"/>
              </a:rPr>
              <a:t>model học thiếu, nên dở đi. Nhưng model này nhỏ, mức tụt cũng ít, nên em chưa dám chắc.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0100" y="5050000"/>
            <a:ext cx="10831495" cy="620000"/>
          </a:xfrm>
          <a:prstGeom prst="roundRect">
            <a:avLst>
              <a:gd name="adj" fmla="val 4000"/>
            </a:avLst>
          </a:prstGeom>
          <a:solidFill>
            <a:srgbClr val="F0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0100" y="5240000"/>
            <a:ext cx="10351495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1">
                <a:solidFill>
                  <a:srgbClr val="0173B2"/>
                </a:solidFill>
                <a:latin typeface="Helvetica Neue"/>
              </a:rPr>
              <a:t>Nên tuần 2 em chạy lại với model to gấp ba, xem hiện tượng có rõ hơn không.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00100" y="430000"/>
            <a:ext cx="7000000" cy="2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1">
                <a:solidFill>
                  <a:srgbClr val="9E2B34"/>
                </a:solidFill>
                <a:latin typeface="Helvetica Neue"/>
              </a:rPr>
              <a:t>TUẦN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91595" y="400000"/>
            <a:ext cx="900000" cy="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500" b="1">
                <a:solidFill>
                  <a:srgbClr val="E6E6EA"/>
                </a:solidFill>
                <a:latin typeface="Georgia"/>
              </a:rP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0100" y="790000"/>
            <a:ext cx="10591495" cy="6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900" b="1">
                <a:solidFill>
                  <a:srgbClr val="16161A"/>
                </a:solidFill>
                <a:latin typeface="Georgia"/>
              </a:rPr>
              <a:t>Model to gấp ba, tụt mạnh hơn hẳn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0100" y="1950000"/>
            <a:ext cx="31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8A8D96"/>
                </a:solidFill>
                <a:latin typeface="Helvetica Neue"/>
              </a:rPr>
              <a:t>ĐO TRÊN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00100" y="1950000"/>
            <a:ext cx="22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8A8D96"/>
                </a:solidFill>
                <a:latin typeface="Helvetica Neue"/>
              </a:rPr>
              <a:t>PASS@1  VÒNG 0 →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100" y="1950000"/>
            <a:ext cx="22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8A8D96"/>
                </a:solidFill>
                <a:latin typeface="Helvetica Neue"/>
              </a:rPr>
              <a:t>PASS@8  VÒNG 0 →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00100" y="1950000"/>
            <a:ext cx="26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8A8D96"/>
                </a:solidFill>
                <a:latin typeface="Helvetica Neue"/>
              </a:rPr>
              <a:t>TỤT BAO NHIÊU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0100" y="2330000"/>
            <a:ext cx="10831495" cy="18900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0100" y="2470000"/>
            <a:ext cx="31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Qwen 0.5B  (tuần 1)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00100" y="2470000"/>
            <a:ext cx="22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31,1% → 27,4%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100" y="2470000"/>
            <a:ext cx="22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60,5% → 54,9%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00100" y="2470000"/>
            <a:ext cx="26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5,6 điểm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60100" y="2845000"/>
            <a:ext cx="10671495" cy="0"/>
          </a:xfrm>
          <a:prstGeom prst="line">
            <a:avLst/>
          </a:prstGeom>
          <a:ln w="9525">
            <a:solidFill>
              <a:srgbClr val="E9E9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00100" y="2900000"/>
            <a:ext cx="31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6161A"/>
                </a:solidFill>
                <a:latin typeface="Helvetica Neue"/>
              </a:rPr>
              <a:t>Qwen 1.5B  (tuần 2)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00100" y="2900000"/>
            <a:ext cx="22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6161A"/>
                </a:solidFill>
                <a:latin typeface="Helvetica Neue"/>
              </a:rPr>
              <a:t>50,0% → 18,6%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100" y="2900000"/>
            <a:ext cx="22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6161A"/>
                </a:solidFill>
                <a:latin typeface="Helvetica Neue"/>
              </a:rPr>
              <a:t>72,6% → 48,6%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00100" y="2900000"/>
            <a:ext cx="26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6161A"/>
                </a:solidFill>
                <a:latin typeface="Helvetica Neue"/>
              </a:rPr>
              <a:t>24,0 điểm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60100" y="3275000"/>
            <a:ext cx="10671495" cy="0"/>
          </a:xfrm>
          <a:prstGeom prst="line">
            <a:avLst/>
          </a:prstGeom>
          <a:ln w="9525">
            <a:solidFill>
              <a:srgbClr val="E9E9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800100" y="3330000"/>
            <a:ext cx="31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1.5B, riêng bộ GSM8K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00100" y="3330000"/>
            <a:ext cx="22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69,6% → 26,6%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100" y="3330000"/>
            <a:ext cx="22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91,4% → 65,8%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00100" y="3330000"/>
            <a:ext cx="26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25,6 điểm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60100" y="3705000"/>
            <a:ext cx="10671495" cy="0"/>
          </a:xfrm>
          <a:prstGeom prst="line">
            <a:avLst/>
          </a:prstGeom>
          <a:ln w="9525">
            <a:solidFill>
              <a:srgbClr val="E9E9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800100" y="3760000"/>
            <a:ext cx="31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1.5B, riêng bộ MATH-500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00100" y="3760000"/>
            <a:ext cx="22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30,4% → 10,6%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100" y="3760000"/>
            <a:ext cx="22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53,8% → 31,4%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00100" y="3760000"/>
            <a:ext cx="26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22,4 điểm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0100" y="4520000"/>
            <a:ext cx="10591495" cy="5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300" b="0">
                <a:solidFill>
                  <a:srgbClr val="3F4149"/>
                </a:solidFill>
                <a:latin typeface="Helvetica Neue"/>
              </a:rPr>
              <a:t>Model 1.5B tụt rất sâu, vòng nào cũng tụt, không vòng nào gượng lại. Đến đây em gần như tin chắc</a:t>
            </a:r>
          </a:p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300" b="0">
                <a:solidFill>
                  <a:srgbClr val="3F4149"/>
                </a:solidFill>
                <a:latin typeface="Helvetica Neue"/>
              </a:rPr>
              <a:t>là giả thuyết của mình đúng.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80100" y="5220000"/>
            <a:ext cx="10831495" cy="830000"/>
          </a:xfrm>
          <a:prstGeom prst="roundRect">
            <a:avLst>
              <a:gd name="adj" fmla="val 4000"/>
            </a:avLst>
          </a:prstGeom>
          <a:solidFill>
            <a:srgbClr val="FD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20100" y="5380000"/>
            <a:ext cx="10351495" cy="4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50" b="1">
                <a:solidFill>
                  <a:srgbClr val="9E2B34"/>
                </a:solidFill>
                <a:latin typeface="Helvetica Neue"/>
              </a:rPr>
              <a:t>Nhưng có một chỗ em thấy lạ: bộ GSM8K lại tụt nhiều nhất.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50" b="1">
                <a:solidFill>
                  <a:srgbClr val="9E2B34"/>
                </a:solidFill>
                <a:latin typeface="Helvetica Neue"/>
              </a:rPr>
              <a:t>Mà GSM8K là bộ máy chấm gần như không gạch nhầm bài nào.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00100" y="430000"/>
            <a:ext cx="7000000" cy="2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1">
                <a:solidFill>
                  <a:srgbClr val="9E2B34"/>
                </a:solidFill>
                <a:latin typeface="Helvetica Neue"/>
              </a:rPr>
              <a:t>CHỖ EM THẤY KHÔNG ỔN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91595" y="400000"/>
            <a:ext cx="900000" cy="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500" b="1">
                <a:solidFill>
                  <a:srgbClr val="E6E6EA"/>
                </a:solidFill>
                <a:latin typeface="Georgia"/>
              </a:rPr>
              <a:t>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0100" y="790000"/>
            <a:ext cx="10591495" cy="6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900" b="1">
                <a:solidFill>
                  <a:srgbClr val="16161A"/>
                </a:solidFill>
                <a:latin typeface="Georgia"/>
              </a:rPr>
              <a:t>Cách đo của em có hai lỗi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0100" y="1620000"/>
            <a:ext cx="10591495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1">
                <a:solidFill>
                  <a:srgbClr val="9E2B34"/>
                </a:solidFill>
                <a:latin typeface="Helvetica Neue"/>
              </a:rPr>
              <a:t>LỖI 1 — em gộp hai bộ đề lại rồi dạy chung một lần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0100" y="2000000"/>
            <a:ext cx="31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8A8D96"/>
                </a:solidFill>
                <a:latin typeface="Helvetica Neue"/>
              </a:rPr>
              <a:t>TỈ LỆ BÀI ĐEM ĐI DẠY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00100" y="2000000"/>
            <a:ext cx="14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8A8D96"/>
                </a:solidFill>
                <a:latin typeface="Helvetica Neue"/>
              </a:rPr>
              <a:t>VÒNG 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00100" y="2000000"/>
            <a:ext cx="14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8A8D96"/>
                </a:solidFill>
                <a:latin typeface="Helvetica Neue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00100" y="2000000"/>
            <a:ext cx="14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8A8D96"/>
                </a:solidFill>
                <a:latin typeface="Helvetica Neue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00100" y="2000000"/>
            <a:ext cx="14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8A8D96"/>
                </a:solidFill>
                <a:latin typeface="Helvetica Neue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00100" y="2000000"/>
            <a:ext cx="14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8A8D96"/>
                </a:solidFill>
                <a:latin typeface="Helvetica Neue"/>
              </a:rPr>
              <a:t>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0100" y="2380000"/>
            <a:ext cx="10831495" cy="13700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0100" y="2520000"/>
            <a:ext cx="31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>
                <a:solidFill>
                  <a:srgbClr val="3F4149"/>
                </a:solidFill>
                <a:latin typeface="Helvetica Neue"/>
              </a:rPr>
              <a:t>Số bài giữ được — GSM8K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00100" y="2520000"/>
            <a:ext cx="14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>
                <a:solidFill>
                  <a:srgbClr val="3F4149"/>
                </a:solidFill>
                <a:latin typeface="Helvetica Neue"/>
              </a:rPr>
              <a:t>2725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00100" y="2520000"/>
            <a:ext cx="14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>
                <a:solidFill>
                  <a:srgbClr val="3F4149"/>
                </a:solidFill>
                <a:latin typeface="Helvetica Neue"/>
              </a:rPr>
              <a:t>2551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00100" y="2520000"/>
            <a:ext cx="14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>
                <a:solidFill>
                  <a:srgbClr val="3F4149"/>
                </a:solidFill>
                <a:latin typeface="Helvetica Neue"/>
              </a:rPr>
              <a:t>2356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00100" y="2520000"/>
            <a:ext cx="14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>
                <a:solidFill>
                  <a:srgbClr val="3F4149"/>
                </a:solidFill>
                <a:latin typeface="Helvetica Neue"/>
              </a:rPr>
              <a:t>1837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00100" y="2520000"/>
            <a:ext cx="14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>
                <a:solidFill>
                  <a:srgbClr val="3F4149"/>
                </a:solidFill>
                <a:latin typeface="Helvetica Neue"/>
              </a:rPr>
              <a:t>1100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60100" y="2865000"/>
            <a:ext cx="10671495" cy="0"/>
          </a:xfrm>
          <a:prstGeom prst="line">
            <a:avLst/>
          </a:prstGeom>
          <a:ln w="9525">
            <a:solidFill>
              <a:srgbClr val="E9E9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800100" y="2920000"/>
            <a:ext cx="31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>
                <a:solidFill>
                  <a:srgbClr val="3F4149"/>
                </a:solidFill>
                <a:latin typeface="Helvetica Neue"/>
              </a:rPr>
              <a:t>Số bài giữ được — MATH-500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00100" y="2920000"/>
            <a:ext cx="14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>
                <a:solidFill>
                  <a:srgbClr val="3F4149"/>
                </a:solidFill>
                <a:latin typeface="Helvetica Neue"/>
              </a:rPr>
              <a:t>1237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00100" y="2920000"/>
            <a:ext cx="14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>
                <a:solidFill>
                  <a:srgbClr val="3F4149"/>
                </a:solidFill>
                <a:latin typeface="Helvetica Neue"/>
              </a:rPr>
              <a:t>1179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00100" y="2920000"/>
            <a:ext cx="14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>
                <a:solidFill>
                  <a:srgbClr val="3F4149"/>
                </a:solidFill>
                <a:latin typeface="Helvetica Neue"/>
              </a:rPr>
              <a:t>1039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00100" y="2920000"/>
            <a:ext cx="14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>
                <a:solidFill>
                  <a:srgbClr val="3F4149"/>
                </a:solidFill>
                <a:latin typeface="Helvetica Neue"/>
              </a:rPr>
              <a:t>800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800100" y="2920000"/>
            <a:ext cx="14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>
                <a:solidFill>
                  <a:srgbClr val="3F4149"/>
                </a:solidFill>
                <a:latin typeface="Helvetica Neue"/>
              </a:rPr>
              <a:t>466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760100" y="3265000"/>
            <a:ext cx="10671495" cy="0"/>
          </a:xfrm>
          <a:prstGeom prst="line">
            <a:avLst/>
          </a:prstGeom>
          <a:ln w="9525">
            <a:solidFill>
              <a:srgbClr val="E9E9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800100" y="3320000"/>
            <a:ext cx="31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1">
                <a:solidFill>
                  <a:srgbClr val="16161A"/>
                </a:solidFill>
                <a:latin typeface="Helvetica Neue"/>
              </a:rPr>
              <a:t>GSM8K chiếm bao nhiêu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00100" y="3320000"/>
            <a:ext cx="14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1">
                <a:solidFill>
                  <a:srgbClr val="16161A"/>
                </a:solidFill>
                <a:latin typeface="Helvetica Neue"/>
              </a:rPr>
              <a:t>68,8%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00100" y="3320000"/>
            <a:ext cx="14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1">
                <a:solidFill>
                  <a:srgbClr val="16161A"/>
                </a:solidFill>
                <a:latin typeface="Helvetica Neue"/>
              </a:rPr>
              <a:t>68,4%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00100" y="3320000"/>
            <a:ext cx="14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1">
                <a:solidFill>
                  <a:srgbClr val="16161A"/>
                </a:solidFill>
                <a:latin typeface="Helvetica Neue"/>
              </a:rPr>
              <a:t>69,4%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00100" y="3320000"/>
            <a:ext cx="14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1">
                <a:solidFill>
                  <a:srgbClr val="16161A"/>
                </a:solidFill>
                <a:latin typeface="Helvetica Neue"/>
              </a:rPr>
              <a:t>69,7%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00100" y="3320000"/>
            <a:ext cx="14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1">
                <a:solidFill>
                  <a:srgbClr val="16161A"/>
                </a:solidFill>
                <a:latin typeface="Helvetica Neue"/>
              </a:rPr>
              <a:t>70,2%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0100" y="4030000"/>
            <a:ext cx="10591495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50" b="0">
                <a:solidFill>
                  <a:srgbClr val="3F4149"/>
                </a:solidFill>
                <a:latin typeface="Helvetica Neue"/>
              </a:rPr>
              <a:t>Gần 70% bài đem đi dạy là của GSM8K. Nên điểm của MATH-500 thật ra bị ảnh hưởng bởi chuyện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50" b="0">
                <a:solidFill>
                  <a:srgbClr val="3F4149"/>
                </a:solidFill>
                <a:latin typeface="Helvetica Neue"/>
              </a:rPr>
              <a:t>xảy ra bên GSM8K. Em không tách được hai thứ đó ra khỏi nhau.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80100" y="4790000"/>
            <a:ext cx="10831495" cy="880000"/>
          </a:xfrm>
          <a:prstGeom prst="roundRect">
            <a:avLst>
              <a:gd name="adj" fmla="val 4000"/>
            </a:avLst>
          </a:prstGeom>
          <a:solidFill>
            <a:srgbClr val="FD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20100" y="4930000"/>
            <a:ext cx="10351495" cy="64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250" b="1">
                <a:solidFill>
                  <a:srgbClr val="9E2B34"/>
                </a:solidFill>
                <a:latin typeface="Helvetica Neue"/>
              </a:rPr>
              <a:t>LỖI 2 — em chấm điểm trên chính những đề đã dùng để chọn bài dạy.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250" b="1">
                <a:solidFill>
                  <a:srgbClr val="9E2B34"/>
                </a:solidFill>
                <a:latin typeface="Helvetica Neue"/>
              </a:rPr>
              <a:t>Nên điểm tụt có thể chỉ là model quên bài cũ, chứ không phải nó dở đi thật.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00100" y="430000"/>
            <a:ext cx="7000000" cy="2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1">
                <a:solidFill>
                  <a:srgbClr val="9E2B34"/>
                </a:solidFill>
                <a:latin typeface="Helvetica Neue"/>
              </a:rPr>
              <a:t>ĐO LẠI CHO ĐÚNG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91595" y="400000"/>
            <a:ext cx="900000" cy="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500" b="1">
                <a:solidFill>
                  <a:srgbClr val="E6E6EA"/>
                </a:solidFill>
                <a:latin typeface="Georgia"/>
              </a:rPr>
              <a:t>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0100" y="790000"/>
            <a:ext cx="10591495" cy="6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900" b="1">
                <a:solidFill>
                  <a:srgbClr val="16161A"/>
                </a:solidFill>
                <a:latin typeface="Georgia"/>
              </a:rPr>
              <a:t>Năm lần chạy mới, sửa cả hai lỗi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0100" y="1520000"/>
            <a:ext cx="10591495" cy="4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8A8D96"/>
                </a:solidFill>
                <a:latin typeface="Helvetica Neue"/>
              </a:rPr>
              <a:t>Mỗi lần chỉ chạy một bộ đề. Giữ riêng 30% số đề làm đề thi, chưa từng cho model học.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0100" y="2150000"/>
            <a:ext cx="27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8A8D96"/>
                </a:solidFill>
                <a:latin typeface="Helvetica Neue"/>
              </a:rPr>
              <a:t>LẦN CHẠY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00100" y="2150000"/>
            <a:ext cx="23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8A8D96"/>
                </a:solidFill>
                <a:latin typeface="Helvetica Neue"/>
              </a:rPr>
              <a:t>BỘ ĐỀ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00100" y="2150000"/>
            <a:ext cx="23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8A8D96"/>
                </a:solidFill>
                <a:latin typeface="Helvetica Neue"/>
              </a:rPr>
              <a:t>MÁY CHẤM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00100" y="2150000"/>
            <a:ext cx="14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8A8D96"/>
                </a:solidFill>
                <a:latin typeface="Helvetica Neue"/>
              </a:rPr>
              <a:t>SEED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00100" y="2150000"/>
            <a:ext cx="16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8A8D96"/>
                </a:solidFill>
                <a:latin typeface="Helvetica Neue"/>
              </a:rPr>
              <a:t>GPU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0100" y="2530000"/>
            <a:ext cx="10831495" cy="23200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100" y="2670000"/>
            <a:ext cx="27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00100" y="2670000"/>
            <a:ext cx="23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MATH-500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00100" y="2670000"/>
            <a:ext cx="23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để nguyên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00100" y="2670000"/>
            <a:ext cx="14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00100" y="2670000"/>
            <a:ext cx="16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~5 giờ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60100" y="3045000"/>
            <a:ext cx="10671495" cy="0"/>
          </a:xfrm>
          <a:prstGeom prst="line">
            <a:avLst/>
          </a:prstGeom>
          <a:ln w="9525">
            <a:solidFill>
              <a:srgbClr val="E9E9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800100" y="3100000"/>
            <a:ext cx="27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A  chạy lại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00100" y="3100000"/>
            <a:ext cx="23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MATH-500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00100" y="3100000"/>
            <a:ext cx="23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để nguyên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00100" y="3100000"/>
            <a:ext cx="14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00100" y="3100000"/>
            <a:ext cx="16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~5 giờ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760100" y="3475000"/>
            <a:ext cx="10671495" cy="0"/>
          </a:xfrm>
          <a:prstGeom prst="line">
            <a:avLst/>
          </a:prstGeom>
          <a:ln w="9525">
            <a:solidFill>
              <a:srgbClr val="E9E9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800100" y="3530000"/>
            <a:ext cx="27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6161A"/>
                </a:solidFill>
                <a:latin typeface="Helvetica Neue"/>
              </a:rPr>
              <a:t>B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00100" y="3530000"/>
            <a:ext cx="23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6161A"/>
                </a:solidFill>
                <a:latin typeface="Helvetica Neue"/>
              </a:rPr>
              <a:t>MATH-500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00100" y="3530000"/>
            <a:ext cx="23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6161A"/>
                </a:solidFill>
                <a:latin typeface="Helvetica Neue"/>
              </a:rPr>
              <a:t>ĐÃ SỬA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00100" y="3530000"/>
            <a:ext cx="14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6161A"/>
                </a:solidFill>
                <a:latin typeface="Helvetica Neue"/>
              </a:rPr>
              <a:t>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00100" y="3530000"/>
            <a:ext cx="16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6161A"/>
                </a:solidFill>
                <a:latin typeface="Helvetica Neue"/>
              </a:rPr>
              <a:t>~5 giờ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760100" y="3905000"/>
            <a:ext cx="10671495" cy="0"/>
          </a:xfrm>
          <a:prstGeom prst="line">
            <a:avLst/>
          </a:prstGeom>
          <a:ln w="9525">
            <a:solidFill>
              <a:srgbClr val="E9E9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800100" y="3960000"/>
            <a:ext cx="27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6161A"/>
                </a:solidFill>
                <a:latin typeface="Helvetica Neue"/>
              </a:rPr>
              <a:t>B  chạy lại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700100" y="3960000"/>
            <a:ext cx="23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6161A"/>
                </a:solidFill>
                <a:latin typeface="Helvetica Neue"/>
              </a:rPr>
              <a:t>MATH-500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00100" y="3960000"/>
            <a:ext cx="23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6161A"/>
                </a:solidFill>
                <a:latin typeface="Helvetica Neue"/>
              </a:rPr>
              <a:t>ĐÃ SỬA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00100" y="3960000"/>
            <a:ext cx="14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6161A"/>
                </a:solidFill>
                <a:latin typeface="Helvetica Neue"/>
              </a:rPr>
              <a:t>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700100" y="3960000"/>
            <a:ext cx="16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6161A"/>
                </a:solidFill>
                <a:latin typeface="Helvetica Neue"/>
              </a:rPr>
              <a:t>~5 giờ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760100" y="4335000"/>
            <a:ext cx="10671495" cy="0"/>
          </a:xfrm>
          <a:prstGeom prst="line">
            <a:avLst/>
          </a:prstGeom>
          <a:ln w="9525">
            <a:solidFill>
              <a:srgbClr val="E9E9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800100" y="4390000"/>
            <a:ext cx="27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700100" y="4390000"/>
            <a:ext cx="23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GSM8K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00100" y="4390000"/>
            <a:ext cx="23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để nguyên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00100" y="4390000"/>
            <a:ext cx="14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700100" y="4390000"/>
            <a:ext cx="16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~5,5 giờ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80100" y="5150000"/>
            <a:ext cx="10831495" cy="780000"/>
          </a:xfrm>
          <a:prstGeom prst="roundRect">
            <a:avLst>
              <a:gd name="adj" fmla="val 4000"/>
            </a:avLst>
          </a:prstGeom>
          <a:solidFill>
            <a:srgbClr val="F0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20100" y="5310000"/>
            <a:ext cx="10351495" cy="5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250" b="1">
                <a:solidFill>
                  <a:srgbClr val="0173B2"/>
                </a:solidFill>
                <a:latin typeface="Helvetica Neue"/>
              </a:rPr>
              <a:t>A và B giống hệt nhau, chỉ khác đúng một chỗ: B em đã sửa lỗi của máy chấm.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250" b="1">
                <a:solidFill>
                  <a:srgbClr val="0173B2"/>
                </a:solidFill>
                <a:latin typeface="Helvetica Neue"/>
              </a:rPr>
              <a:t>Nếu giả thuyết của em đúng thì B phải khá hơn A rõ rệt.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00100" y="6350000"/>
            <a:ext cx="10591495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A8D96"/>
                </a:solidFill>
                <a:latin typeface="Helvetica Neue"/>
              </a:rPr>
              <a:t>Tổng khoảng 25 giờ GPU, chia nhiều phiên vì Kaggle giới hạn 12 tiếng một lần.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00100" y="430000"/>
            <a:ext cx="7000000" cy="2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1">
                <a:solidFill>
                  <a:srgbClr val="9E2B34"/>
                </a:solidFill>
                <a:latin typeface="Helvetica Neue"/>
              </a:rPr>
              <a:t>KẾT QUẢ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91595" y="400000"/>
            <a:ext cx="900000" cy="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500" b="1">
                <a:solidFill>
                  <a:srgbClr val="E6E6EA"/>
                </a:solidFill>
                <a:latin typeface="Georgia"/>
              </a:rPr>
              <a:t>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0100" y="790000"/>
            <a:ext cx="10591495" cy="6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900" b="1">
                <a:solidFill>
                  <a:srgbClr val="16161A"/>
                </a:solidFill>
                <a:latin typeface="Georgia"/>
              </a:rPr>
              <a:t>Đo lại cho đúng thì không còn thấy tụt nữa</a:t>
            </a:r>
          </a:p>
        </p:txBody>
      </p:sp>
      <p:pic>
        <p:nvPicPr>
          <p:cNvPr id="5" name="Picture 4" descr="deck_collap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5847" y="1720000"/>
            <a:ext cx="9300000" cy="394811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00100" y="5830000"/>
            <a:ext cx="10591495" cy="5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50" b="0">
                <a:solidFill>
                  <a:srgbClr val="3F4149"/>
                </a:solidFill>
                <a:latin typeface="Helvetica Neue"/>
              </a:rPr>
              <a:t>Hai đường cam là cách đo cũ, tụt 22 đến 26 điểm. Ba đường còn lại là cách đo mới, gần như nằm ngang.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50" b="0">
                <a:solidFill>
                  <a:srgbClr val="3F4149"/>
                </a:solidFill>
                <a:latin typeface="Helvetica Neue"/>
              </a:rPr>
              <a:t>Vậy cú tụt kia là do em đo sai, không phải do máy chấm.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00100" y="430000"/>
            <a:ext cx="7000000" cy="2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1">
                <a:solidFill>
                  <a:srgbClr val="9E2B34"/>
                </a:solidFill>
                <a:latin typeface="Helvetica Neue"/>
              </a:rPr>
              <a:t>THÍ NGHIỆM QUAN TRỌNG NHẤT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91595" y="400000"/>
            <a:ext cx="900000" cy="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500" b="1">
                <a:solidFill>
                  <a:srgbClr val="E6E6EA"/>
                </a:solidFill>
                <a:latin typeface="Georgia"/>
              </a:rP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0100" y="790000"/>
            <a:ext cx="10591495" cy="6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900" b="1">
                <a:solidFill>
                  <a:srgbClr val="16161A"/>
                </a:solidFill>
                <a:latin typeface="Georgia"/>
              </a:rPr>
              <a:t>Sửa máy chấm rồi mà không đổi gì cả</a:t>
            </a:r>
          </a:p>
        </p:txBody>
      </p:sp>
      <p:pic>
        <p:nvPicPr>
          <p:cNvPr id="5" name="Picture 4" descr="deck_contr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5847" y="1720000"/>
            <a:ext cx="9300000" cy="377264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00100" y="5660000"/>
            <a:ext cx="10591495" cy="7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50" b="0">
                <a:solidFill>
                  <a:srgbClr val="3F4149"/>
                </a:solidFill>
                <a:latin typeface="Helvetica Neue"/>
              </a:rPr>
              <a:t>Hai đường nằm chồng lên nhau ở cả hai lần chạy. Em sửa đúng cái lỗi mà cả đề tài cho là nguyên nhân,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50" b="0">
                <a:solidFill>
                  <a:srgbClr val="3F4149"/>
                </a:solidFill>
                <a:latin typeface="Helvetica Neue"/>
              </a:rPr>
              <a:t>mà điểm không nhúc nhích. Chỗ này là bằng chứng mạnh nhất cho thấy em đã nghĩ sai.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0100" y="6400000"/>
            <a:ext cx="10591495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A8D96"/>
                </a:solidFill>
                <a:latin typeface="Helvetica Neue"/>
              </a:rPr>
              <a:t>Đề thi có 150 đề, nên mỗi đề đáng 0,67 điểm. A và B chênh nhau nhiều nhất 0,6 điểm, tức là đúng một đề.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0100" y="430000"/>
            <a:ext cx="7000000" cy="2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1">
                <a:solidFill>
                  <a:srgbClr val="E88A92"/>
                </a:solidFill>
                <a:latin typeface="Helvetica Neue"/>
              </a:rPr>
              <a:t>VÌ SAO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0100" y="830000"/>
            <a:ext cx="10591495" cy="6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900" b="1">
                <a:solidFill>
                  <a:srgbClr val="FFFFFF"/>
                </a:solidFill>
                <a:latin typeface="Georgia"/>
              </a:rPr>
              <a:t>Lỗi đó nặng thật, nhưng rất hiếm khi xảy 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0100" y="2150000"/>
            <a:ext cx="3300000" cy="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5200" b="1">
                <a:solidFill>
                  <a:srgbClr val="FFFFFF"/>
                </a:solidFill>
                <a:latin typeface="Georgia"/>
              </a:rPr>
              <a:t>100%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0100" y="3150000"/>
            <a:ext cx="3300000" cy="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250" b="0">
                <a:solidFill>
                  <a:srgbClr val="9A9CA5"/>
                </a:solidFill>
                <a:latin typeface="Helvetica Neue"/>
              </a:rPr>
              <a:t>gặp cách viết đó là máy chấm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250" b="0">
                <a:solidFill>
                  <a:srgbClr val="9A9CA5"/>
                </a:solidFill>
                <a:latin typeface="Helvetica Neue"/>
              </a:rPr>
              <a:t>gạch, không trượt lần nào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80100" y="2300000"/>
            <a:ext cx="300000" cy="5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0">
                <a:solidFill>
                  <a:srgbClr val="5A5C66"/>
                </a:solidFill>
                <a:latin typeface="Helvetica Neue"/>
              </a:rPr>
              <a:t>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60100" y="2150000"/>
            <a:ext cx="3300000" cy="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5200" b="1">
                <a:solidFill>
                  <a:srgbClr val="FFFFFF"/>
                </a:solidFill>
                <a:latin typeface="Georgia"/>
              </a:rPr>
              <a:t>0,55%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60100" y="3150000"/>
            <a:ext cx="3300000" cy="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250" b="0">
                <a:solidFill>
                  <a:srgbClr val="9A9CA5"/>
                </a:solidFill>
                <a:latin typeface="Helvetica Neue"/>
              </a:rPr>
              <a:t>nhưng trong 4000 bài model làm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250" b="0">
                <a:solidFill>
                  <a:srgbClr val="9A9CA5"/>
                </a:solidFill>
                <a:latin typeface="Helvetica Neue"/>
              </a:rPr>
              <a:t>mỗi vòng, chỉ 22 bài viết kiểu đó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40100" y="2300000"/>
            <a:ext cx="300000" cy="5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0">
                <a:solidFill>
                  <a:srgbClr val="5A5C66"/>
                </a:solidFill>
                <a:latin typeface="Helvetica Neue"/>
              </a:rPr>
              <a:t>=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0100" y="2150000"/>
            <a:ext cx="3300000" cy="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5200" b="1">
                <a:solidFill>
                  <a:srgbClr val="FFC94D"/>
                </a:solidFill>
                <a:latin typeface="Georgia"/>
              </a:rPr>
              <a:t>0,55%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20100" y="3150000"/>
            <a:ext cx="3300000" cy="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250" b="0">
                <a:solidFill>
                  <a:srgbClr val="9A9CA5"/>
                </a:solidFill>
                <a:latin typeface="Helvetica Neue"/>
              </a:rPr>
              <a:t>nhân lại, đó là phần bài bị gạch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250" b="0">
                <a:solidFill>
                  <a:srgbClr val="9A9CA5"/>
                </a:solidFill>
                <a:latin typeface="Helvetica Neue"/>
              </a:rPr>
              <a:t>oan. Quá ít để làm tụt 20 điểm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00100" y="4350000"/>
            <a:ext cx="10591495" cy="0"/>
          </a:xfrm>
          <a:prstGeom prst="line">
            <a:avLst/>
          </a:prstGeom>
          <a:ln w="9525">
            <a:solidFill>
              <a:srgbClr val="33343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800100" y="4600000"/>
            <a:ext cx="10591495" cy="9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300" b="0">
                <a:solidFill>
                  <a:srgbClr val="D6D7DC"/>
                </a:solidFill>
                <a:latin typeface="Helvetica Neue"/>
              </a:rPr>
              <a:t>Em còn đo được trực tiếp. Ở vòng 0 model chưa học gì, nên A và B làm ra y hệt một bộ bài. Khác nhau</a:t>
            </a:r>
          </a:p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300" b="0">
                <a:solidFill>
                  <a:srgbClr val="D6D7DC"/>
                </a:solidFill>
                <a:latin typeface="Helvetica Neue"/>
              </a:rPr>
              <a:t>chỉ là máy chấm nào chấm. Sửa máy chấm xong, kết quả đổi đúng 1 đề trên 150 đề.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0100" y="5750000"/>
            <a:ext cx="10591495" cy="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FFC94D"/>
                </a:solidFill>
                <a:latin typeface="Helvetica Neue"/>
              </a:rPr>
              <a:t>Bài học: một lỗi nặng tới đâu cũng chỉ hại được đúng bằng số lần nó thật sự xảy ra.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00100" y="430000"/>
            <a:ext cx="7000000" cy="2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1">
                <a:solidFill>
                  <a:srgbClr val="9E2B34"/>
                </a:solidFill>
                <a:latin typeface="Helvetica Neue"/>
              </a:rPr>
              <a:t>ĐỀ TÀI ĐI TIẾP THẾ NÀO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91595" y="400000"/>
            <a:ext cx="900000" cy="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500" b="1">
                <a:solidFill>
                  <a:srgbClr val="E6E6EA"/>
                </a:solidFill>
                <a:latin typeface="Georgia"/>
              </a:rPr>
              <a:t>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0100" y="790000"/>
            <a:ext cx="10591495" cy="6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900" b="1">
                <a:solidFill>
                  <a:srgbClr val="16161A"/>
                </a:solidFill>
                <a:latin typeface="Georgia"/>
              </a:rPr>
              <a:t>Kết luận nhỏ lại, nhưng em chắc chắn về nó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0100" y="1950000"/>
            <a:ext cx="5100000" cy="31200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20100" y="2150000"/>
            <a:ext cx="1200000" cy="300000"/>
          </a:xfrm>
          <a:prstGeom prst="roundRect">
            <a:avLst>
              <a:gd name="adj" fmla="val 50000"/>
            </a:avLst>
          </a:prstGeom>
          <a:solidFill>
            <a:srgbClr val="8A8D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1050" b="1">
                <a:solidFill>
                  <a:srgbClr val="FFFFFF"/>
                </a:solidFill>
                <a:latin typeface="Helvetica Neue"/>
              </a:rPr>
              <a:t>ĐÃ BỎ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20100" y="2650000"/>
            <a:ext cx="4700000" cy="9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8A8D96"/>
                </a:solidFill>
                <a:latin typeface="Georgia"/>
              </a:rPr>
              <a:t>“Máy chấm gạch nhầm theo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8A8D96"/>
                </a:solidFill>
                <a:latin typeface="Georgia"/>
              </a:rPr>
              <a:t>một kiểu cố định sẽ làm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8A8D96"/>
                </a:solidFill>
                <a:latin typeface="Georgia"/>
              </a:rPr>
              <a:t>model dở đi qua từng vòng.”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0100" y="3950000"/>
            <a:ext cx="4700000" cy="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200" b="0">
                <a:solidFill>
                  <a:srgbClr val="8A8D96"/>
                </a:solidFill>
                <a:latin typeface="Helvetica Neue"/>
              </a:rPr>
              <a:t>Em đã tự kiểm tra bằng thí nghiệm đối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200" b="0">
                <a:solidFill>
                  <a:srgbClr val="8A8D96"/>
                </a:solidFill>
                <a:latin typeface="Helvetica Neue"/>
              </a:rPr>
              <a:t>chứng, chạy hai lần cho chắc. Không đúng.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00100" y="1950000"/>
            <a:ext cx="5310000" cy="3120000"/>
          </a:xfrm>
          <a:prstGeom prst="roundRect">
            <a:avLst>
              <a:gd name="adj" fmla="val 4000"/>
            </a:avLst>
          </a:prstGeom>
          <a:solidFill>
            <a:srgbClr val="F0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440100" y="2150000"/>
            <a:ext cx="1300000" cy="300000"/>
          </a:xfrm>
          <a:prstGeom prst="roundRect">
            <a:avLst>
              <a:gd name="adj" fmla="val 50000"/>
            </a:avLst>
          </a:prstGeom>
          <a:solidFill>
            <a:srgbClr val="0173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1050" b="1">
                <a:solidFill>
                  <a:srgbClr val="FFFFFF"/>
                </a:solidFill>
                <a:latin typeface="Helvetica Neue"/>
              </a:rPr>
              <a:t>GIỮ LẠI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0100" y="2650000"/>
            <a:ext cx="4800000" cy="9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16161A"/>
                </a:solidFill>
                <a:latin typeface="Georgia"/>
              </a:rPr>
              <a:t>“Gộp nhiều bộ đề dạy chung,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16161A"/>
                </a:solidFill>
                <a:latin typeface="Georgia"/>
              </a:rPr>
              <a:t>rồi chấm trên chính đề đã học,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16161A"/>
                </a:solidFill>
                <a:latin typeface="Georgia"/>
              </a:rPr>
              <a:t>sẽ tạo ra cú tụt giả.”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0100" y="3950000"/>
            <a:ext cx="4800000" cy="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Kèm một lưu ý cho người sau: muốn biết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một lỗi máy chấm có hại không thì phải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đếm xem nó xảy ra bao nhiêu lần.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100" y="5330000"/>
            <a:ext cx="10591495" cy="7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300" b="0">
                <a:solidFill>
                  <a:srgbClr val="3F4149"/>
                </a:solidFill>
                <a:latin typeface="Helvetica Neue"/>
              </a:rPr>
              <a:t>Kết luận này nhỏ hơn cái em định làm lúc đầu. Nhưng cái bẫy em vấp phải thì nhiều người cũng đang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300" b="0">
                <a:solidFill>
                  <a:srgbClr val="3F4149"/>
                </a:solidFill>
                <a:latin typeface="Helvetica Neue"/>
              </a:rPr>
              <a:t>vấp, nên em nghĩ vẫn đáng viết ra.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00100" y="430000"/>
            <a:ext cx="7000000" cy="2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1">
                <a:solidFill>
                  <a:srgbClr val="9E2B34"/>
                </a:solidFill>
                <a:latin typeface="Helvetica Neue"/>
              </a:rPr>
              <a:t>MỘT CHỖ EM CÒN CHƯA CHẮC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91595" y="400000"/>
            <a:ext cx="900000" cy="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500" b="1">
                <a:solidFill>
                  <a:srgbClr val="E6E6EA"/>
                </a:solidFill>
                <a:latin typeface="Georgia"/>
              </a:rPr>
              <a:t>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0100" y="790000"/>
            <a:ext cx="10591495" cy="6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900" b="1">
                <a:solidFill>
                  <a:srgbClr val="16161A"/>
                </a:solidFill>
                <a:latin typeface="Georgia"/>
              </a:rPr>
              <a:t>Và em đang chạy thí nghiệm để kiểm tra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0100" y="1620000"/>
            <a:ext cx="10591495" cy="7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400" b="0">
                <a:solidFill>
                  <a:srgbClr val="16161A"/>
                </a:solidFill>
                <a:latin typeface="Helvetica Neue"/>
              </a:rPr>
              <a:t>Cả 7 lần chạy, điểm đều tụt khoảng 3 điểm ngay ở vòng 1 rồi đứng yên. Nhưng mấy bài báo lớn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400" b="0">
                <a:solidFill>
                  <a:srgbClr val="16161A"/>
                </a:solidFill>
                <a:latin typeface="Helvetica Neue"/>
              </a:rPr>
              <a:t>về tự học đều báo là model KHÁ LÊN. Em chưa giải thích được vì sao của em ngược lại.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0100" y="2550000"/>
            <a:ext cx="10831495" cy="9000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0100" y="2720000"/>
            <a:ext cx="10351495" cy="64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250" b="0">
                <a:solidFill>
                  <a:srgbClr val="3F4149"/>
                </a:solidFill>
                <a:latin typeface="Helvetica Neue"/>
              </a:rPr>
              <a:t>Có một khả năng đơn giản mà em chưa loại trừ được: model này vốn đã được tinh chỉnh rất kỹ rồi.</a:t>
            </a:r>
          </a:p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250" b="0">
                <a:solidFill>
                  <a:srgbClr val="3F4149"/>
                </a:solidFill>
                <a:latin typeface="Helvetica Neue"/>
              </a:rPr>
              <a:t>Em dạy thêm một chút nữa có thể chỉ làm nó lệch khỏi trạng thái tốt sẵn có, bất kể em dạy bằng gì.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100" y="3720000"/>
            <a:ext cx="10591495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8A8D96"/>
                </a:solidFill>
                <a:latin typeface="Helvetica Neue"/>
              </a:rPr>
              <a:t>EM SẼ THỬ: dạy bằng lời giải mẫu của sách, thay vì bài model tự làm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0100" y="4180000"/>
            <a:ext cx="5190000" cy="13500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040100" y="4360000"/>
            <a:ext cx="1500000" cy="310000"/>
          </a:xfrm>
          <a:prstGeom prst="roundRect">
            <a:avLst>
              <a:gd name="adj" fmla="val 50000"/>
            </a:avLst>
          </a:prstGeom>
          <a:solidFill>
            <a:srgbClr val="02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1050" b="1">
                <a:solidFill>
                  <a:srgbClr val="FFFFFF"/>
                </a:solidFill>
                <a:latin typeface="Helvetica Neue"/>
              </a:rPr>
              <a:t>Nếu khá lên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0100" y="4830000"/>
            <a:ext cx="470000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thì vòng lặp không sao, và cái hại đúng là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do model học từ bài của chính nó.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00100" y="4180000"/>
            <a:ext cx="5190000" cy="13500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40100" y="4360000"/>
            <a:ext cx="1500000" cy="310000"/>
          </a:xfrm>
          <a:prstGeom prst="roundRect">
            <a:avLst>
              <a:gd name="adj" fmla="val 50000"/>
            </a:avLst>
          </a:prstGeom>
          <a:solidFill>
            <a:srgbClr val="B85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1050" b="1">
                <a:solidFill>
                  <a:srgbClr val="FFFFFF"/>
                </a:solidFill>
                <a:latin typeface="Helvetica Neue"/>
              </a:rPr>
              <a:t>Nếu cũng tụt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0100" y="4830000"/>
            <a:ext cx="470000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thì cú tụt là do việc dạy thêm, không liên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quan tự học. Em phải sửa kết luận lần nữa.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0100" y="5800000"/>
            <a:ext cx="10591495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0">
                <a:solidFill>
                  <a:srgbClr val="8A8D96"/>
                </a:solidFill>
                <a:latin typeface="Helvetica Neue"/>
              </a:rPr>
              <a:t>Code đã viết xong, đang chờ tới lượt GPU.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00100" y="430000"/>
            <a:ext cx="7000000" cy="2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1">
                <a:solidFill>
                  <a:srgbClr val="9E2B34"/>
                </a:solidFill>
                <a:latin typeface="Helvetica Neue"/>
              </a:rPr>
              <a:t>NHỮNG CHỖ CÒN YẾU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91595" y="400000"/>
            <a:ext cx="900000" cy="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500" b="1">
                <a:solidFill>
                  <a:srgbClr val="E6E6EA"/>
                </a:solidFill>
                <a:latin typeface="Georgia"/>
              </a:rPr>
              <a:t>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0100" y="790000"/>
            <a:ext cx="10591495" cy="6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900" b="1">
                <a:solidFill>
                  <a:srgbClr val="16161A"/>
                </a:solidFill>
                <a:latin typeface="Georgia"/>
              </a:rPr>
              <a:t>Em xin nói trước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0100" y="2000000"/>
            <a:ext cx="10831495" cy="11500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20100" y="2200000"/>
            <a:ext cx="4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9E2B34"/>
                </a:solidFill>
                <a:latin typeface="Georgia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00100" y="2190000"/>
            <a:ext cx="95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6161A"/>
                </a:solidFill>
                <a:latin typeface="Helvetica Neue"/>
              </a:rPr>
              <a:t>Đề thi chỉ có 150 đề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0100" y="2600000"/>
            <a:ext cx="9500000" cy="4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Mỗi đề đáng 0,67 điểm. Chỉ cần đổi cách bốc đề thi thôi là điểm vòng 0 đã lệch 4,7 điểm, nhiều hơn cả cái em đang đo.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0100" y="3330000"/>
            <a:ext cx="10831495" cy="11500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20100" y="3530000"/>
            <a:ext cx="4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9E2B34"/>
                </a:solidFill>
                <a:latin typeface="Georgia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0100" y="3520000"/>
            <a:ext cx="95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6161A"/>
                </a:solidFill>
                <a:latin typeface="Helvetica Neue"/>
              </a:rPr>
              <a:t>Mỗi cấu hình mới chạy 2 lần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0100" y="3930000"/>
            <a:ext cx="9500000" cy="4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Riêng lần chạy C và mấy lần cũ thì mới 1 lần. Nên em chưa dám chắc về cú tụt 12,7 điểm của GSM8K.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0100" y="4660000"/>
            <a:ext cx="10831495" cy="11500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0100" y="4860000"/>
            <a:ext cx="4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9E2B34"/>
                </a:solidFill>
                <a:latin typeface="Georgia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00100" y="4850000"/>
            <a:ext cx="95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6161A"/>
                </a:solidFill>
                <a:latin typeface="Helvetica Neue"/>
              </a:rPr>
              <a:t>Lần chạy mới khác lần cũ ba chỗ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00100" y="5260000"/>
            <a:ext cx="9500000" cy="4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Bỏ gộp bộ đề, thêm đề thi riêng, và giảm số đề. Nên em chỉ dám kết luận dựa trên so sánh A với B, vì hai lần đó chỉ khác nhau một chỗ.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00100" y="430000"/>
            <a:ext cx="7000000" cy="2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1">
                <a:solidFill>
                  <a:srgbClr val="9E2B34"/>
                </a:solidFill>
                <a:latin typeface="Helvetica Neue"/>
              </a:rPr>
              <a:t>TÓM TẮT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91595" y="400000"/>
            <a:ext cx="900000" cy="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500" b="1">
                <a:solidFill>
                  <a:srgbClr val="E6E6EA"/>
                </a:solidFill>
                <a:latin typeface="Georgia"/>
              </a:rPr>
              <a:t>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0100" y="790000"/>
            <a:ext cx="10591495" cy="6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900" b="1">
                <a:solidFill>
                  <a:srgbClr val="16161A"/>
                </a:solidFill>
                <a:latin typeface="Georgia"/>
              </a:rPr>
              <a:t>Ba tuần vừa rồi, và việc sắp tới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0100" y="1900000"/>
            <a:ext cx="10831495" cy="1460000"/>
          </a:xfrm>
          <a:prstGeom prst="roundRect">
            <a:avLst>
              <a:gd name="adj" fmla="val 4000"/>
            </a:avLst>
          </a:prstGeom>
          <a:solidFill>
            <a:srgbClr val="F0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20100" y="2100000"/>
            <a:ext cx="10351495" cy="11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400" b="0">
                <a:solidFill>
                  <a:srgbClr val="16161A"/>
                </a:solidFill>
                <a:latin typeface="Georgia"/>
              </a:rPr>
              <a:t>Em dựng một thí nghiệm để kiểm tra giả thuyết của chính mình, và nó cho thấy em sai.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400" b="0">
                <a:solidFill>
                  <a:srgbClr val="16161A"/>
                </a:solidFill>
                <a:latin typeface="Georgia"/>
              </a:rPr>
              <a:t>Lý do em cũng tìm ra: lỗi của máy chấm tuy nặng nhưng chỉ xảy ra ở 0,55% số bài.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400" b="0">
                <a:solidFill>
                  <a:srgbClr val="16161A"/>
                </a:solidFill>
                <a:latin typeface="Georgia"/>
              </a:rPr>
              <a:t>Đề tài chuyển sang cảnh báo về cách đo, nhỏ hơn nhưng em chắc chắn.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0100" y="3560000"/>
            <a:ext cx="17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9E2B34"/>
                </a:solidFill>
                <a:latin typeface="Helvetica Neue"/>
              </a:rPr>
              <a:t>ĐÃ LÀM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00100" y="3545000"/>
            <a:ext cx="87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3F4149"/>
                </a:solidFill>
                <a:latin typeface="Helvetica Neue"/>
              </a:rPr>
              <a:t>7 lần chạy, khoảng 40 giờ GPU. Tìm ra lỗi trong cách đo và sửa lại.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0100" y="4130000"/>
            <a:ext cx="17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9E2B34"/>
                </a:solidFill>
                <a:latin typeface="Helvetica Neue"/>
              </a:rPr>
              <a:t>KẾT QUẢ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00100" y="4115000"/>
            <a:ext cx="87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3F4149"/>
                </a:solidFill>
                <a:latin typeface="Helvetica Neue"/>
              </a:rPr>
              <a:t>Giả thuyết ban đầu không đúng, và em đo được vì sao nó không đúng.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0100" y="4700000"/>
            <a:ext cx="17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9E2B34"/>
                </a:solidFill>
                <a:latin typeface="Helvetica Neue"/>
              </a:rPr>
              <a:t>ĐANG CHẠY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00100" y="4685000"/>
            <a:ext cx="87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3F4149"/>
                </a:solidFill>
                <a:latin typeface="Helvetica Neue"/>
              </a:rPr>
              <a:t>Thí nghiệm để biết cú tụt là do tự học, hay chỉ do việc dạy thêm.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100" y="5270000"/>
            <a:ext cx="17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9E2B34"/>
                </a:solidFill>
                <a:latin typeface="Helvetica Neue"/>
              </a:rPr>
              <a:t>SẮP TỚI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00100" y="5255000"/>
            <a:ext cx="87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3F4149"/>
                </a:solidFill>
                <a:latin typeface="Helvetica Neue"/>
              </a:rPr>
              <a:t>Chạy lặp thêm cho chắc, rồi viết lại bài báo theo kết luận mới.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00100" y="5900000"/>
            <a:ext cx="10591495" cy="0"/>
          </a:xfrm>
          <a:prstGeom prst="line">
            <a:avLst/>
          </a:prstGeom>
          <a:ln w="9525">
            <a:solidFill>
              <a:srgbClr val="E6E6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800100" y="6100000"/>
            <a:ext cx="10591495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8A8D96"/>
                </a:solidFill>
                <a:latin typeface="Helvetica Neue"/>
              </a:rPr>
              <a:t>Em cảm ơn thầy. Mong thầy góp ý giúp em.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