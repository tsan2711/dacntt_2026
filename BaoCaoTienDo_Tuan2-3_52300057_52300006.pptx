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50000"/>
          </a:xfrm>
          <a:prstGeom prst="roundRect">
            <a:avLst>
              <a:gd name="adj" fmla="val 0"/>
            </a:avLst>
          </a:prstGeom>
          <a:solidFill>
            <a:srgbClr val="9E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1180000"/>
            <a:ext cx="10591495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E2B34"/>
                </a:solidFill>
                <a:latin typeface="Helvetica Neue"/>
              </a:rPr>
              <a:t>BÁO CÁO TIẾN ĐỘ  ·  TUẦN 2 –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700000"/>
            <a:ext cx="10200000" cy="1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4000" b="1">
                <a:solidFill>
                  <a:srgbClr val="16161A"/>
                </a:solidFill>
                <a:latin typeface="Georgia"/>
              </a:rPr>
              <a:t>Giả thuyết trung tâm bị bác bỏ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4000" b="1">
                <a:solidFill>
                  <a:srgbClr val="16161A"/>
                </a:solidFill>
                <a:latin typeface="Georgia"/>
              </a:rPr>
              <a:t>bằng thí nghiệm đối chứng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3850000"/>
            <a:ext cx="8900000" cy="1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3F4149"/>
                </a:solidFill>
                <a:latin typeface="Helvetica Neue"/>
              </a:rPr>
              <a:t>Hai tuần: từ chỗ tưởng đã xác nhận được giả thuyết, đến chỗ phát hiện thiết kế đo có lỗ hổng,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3F4149"/>
                </a:solidFill>
                <a:latin typeface="Helvetica Neue"/>
              </a:rPr>
              <a:t>làm lại cho sạch, và bác bỏ chính giả thuyết của mình.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00100" y="5250000"/>
            <a:ext cx="2400000" cy="0"/>
          </a:xfrm>
          <a:prstGeom prst="line">
            <a:avLst/>
          </a:prstGeom>
          <a:ln w="25400">
            <a:solidFill>
              <a:srgbClr val="9E2B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00100" y="5480000"/>
            <a:ext cx="6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61A"/>
                </a:solidFill>
                <a:latin typeface="Helvetica Neue"/>
              </a:rPr>
              <a:t>Nguyễn Tấn Sang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5820000"/>
            <a:ext cx="6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8D96"/>
                </a:solidFill>
                <a:latin typeface="Helvetica Neue"/>
              </a:rPr>
              <a:t>12 tháng 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NỘI DUNG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Những gì trình bày hôm nay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170000"/>
            <a:ext cx="5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E2B34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100" y="2150000"/>
            <a:ext cx="4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6161A"/>
                </a:solidFill>
                <a:latin typeface="Helvetica Neue"/>
              </a:rPr>
              <a:t>Câu hỏi nghiên cứu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0100" y="2170000"/>
            <a:ext cx="6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A8D96"/>
                </a:solidFill>
                <a:latin typeface="Helvetica Neue"/>
              </a:rPr>
              <a:t>và độ lệch của máy chấm, đã đo trước khi chạy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00100" y="2580000"/>
            <a:ext cx="9891495" cy="0"/>
          </a:xfrm>
          <a:prstGeom prst="line">
            <a:avLst/>
          </a:prstGeom>
          <a:ln w="9525">
            <a:solidFill>
              <a:srgbClr val="E6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00100" y="2730000"/>
            <a:ext cx="5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E2B34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0100" y="2710000"/>
            <a:ext cx="4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6161A"/>
                </a:solidFill>
                <a:latin typeface="Helvetica Neue"/>
              </a:rPr>
              <a:t>Kết quả đầu tiên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0100" y="2730000"/>
            <a:ext cx="6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A8D96"/>
                </a:solidFill>
                <a:latin typeface="Helvetica Neue"/>
              </a:rPr>
              <a:t>cả hai model đều sụp — tưởng đã xác nhận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00100" y="3140000"/>
            <a:ext cx="9891495" cy="0"/>
          </a:xfrm>
          <a:prstGeom prst="line">
            <a:avLst/>
          </a:prstGeom>
          <a:ln w="9525">
            <a:solidFill>
              <a:srgbClr val="E6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0100" y="3290000"/>
            <a:ext cx="5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E2B34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0100" y="3270000"/>
            <a:ext cx="4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6161A"/>
                </a:solidFill>
                <a:latin typeface="Helvetica Neue"/>
              </a:rPr>
              <a:t>Phát hiện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0100" y="3290000"/>
            <a:ext cx="6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A8D96"/>
                </a:solidFill>
                <a:latin typeface="Helvetica Neue"/>
              </a:rPr>
              <a:t>thiết kế đo có hai lỗ hổng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00100" y="3700000"/>
            <a:ext cx="9891495" cy="0"/>
          </a:xfrm>
          <a:prstGeom prst="line">
            <a:avLst/>
          </a:prstGeom>
          <a:ln w="9525">
            <a:solidFill>
              <a:srgbClr val="E6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0100" y="3850000"/>
            <a:ext cx="5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E2B34"/>
                </a:solidFill>
                <a:latin typeface="Georg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0100" y="3830000"/>
            <a:ext cx="4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6161A"/>
                </a:solidFill>
                <a:latin typeface="Helvetica Neue"/>
              </a:rPr>
              <a:t>Làm lại cho sạch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0100" y="3850000"/>
            <a:ext cx="6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A8D96"/>
                </a:solidFill>
                <a:latin typeface="Helvetica Neue"/>
              </a:rPr>
              <a:t>năm lần chạy cô lập, có đối chứng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00100" y="4260000"/>
            <a:ext cx="9891495" cy="0"/>
          </a:xfrm>
          <a:prstGeom prst="line">
            <a:avLst/>
          </a:prstGeom>
          <a:ln w="9525">
            <a:solidFill>
              <a:srgbClr val="E6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00100" y="4410000"/>
            <a:ext cx="5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E2B34"/>
                </a:solidFill>
                <a:latin typeface="Georgia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0100" y="4390000"/>
            <a:ext cx="4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6161A"/>
                </a:solidFill>
                <a:latin typeface="Helvetica Neue"/>
              </a:rPr>
              <a:t>Đối chứng quyết định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0100" y="4410000"/>
            <a:ext cx="6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A8D96"/>
                </a:solidFill>
                <a:latin typeface="Helvetica Neue"/>
              </a:rPr>
              <a:t>và vì sao kết quả lại như vậy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00100" y="4820000"/>
            <a:ext cx="9891495" cy="0"/>
          </a:xfrm>
          <a:prstGeom prst="line">
            <a:avLst/>
          </a:prstGeom>
          <a:ln w="9525">
            <a:solidFill>
              <a:srgbClr val="E6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00100" y="4970000"/>
            <a:ext cx="5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E2B34"/>
                </a:solidFill>
                <a:latin typeface="Georgia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0100" y="4950000"/>
            <a:ext cx="4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6161A"/>
                </a:solidFill>
                <a:latin typeface="Helvetica Neue"/>
              </a:rPr>
              <a:t>Đề tài thu hẹp lại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0100" y="4970000"/>
            <a:ext cx="6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A8D96"/>
                </a:solidFill>
                <a:latin typeface="Helvetica Neue"/>
              </a:rPr>
              <a:t>phạm vi mới, và việc còn phải làm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CÂU HỎI NGHIÊN CỨU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Máy chấm tự động có làm ảo hoá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việc “tự cải thiện”?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100" y="1980000"/>
            <a:ext cx="10831495" cy="142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0100" y="2130000"/>
            <a:ext cx="10351495" cy="11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6161A"/>
                </a:solidFill>
                <a:latin typeface="Georgia"/>
              </a:rPr>
              <a:t>Cho model tự sinh lời giải, dùng máy chấm tự động lọc bài đúng, rồi dạy lại chính nó, lặp nhiều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6161A"/>
                </a:solidFill>
                <a:latin typeface="Georgia"/>
              </a:rPr>
              <a:t>vòng. Nếu máy chấm sai có quy luật, liệu model có chỉ giỏi lên ở việc viết đúng kiểu máy chấm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6161A"/>
                </a:solidFill>
                <a:latin typeface="Georgia"/>
              </a:rPr>
              <a:t>ưa, thay vì giỏi toán thật?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620000"/>
            <a:ext cx="10591495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Độ lệch máy chấm — đã đo trước khi chạy, không giả định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900000"/>
            <a:ext cx="33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9E2B34"/>
                </a:solidFill>
                <a:latin typeface="Georgia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4750000"/>
            <a:ext cx="33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lời giải ĐÚNG nhưng viết \dfrac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thay vì \frac bị gạch — 146/146 lần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0100" y="3900000"/>
            <a:ext cx="33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B85C00"/>
                </a:solidFill>
                <a:latin typeface="Georgia"/>
              </a:rPr>
              <a:t>7,8%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0100" y="4750000"/>
            <a:ext cx="33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tỉ lệ gạch nhầm bài đúng trên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MATH-500, kiểm tra thủ công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100" y="3900000"/>
            <a:ext cx="33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029E73"/>
                </a:solidFill>
                <a:latin typeface="Georgia"/>
              </a:rPr>
              <a:t>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100" y="4750000"/>
            <a:ext cx="33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trên GSM8K — đáp án là số nguyên,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máy chấm gần như không lệch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5850000"/>
            <a:ext cx="10591495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Giả thuyết: độ lệch một chiều này lặp qua nhiều vòng sẽ làm tập train co hẹp và lệch dần → model sụp.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QUY TRÌNH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Một vòng Generate → Verify → Train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" y="2050000"/>
            <a:ext cx="3300000" cy="162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0100" y="2230000"/>
            <a:ext cx="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E2B34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100" y="2650000"/>
            <a:ext cx="29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161A"/>
                </a:solidFill>
                <a:latin typeface="Helvetica Neue"/>
              </a:rPr>
              <a:t>Generate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100" y="3030000"/>
            <a:ext cx="29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Model sinh k lời giải cho mỗi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đề (k=8), bằng sampling.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0100" y="2050000"/>
            <a:ext cx="3300000" cy="162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0100" y="2230000"/>
            <a:ext cx="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E2B34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0100" y="2650000"/>
            <a:ext cx="29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161A"/>
                </a:solidFill>
                <a:latin typeface="Helvetica Neue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0100" y="3030000"/>
            <a:ext cx="29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Máy chấm so đáp án cuối với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đáp án chuẩn — chỉ giữ bài đúng.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100" y="2050000"/>
            <a:ext cx="3300000" cy="162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0100" y="2230000"/>
            <a:ext cx="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E2B3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0100" y="2650000"/>
            <a:ext cx="29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161A"/>
                </a:solidFill>
                <a:latin typeface="Helvetica Neue"/>
              </a:rPr>
              <a:t>Train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0100" y="3030000"/>
            <a:ext cx="29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Fine-tune LoRA trên đúng các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lời giải vừa giữ, rồi lặp lại.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0100" y="3980000"/>
            <a:ext cx="10591495" cy="0"/>
          </a:xfrm>
          <a:prstGeom prst="line">
            <a:avLst/>
          </a:prstGeom>
          <a:ln w="9525">
            <a:solidFill>
              <a:srgbClr val="E6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0100" y="4180000"/>
            <a:ext cx="10591495" cy="11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3F4149"/>
                </a:solidFill>
                <a:latin typeface="Helvetica Neue"/>
              </a:rPr>
              <a:t>Điểm mấu chốt: mỗi vòng train một adapter MỚI từ model gốc, chỉ học trên tập bài mà máy chấm đã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3F4149"/>
                </a:solidFill>
                <a:latin typeface="Helvetica Neue"/>
              </a:rPr>
              <a:t>chấp nhận ở vòng trước. Nếu máy chấm gạch oan theo một hướng cố định, tập train mỗi vòng lệch dần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3F4149"/>
                </a:solidFill>
                <a:latin typeface="Helvetica Neue"/>
              </a:rPr>
              <a:t>theo hướng đó — và vì tập đó do chính vòng trước sinh ra, độ lệch không tự triệt tiêu.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0100" y="5450000"/>
            <a:ext cx="10831495" cy="62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100" y="5640000"/>
            <a:ext cx="10351495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6161A"/>
                </a:solidFill>
                <a:latin typeface="Helvetica Neue"/>
              </a:rPr>
              <a:t>Hai thước đo dùng xuyên suốt:   pass@1 = làm 1 lần có đúng không.   pass@8 = cho làm 8 lần, có lần nào đúng không.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KẾT QUẢ ĐẦU TIÊN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Cả hai model đều sụp — tưởng đã xác nhận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050000"/>
            <a:ext cx="31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ĐO TRÊN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00100" y="2050000"/>
            <a:ext cx="2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PASS@1  VÒNG 0→4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100" y="2050000"/>
            <a:ext cx="2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PASS@8  VÒNG 0→4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00100" y="2050000"/>
            <a:ext cx="26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MỨC GIẢM PASS@8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0100" y="2430000"/>
            <a:ext cx="10831495" cy="189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" y="2570000"/>
            <a:ext cx="31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Qwen 0.5B — gộp 2 bộ đề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0100" y="2570000"/>
            <a:ext cx="2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31,1% → 27,4%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100" y="2570000"/>
            <a:ext cx="2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60,5% → 54,9%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0100" y="2570000"/>
            <a:ext cx="26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−5,6 điểm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0100" y="2945000"/>
            <a:ext cx="10671495" cy="0"/>
          </a:xfrm>
          <a:prstGeom prst="line">
            <a:avLst/>
          </a:prstGeom>
          <a:ln w="9525">
            <a:solidFill>
              <a:srgbClr val="E9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0100" y="3000000"/>
            <a:ext cx="31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Qwen 1.5B — gộp 2 bộ đề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0100" y="3000000"/>
            <a:ext cx="2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50,0% → 18,6%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100" y="3000000"/>
            <a:ext cx="2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72,6% → 48,6%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0100" y="3000000"/>
            <a:ext cx="26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−24,0 điểm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0100" y="3375000"/>
            <a:ext cx="10671495" cy="0"/>
          </a:xfrm>
          <a:prstGeom prst="line">
            <a:avLst/>
          </a:prstGeom>
          <a:ln w="9525">
            <a:solidFill>
              <a:srgbClr val="E9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00100" y="3430000"/>
            <a:ext cx="31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1.5B, tách riêng GSM8K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0100" y="3430000"/>
            <a:ext cx="2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69,6% → 26,6%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100" y="3430000"/>
            <a:ext cx="2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91,4% → 65,8%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0100" y="3430000"/>
            <a:ext cx="26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−25,6 điểm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0100" y="3805000"/>
            <a:ext cx="10671495" cy="0"/>
          </a:xfrm>
          <a:prstGeom prst="line">
            <a:avLst/>
          </a:prstGeom>
          <a:ln w="9525">
            <a:solidFill>
              <a:srgbClr val="E9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00100" y="3860000"/>
            <a:ext cx="31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1.5B, tách riêng MATH-500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00100" y="3860000"/>
            <a:ext cx="2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30,4% → 10,6%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100" y="3860000"/>
            <a:ext cx="2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53,8% → 31,4%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0100" y="3860000"/>
            <a:ext cx="26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−22,4 điểm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" y="4650000"/>
            <a:ext cx="10591495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3F4149"/>
                </a:solidFill>
                <a:latin typeface="Helvetica Neue"/>
              </a:rPr>
              <a:t>Giảm liên tục qua cả 5 vòng, không vòng nào tăng lại, model to hơn sụp nặng hơn hẳn.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3F4149"/>
                </a:solidFill>
                <a:latin typeface="Helvetica Neue"/>
              </a:rPr>
              <a:t>Nếu dừng ở đây, đây là một kết quả rất đẹp cho giả thuyết ban đầu.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0100" y="5500000"/>
            <a:ext cx="10831495" cy="560000"/>
          </a:xfrm>
          <a:prstGeom prst="roundRect">
            <a:avLst>
              <a:gd name="adj" fmla="val 4000"/>
            </a:avLst>
          </a:prstGeom>
          <a:solidFill>
            <a:srgbClr val="FD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0100" y="5670000"/>
            <a:ext cx="10351495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9E2B34"/>
                </a:solidFill>
                <a:latin typeface="Helvetica Neue"/>
              </a:rPr>
              <a:t>Nhưng có một chi tiết không khớp:  GSM8K — bộ mà máy chấm gần như KHÔNG lệch — lại sụp nhiều nhất.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PHÁT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Thiết kế đo có hai lỗ hổng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1620000"/>
            <a:ext cx="10591495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9E2B34"/>
                </a:solidFill>
                <a:latin typeface="Helvetica Neue"/>
              </a:rPr>
              <a:t>LỖ HỔNG 1 — hai bộ đề bị trộn chung vào MỘT adapter khi train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2000000"/>
            <a:ext cx="31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TỈ LỆ TRONG TẬP TRAIN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0100" y="2000000"/>
            <a:ext cx="14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VÒNG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100" y="2000000"/>
            <a:ext cx="14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100" y="2000000"/>
            <a:ext cx="14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0100" y="2000000"/>
            <a:ext cx="14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00100" y="2000000"/>
            <a:ext cx="14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0100" y="2380000"/>
            <a:ext cx="10831495" cy="137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" y="2520000"/>
            <a:ext cx="31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F4149"/>
                </a:solidFill>
                <a:latin typeface="Helvetica Neue"/>
              </a:rPr>
              <a:t>Lời giải giữ — GSM8K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0100" y="25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F4149"/>
                </a:solidFill>
                <a:latin typeface="Helvetica Neue"/>
              </a:rPr>
              <a:t>2725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0100" y="25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F4149"/>
                </a:solidFill>
                <a:latin typeface="Helvetica Neue"/>
              </a:rPr>
              <a:t>2551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100" y="25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F4149"/>
                </a:solidFill>
                <a:latin typeface="Helvetica Neue"/>
              </a:rPr>
              <a:t>2356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0100" y="25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F4149"/>
                </a:solidFill>
                <a:latin typeface="Helvetica Neue"/>
              </a:rPr>
              <a:t>1837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0100" y="25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F4149"/>
                </a:solidFill>
                <a:latin typeface="Helvetica Neue"/>
              </a:rPr>
              <a:t>1100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0100" y="2865000"/>
            <a:ext cx="10671495" cy="0"/>
          </a:xfrm>
          <a:prstGeom prst="line">
            <a:avLst/>
          </a:prstGeom>
          <a:ln w="9525">
            <a:solidFill>
              <a:srgbClr val="E9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00100" y="2920000"/>
            <a:ext cx="31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F4149"/>
                </a:solidFill>
                <a:latin typeface="Helvetica Neue"/>
              </a:rPr>
              <a:t>Lời giải giữ — MATH-500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0100" y="29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F4149"/>
                </a:solidFill>
                <a:latin typeface="Helvetica Neue"/>
              </a:rPr>
              <a:t>1237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00100" y="29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F4149"/>
                </a:solidFill>
                <a:latin typeface="Helvetica Neue"/>
              </a:rPr>
              <a:t>1179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0100" y="29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F4149"/>
                </a:solidFill>
                <a:latin typeface="Helvetica Neue"/>
              </a:rPr>
              <a:t>1039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0100" y="29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F4149"/>
                </a:solidFill>
                <a:latin typeface="Helvetica Neue"/>
              </a:rPr>
              <a:t>800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0100" y="29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F4149"/>
                </a:solidFill>
                <a:latin typeface="Helvetica Neue"/>
              </a:rPr>
              <a:t>466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60100" y="3265000"/>
            <a:ext cx="10671495" cy="0"/>
          </a:xfrm>
          <a:prstGeom prst="line">
            <a:avLst/>
          </a:prstGeom>
          <a:ln w="9525">
            <a:solidFill>
              <a:srgbClr val="E9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00100" y="3320000"/>
            <a:ext cx="31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6161A"/>
                </a:solidFill>
                <a:latin typeface="Helvetica Neue"/>
              </a:rPr>
              <a:t>% GSM8K trong tập train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0100" y="33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6161A"/>
                </a:solidFill>
                <a:latin typeface="Helvetica Neue"/>
              </a:rPr>
              <a:t>68,8%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0100" y="33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6161A"/>
                </a:solidFill>
                <a:latin typeface="Helvetica Neue"/>
              </a:rPr>
              <a:t>68,4%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00100" y="33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6161A"/>
                </a:solidFill>
                <a:latin typeface="Helvetica Neue"/>
              </a:rPr>
              <a:t>69,4%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0100" y="33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6161A"/>
                </a:solidFill>
                <a:latin typeface="Helvetica Neue"/>
              </a:rPr>
              <a:t>69,7%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00100" y="33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6161A"/>
                </a:solidFill>
                <a:latin typeface="Helvetica Neue"/>
              </a:rPr>
              <a:t>70,2%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" y="4030000"/>
            <a:ext cx="10591495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Tập train luôn nghiêng ~69% về GSM8K. Điểm của MATH-500 vì thế phụ thuộc vào chuyện xảy ra bên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GSM8K, và ngược lại — không cách nào tách “tại verifier lệch” khỏi “tại lây từ bộ kia”.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0100" y="4790000"/>
            <a:ext cx="10831495" cy="880000"/>
          </a:xfrm>
          <a:prstGeom prst="roundRect">
            <a:avLst>
              <a:gd name="adj" fmla="val 4000"/>
            </a:avLst>
          </a:prstGeom>
          <a:solidFill>
            <a:srgbClr val="FD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0100" y="4930000"/>
            <a:ext cx="10351495" cy="6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1">
                <a:solidFill>
                  <a:srgbClr val="9E2B34"/>
                </a:solidFill>
                <a:latin typeface="Helvetica Neue"/>
              </a:rPr>
              <a:t>LỖ HỔNG 2 — chấm điểm trên chính những đề đã dùng để chọn bài train.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1">
                <a:solidFill>
                  <a:srgbClr val="9E2B34"/>
                </a:solidFill>
                <a:latin typeface="Helvetica Neue"/>
              </a:rPr>
              <a:t>Nên “sụp” có thể chỉ là hết thuộc bài, không phải mất năng lực thật.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LÀM LẠI CHO SẠCH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Năm lần chạy cô lập, có đối chứng kiểm soát biến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1520000"/>
            <a:ext cx="10591495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8A8D96"/>
                </a:solidFill>
                <a:latin typeface="Helvetica Neue"/>
              </a:rPr>
              <a:t>Tất cả: Qwen2.5-1.5B · 500 đề · 5 vòng · k=8 · tách riêng 30% đề làm đề thi chưa từng dùng để train.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2150000"/>
            <a:ext cx="2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LẦN CHẠY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0100" y="2150000"/>
            <a:ext cx="23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BỘ ĐỀ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100" y="2150000"/>
            <a:ext cx="23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VERIFIER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0100" y="2150000"/>
            <a:ext cx="14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00100" y="215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GPU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0100" y="2530000"/>
            <a:ext cx="10831495" cy="232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2670000"/>
            <a:ext cx="27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0100" y="267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MATH-500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0100" y="267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gốc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0100" y="267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00100" y="2670000"/>
            <a:ext cx="16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~5 giờ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0100" y="3045000"/>
            <a:ext cx="10671495" cy="0"/>
          </a:xfrm>
          <a:prstGeom prst="line">
            <a:avLst/>
          </a:prstGeom>
          <a:ln w="9525">
            <a:solidFill>
              <a:srgbClr val="E9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0100" y="3100000"/>
            <a:ext cx="27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A — lặp lại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0100" y="310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MATH-500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0100" y="310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gốc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0100" y="310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00100" y="3100000"/>
            <a:ext cx="16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~5 giờ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0100" y="3475000"/>
            <a:ext cx="10671495" cy="0"/>
          </a:xfrm>
          <a:prstGeom prst="line">
            <a:avLst/>
          </a:prstGeom>
          <a:ln w="9525">
            <a:solidFill>
              <a:srgbClr val="E9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00100" y="3530000"/>
            <a:ext cx="27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B  ·  đối chứng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0100" y="353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MATH-500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0100" y="353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ĐÃ VÁ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0100" y="353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0100" y="3530000"/>
            <a:ext cx="16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~5 giờ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60100" y="3905000"/>
            <a:ext cx="10671495" cy="0"/>
          </a:xfrm>
          <a:prstGeom prst="line">
            <a:avLst/>
          </a:prstGeom>
          <a:ln w="9525">
            <a:solidFill>
              <a:srgbClr val="E9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00100" y="3960000"/>
            <a:ext cx="27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B — lặp lại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0100" y="396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MATH-500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00100" y="396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ĐÃ VÁ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0100" y="396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0100" y="3960000"/>
            <a:ext cx="16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~5 giờ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60100" y="4335000"/>
            <a:ext cx="10671495" cy="0"/>
          </a:xfrm>
          <a:prstGeom prst="line">
            <a:avLst/>
          </a:prstGeom>
          <a:ln w="9525">
            <a:solidFill>
              <a:srgbClr val="E9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00100" y="4390000"/>
            <a:ext cx="27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0100" y="439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GSM8K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00100" y="439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gốc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0100" y="439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00100" y="4390000"/>
            <a:ext cx="16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~5,5 giờ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0100" y="5150000"/>
            <a:ext cx="10831495" cy="780000"/>
          </a:xfrm>
          <a:prstGeom prst="roundRect">
            <a:avLst>
              <a:gd name="adj" fmla="val 4000"/>
            </a:avLst>
          </a:prstGeom>
          <a:solidFill>
            <a:srgbClr val="F0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0100" y="5310000"/>
            <a:ext cx="10351495" cy="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1">
                <a:solidFill>
                  <a:srgbClr val="0173B2"/>
                </a:solidFill>
                <a:latin typeface="Helvetica Neue"/>
              </a:rPr>
              <a:t>A và B khác nhau đúng MỘT biến: verifier có được vá hay không. Đây là thí nghiệm đối chứng mà thiết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1">
                <a:solidFill>
                  <a:srgbClr val="0173B2"/>
                </a:solidFill>
                <a:latin typeface="Helvetica Neue"/>
              </a:rPr>
              <a:t>kế cũ không thể có — và là phép thử trực tiếp cho giả thuyết của đề tài.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" y="6350000"/>
            <a:ext cx="10591495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D96"/>
                </a:solidFill>
                <a:latin typeface="Helvetica Neue"/>
              </a:rPr>
              <a:t>Tổng ~25 giờ GPU Kaggle, chia nhiều phiên; kết quả lưu sau mỗi vòng để không mất khi phiên bị ngắt.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KẾT QUẢ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Cú sụp không tái lập khi đo đúng cách</a:t>
            </a:r>
          </a:p>
        </p:txBody>
      </p:sp>
      <p:pic>
        <p:nvPicPr>
          <p:cNvPr id="5" name="Picture 4" descr="deck_collap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847" y="1720000"/>
            <a:ext cx="9300000" cy="39481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" y="5830000"/>
            <a:ext cx="10591495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pass@8 đo “model còn giải được bài không nếu cho thử 8 lần”. Thiết kế gộp mất 22–26 điểm;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cô lập xong thì đi ngang. Phần “mất năng lực” đến từ cách đo, không phải từ verifier.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ĐỐI CHỨNG QUYẾT ĐỊNH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Vá verifier không thay đổi bất cứ điều gì</a:t>
            </a:r>
          </a:p>
        </p:txBody>
      </p:sp>
      <p:pic>
        <p:nvPicPr>
          <p:cNvPr id="5" name="Picture 4" descr="deck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847" y="1720000"/>
            <a:ext cx="9300000" cy="37726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" y="5660000"/>
            <a:ext cx="10591495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Hai đường nằm chồng lên nhau ở cả hai seed. Vá đúng chỗ verifier lệch — thứ mà cả đề tài đặt giả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thuyết là nguyên nhân — không tạo ra khác biệt đo được.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6400000"/>
            <a:ext cx="10591495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D96"/>
                </a:solidFill>
                <a:latin typeface="Helvetica Neue"/>
              </a:rPr>
              <a:t>Đề thi 150 đề, 1 đề ≈ 0,67 điểm. Khoảng cách A–B lớn nhất là 0,6 điểm — đúng một đề.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E88A92"/>
                </a:solidFill>
                <a:latin typeface="Helvetica Neue"/>
              </a:rPr>
              <a:t>VÌ SAO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83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Georgia"/>
              </a:rPr>
              <a:t>Mức độ nặng khác với tần suất xảy 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150000"/>
            <a:ext cx="33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Georgia"/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150000"/>
            <a:ext cx="33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9A9CA5"/>
                </a:solidFill>
                <a:latin typeface="Helvetica Neue"/>
              </a:rPr>
              <a:t>tỉ lệ máy chấm gạch SAI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9A9CA5"/>
                </a:solidFill>
                <a:latin typeface="Helvetica Neue"/>
              </a:rPr>
              <a:t>khi gặp \dfrac — nghe rất nặng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80100" y="2300000"/>
            <a:ext cx="3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5A5C66"/>
                </a:solidFill>
                <a:latin typeface="Helvetica Neue"/>
              </a:rPr>
              <a:t>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60100" y="2150000"/>
            <a:ext cx="33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Georgia"/>
              </a:rPr>
              <a:t>0,55%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0100" y="3150000"/>
            <a:ext cx="33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9A9CA5"/>
                </a:solidFill>
                <a:latin typeface="Helvetica Neue"/>
              </a:rPr>
              <a:t>nhưng cách viết đó chỉ xuất hiện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9A9CA5"/>
                </a:solidFill>
                <a:latin typeface="Helvetica Neue"/>
              </a:rPr>
              <a:t>22/4000 lời giải. GSM8K: 0 lần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0100" y="2300000"/>
            <a:ext cx="3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5A5C66"/>
                </a:solidFill>
                <a:latin typeface="Helvetica Neue"/>
              </a:rPr>
              <a:t>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100" y="2150000"/>
            <a:ext cx="33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FFC94D"/>
                </a:solidFill>
                <a:latin typeface="Georgia"/>
              </a:rPr>
              <a:t>0,55%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100" y="3150000"/>
            <a:ext cx="33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9A9CA5"/>
                </a:solidFill>
                <a:latin typeface="Helvetica Neue"/>
              </a:rPr>
              <a:t>nhân hai số — phần tập train bị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9A9CA5"/>
                </a:solidFill>
                <a:latin typeface="Helvetica Neue"/>
              </a:rPr>
              <a:t>loại oan. Không thể gây sụp 20 điểm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0100" y="4350000"/>
            <a:ext cx="10591495" cy="0"/>
          </a:xfrm>
          <a:prstGeom prst="line">
            <a:avLst/>
          </a:prstGeom>
          <a:ln w="9525">
            <a:solidFill>
              <a:srgbClr val="333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0100" y="4600000"/>
            <a:ext cx="10591495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D6D7DC"/>
                </a:solidFill>
                <a:latin typeface="Helvetica Neue"/>
              </a:rPr>
              <a:t>Đo trực tiếp: ở vòng 0 model chưa học gì, A và B sinh ra ĐÚNG CÙNG bộ lời giải — khác nhau duy nhất là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D6D7DC"/>
                </a:solidFill>
                <a:latin typeface="Helvetica Neue"/>
              </a:rPr>
              <a:t>verifier nào chấm. Bản vá đổi kết quả của 0 đề (seed 0) và 1 đề (seed 1) trên 150 đề.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5750000"/>
            <a:ext cx="10591495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FFC94D"/>
                </a:solidFill>
                <a:latin typeface="Helvetica Neue"/>
              </a:rPr>
              <a:t>Các con số “verifier sai X%” trong bài báo khác đều là mức-nặng-có-điều-kiện. Tác động thật = mức nặng × tần suất.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ĐỀ TÀI THU HẸP LẠI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Từ ‘phát hiện cơ chế gây hại’ sang ‘cảnh báo cách đo’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100" y="1950000"/>
            <a:ext cx="5100000" cy="312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0100" y="2150000"/>
            <a:ext cx="1500000" cy="300000"/>
          </a:xfrm>
          <a:prstGeom prst="roundRect">
            <a:avLst>
              <a:gd name="adj" fmla="val 50000"/>
            </a:avLst>
          </a:prstGeom>
          <a:solidFill>
            <a:srgbClr val="8A8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Helvetica Neue"/>
              </a:rPr>
              <a:t>ĐÃ BỊ BÁC BỎ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0100" y="2650000"/>
            <a:ext cx="47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8A8D96"/>
                </a:solidFill>
                <a:latin typeface="Georgia"/>
              </a:rPr>
              <a:t>“Verifier lệch vì văn phong gây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8A8D96"/>
                </a:solidFill>
                <a:latin typeface="Georgia"/>
              </a:rPr>
              <a:t>sụp năng lực trong self-training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8A8D96"/>
                </a:solidFill>
                <a:latin typeface="Georgia"/>
              </a:rPr>
              <a:t>lặp vòng.”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0100" y="3950000"/>
            <a:ext cx="47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8A8D96"/>
                </a:solidFill>
                <a:latin typeface="Helvetica Neue"/>
              </a:rPr>
              <a:t>Bị bác bỏ bởi chính thí nghiệm đối chứng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8A8D96"/>
                </a:solidFill>
                <a:latin typeface="Helvetica Neue"/>
              </a:rPr>
              <a:t>dựng ra để kiểm tra nó — đo trực tiếp,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8A8D96"/>
                </a:solidFill>
                <a:latin typeface="Helvetica Neue"/>
              </a:rPr>
              <a:t>2 lần lặp độc lập.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0100" y="1950000"/>
            <a:ext cx="5310000" cy="3120000"/>
          </a:xfrm>
          <a:prstGeom prst="roundRect">
            <a:avLst>
              <a:gd name="adj" fmla="val 4000"/>
            </a:avLst>
          </a:prstGeom>
          <a:solidFill>
            <a:srgbClr val="F0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0100" y="2150000"/>
            <a:ext cx="1600000" cy="300000"/>
          </a:xfrm>
          <a:prstGeom prst="roundRect">
            <a:avLst>
              <a:gd name="adj" fmla="val 50000"/>
            </a:avLst>
          </a:prstGeom>
          <a:solidFill>
            <a:srgbClr val="017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Helvetica Neue"/>
              </a:rPr>
              <a:t>TUYÊN BỐ MỚI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0100" y="2650000"/>
            <a:ext cx="48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16161A"/>
                </a:solidFill>
                <a:latin typeface="Georgia"/>
              </a:rPr>
              <a:t>“Gộp nhiều bộ đề vào một lần train,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16161A"/>
                </a:solidFill>
                <a:latin typeface="Georgia"/>
              </a:rPr>
              <a:t>cộng với chấm điểm trên chính đề đã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16161A"/>
                </a:solidFill>
                <a:latin typeface="Georgia"/>
              </a:rPr>
              <a:t>học, đủ để tạo ra hiện tượng ‘sụp’ giả.”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0100" y="3950000"/>
            <a:ext cx="48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Kèm quy tắc đọc số: tác động thật của một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lỗi verifier = mức nặng × tần suất, và tần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suất phải đo trong chính pipeline của mình.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5330000"/>
            <a:ext cx="10591495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3F4149"/>
                </a:solidFill>
                <a:latin typeface="Helvetica Neue"/>
              </a:rPr>
              <a:t>Phạm vi hẹp hơn dự tính ban đầu, nhưng trung thực và tra lại được — và cái bẫy phương pháp này đang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3F4149"/>
                </a:solidFill>
                <a:latin typeface="Helvetica Neue"/>
              </a:rPr>
              <a:t>khá phổ biến, nên vẫn là đóng góp dùng lại được.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CÂU HỎI CÒN MỞ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Một khả năng chưa loại trừ được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1620000"/>
            <a:ext cx="10591495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6161A"/>
                </a:solidFill>
                <a:latin typeface="Helvetica Neue"/>
              </a:rPr>
              <a:t>Trong cả 7 lần chạy, pass@1 luôn rớt ~3 điểm ở vòng 1 rồi đứng yên. Nhưng STaR, RFT, ReST-EM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6161A"/>
                </a:solidFill>
                <a:latin typeface="Helvetica Neue"/>
              </a:rPr>
              <a:t>đều báo cáo self-training làm model KHÁ LÊN. Vì sao của em ngược?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0100" y="2550000"/>
            <a:ext cx="10831495" cy="82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100" y="2720000"/>
            <a:ext cx="10351495" cy="5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Cách giải thích tầm thường chưa loại trừ: model đã được tinh chỉnh kỹ sẵn. Một lần SFT ngắn (~40 bước)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có thể chỉ làm nó xê dịch khỏi trạng thái đã tinh chỉnh — bất kể dạy nó bằng dữ liệu gì.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650000"/>
            <a:ext cx="10591495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THÍ NGHIỆM PHÂN ĐỊNH — đã viết code xong, đang chờ GPU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" y="4100000"/>
            <a:ext cx="5190000" cy="135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40100" y="4280000"/>
            <a:ext cx="1700000" cy="310000"/>
          </a:xfrm>
          <a:prstGeom prst="roundRect">
            <a:avLst>
              <a:gd name="adj" fmla="val 50000"/>
            </a:avLst>
          </a:prstGeom>
          <a:solidFill>
            <a:srgbClr val="02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Helvetica Neue"/>
              </a:rPr>
              <a:t>Nếu KHÁ LÊN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100" y="4750000"/>
            <a:ext cx="47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vòng lặp lành mạnh → “học từ output của chính mình”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đúng là cái gây hại. Đề tài có phát hiện dương.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0100" y="4100000"/>
            <a:ext cx="5190000" cy="135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0100" y="4280000"/>
            <a:ext cx="1700000" cy="310000"/>
          </a:xfrm>
          <a:prstGeom prst="roundRect">
            <a:avLst>
              <a:gd name="adj" fmla="val 50000"/>
            </a:avLst>
          </a:prstGeom>
          <a:solidFill>
            <a:srgbClr val="B8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Helvetica Neue"/>
              </a:rPr>
              <a:t>Nếu CŨNG RỚT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0100" y="4750000"/>
            <a:ext cx="47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cú rớt là chi phí của SFT, không phải của self-training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→ phải viết lại kết luận lần nữa.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5750000"/>
            <a:ext cx="10591495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8A8D96"/>
                </a:solidFill>
                <a:latin typeface="Helvetica Neue"/>
              </a:rPr>
              <a:t>Chạy lại đúng vòng lặp nhưng dạy bằng lời giải mẫu của bộ đề, thay vì lời giải model tự sinh.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THẢO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Giới hạn — nói trước, không giấu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100" y="2000000"/>
            <a:ext cx="10831495" cy="115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0100" y="2200000"/>
            <a:ext cx="4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E2B34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0100" y="2190000"/>
            <a:ext cx="95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161A"/>
                </a:solidFill>
                <a:latin typeface="Helvetica Neue"/>
              </a:rPr>
              <a:t>Đề thi chỉ 150 đề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0100" y="2600000"/>
            <a:ext cx="95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Một đề ≈ 0,67 điểm. Riêng việc đổi cách bốc đề thi đã làm điểm vòng 0 lệch 4,7 điểm — lớn hơn cả hiệu ứng đang đo.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0100" y="3330000"/>
            <a:ext cx="10831495" cy="115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0100" y="3530000"/>
            <a:ext cx="4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E2B34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0100" y="3520000"/>
            <a:ext cx="95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161A"/>
                </a:solidFill>
                <a:latin typeface="Helvetica Neue"/>
              </a:rPr>
              <a:t>Chỉ mới 2 lần lặp cho A và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0100" y="3930000"/>
            <a:ext cx="95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C và các lần chạy cũ mới 1 lần. Chưa đủ để nói chắc về cú rớt 12,7 điểm của GSM8K.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0100" y="4660000"/>
            <a:ext cx="10831495" cy="115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100" y="4860000"/>
            <a:ext cx="4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E2B34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0100" y="4850000"/>
            <a:ext cx="95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161A"/>
                </a:solidFill>
                <a:latin typeface="Helvetica Neue"/>
              </a:rPr>
              <a:t>So sánh cũ–mới đổi 3 thứ cùng lúc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0100" y="5260000"/>
            <a:ext cx="95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Bỏ gộp, thêm đề thi riêng, giảm số đề. Nên kết luận bác bỏ chỉ dựa trên so sánh A với B — hai lần chạy giống hệt, khác đúng một biến.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TÓM TẮT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Hai tuần, và việc tiếp theo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100" y="1900000"/>
            <a:ext cx="10831495" cy="1460000"/>
          </a:xfrm>
          <a:prstGeom prst="roundRect">
            <a:avLst>
              <a:gd name="adj" fmla="val 4000"/>
            </a:avLst>
          </a:prstGeom>
          <a:solidFill>
            <a:srgbClr val="F0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0100" y="2100000"/>
            <a:ext cx="10351495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6161A"/>
                </a:solidFill>
                <a:latin typeface="Georgia"/>
              </a:rPr>
              <a:t>Thí nghiệm đối chứng bác bỏ giả thuyết trung tâm của đề tài. Nguyên nhân đã đo được: lỗi verifier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6161A"/>
                </a:solidFill>
                <a:latin typeface="Georgia"/>
              </a:rPr>
              <a:t>tuy nặng 100% nhưng chỉ xảy ra ở 0,55% lời giải. Đề tài chuyển sang cảnh báo về cách đo —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6161A"/>
                </a:solidFill>
                <a:latin typeface="Georgia"/>
              </a:rPr>
              <a:t>hẹp hơn, nhưng đứng vững.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560000"/>
            <a:ext cx="1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E2B34"/>
                </a:solidFill>
                <a:latin typeface="Helvetica Neue"/>
              </a:rPr>
              <a:t>ĐÃ LÀM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0100" y="3545000"/>
            <a:ext cx="87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7 lần chạy (~40 giờ GPU), phát hiện và sửa lỗ hổng thiết kế đo, dựng thí nghiệm đối chứng.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4130000"/>
            <a:ext cx="1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E2B34"/>
                </a:solidFill>
                <a:latin typeface="Helvetica Neue"/>
              </a:rPr>
              <a:t>KẾT QUẢ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0100" y="4115000"/>
            <a:ext cx="87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bác bỏ giả thuyết ban đầu, và đo được nguyên nhân vì sao nó không đúng.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700000"/>
            <a:ext cx="1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E2B34"/>
                </a:solidFill>
                <a:latin typeface="Helvetica Neue"/>
              </a:rPr>
              <a:t>PHÁT HIỆN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0100" y="4685000"/>
            <a:ext cx="87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mức-nặng × tần-suất — quy tắc đọc lại mọi con số verifier-bias, kể cả của bài khác.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5270000"/>
            <a:ext cx="1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E2B34"/>
                </a:solidFill>
                <a:latin typeface="Helvetica Neue"/>
              </a:rPr>
              <a:t>ĐANG CHẠY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0100" y="5255000"/>
            <a:ext cx="87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thí nghiệm phân định “chi phí SFT” với “tác hại của self-training”.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0100" y="5850000"/>
            <a:ext cx="10591495" cy="0"/>
          </a:xfrm>
          <a:prstGeom prst="line">
            <a:avLst/>
          </a:prstGeom>
          <a:ln w="9525">
            <a:solidFill>
              <a:srgbClr val="E6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0100" y="6050000"/>
            <a:ext cx="10591495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8A8D96"/>
                </a:solidFill>
                <a:latin typeface="Helvetica Neue"/>
              </a:rPr>
              <a:t>Cảm ơn thầy đã theo dõi — rất mong nhận góp 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