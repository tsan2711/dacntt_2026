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77240" y="822960"/>
            <a:ext cx="1005840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77240" y="96012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A1F2B"/>
                </a:solidFill>
                <a:latin typeface="Cambria"/>
              </a:rPr>
              <a:t>BÁO CÁO TIẾN ĐỘ — TUẦN 2 VÀ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515600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A251D"/>
                </a:solidFill>
                <a:latin typeface="Cambria"/>
              </a:rPr>
              <a:t>Giả thuyết trung tâm bị bác bỏ bằng</a:t>
            </a:r>
          </a:p>
          <a:p>
            <a:pPr algn="l"/>
            <a:r>
              <a:rPr sz="3200" b="1">
                <a:solidFill>
                  <a:srgbClr val="2A251D"/>
                </a:solidFill>
                <a:latin typeface="Cambria"/>
              </a:rPr>
              <a:t>thí nghiệm đối chứng — và vì sao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3400000"/>
            <a:ext cx="10607040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620000"/>
            <a:ext cx="105156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5447"/>
                </a:solidFill>
                <a:latin typeface="Cambria"/>
              </a:rPr>
              <a:t>Hai tuần: từ chỗ tưởng đã xác nhận được giả thuyết, đến chỗ phát hiện thiết kế đo có lỗ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C5447"/>
                </a:solidFill>
                <a:latin typeface="Cambria"/>
              </a:rPr>
              <a:t>hổng, làm lại cho sạch, và bác bỏ chính giả thuyết của mình. Báo cáo trình bày bằng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C5447"/>
                </a:solidFill>
                <a:latin typeface="Cambria"/>
              </a:rPr>
              <a:t>chứng, nguyên nhân đo được, và phạm vi đề tài thu hẹp lại như thế nào.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51D"/>
                </a:solidFill>
                <a:latin typeface="Cambria"/>
              </a:rPr>
              <a:t>Nguyễn Tấn Sang   ·   12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NỘI DUNG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Những gì trình bày hôm nay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399"/>
            <a:ext cx="54864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772B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57399"/>
            <a:ext cx="999713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A251D"/>
                </a:solidFill>
                <a:latin typeface="Cambria"/>
              </a:rPr>
              <a:t>Câu hỏi nghiên cứu và giả thuyết ban đầu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20" y="2537399"/>
            <a:ext cx="999713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677399"/>
            <a:ext cx="54864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772B"/>
                </a:solidFill>
                <a:latin typeface="Cambr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677399"/>
            <a:ext cx="999713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A251D"/>
                </a:solidFill>
                <a:latin typeface="Cambria"/>
              </a:rPr>
              <a:t>Kết quả đầu tiên: cả hai model đều sụp — tưởng đã xác nhận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7320" y="3157399"/>
            <a:ext cx="999713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3297399"/>
            <a:ext cx="54864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772B"/>
                </a:solidFill>
                <a:latin typeface="Cambr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297399"/>
            <a:ext cx="999713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A251D"/>
                </a:solidFill>
                <a:latin typeface="Cambria"/>
              </a:rPr>
              <a:t>Phát hiện: thiết kế đo có hai lỗ hổng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3777399"/>
            <a:ext cx="999713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3917399"/>
            <a:ext cx="54864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772B"/>
                </a:solidFill>
                <a:latin typeface="Cambria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917399"/>
            <a:ext cx="999713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A251D"/>
                </a:solidFill>
                <a:latin typeface="Cambria"/>
              </a:rPr>
              <a:t>Làm lại cho sạch: 5 thí nghiệm cô lập, có đối chứng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7320" y="4397399"/>
            <a:ext cx="999713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4537399"/>
            <a:ext cx="54864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772B"/>
                </a:solidFill>
                <a:latin typeface="Cambr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537399"/>
            <a:ext cx="999713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A251D"/>
                </a:solidFill>
                <a:latin typeface="Cambria"/>
              </a:rPr>
              <a:t>Đối chứng quyết định, và vì sao kết quả lại như vậy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17320" y="5017399"/>
            <a:ext cx="999713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157399"/>
            <a:ext cx="54864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772B"/>
                </a:solidFill>
                <a:latin typeface="Cambria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157399"/>
            <a:ext cx="999713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A251D"/>
                </a:solidFill>
                <a:latin typeface="Cambria"/>
              </a:rPr>
              <a:t>Đề tài thu hẹp lại ra sao, và việc còn phải làm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417320" y="5637399"/>
            <a:ext cx="999713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CÂU HỎI NGHIÊN CỨU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Máy chấm tự động có làm ảo hoá việc “tự cải thiện”?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1920239"/>
            <a:ext cx="0" cy="1150000"/>
          </a:xfrm>
          <a:prstGeom prst="line">
            <a:avLst/>
          </a:prstGeom>
          <a:ln w="19050">
            <a:solidFill>
              <a:srgbClr val="9C77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33272" y="1874519"/>
            <a:ext cx="10381183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51D"/>
                </a:solidFill>
                <a:latin typeface="Cambria"/>
              </a:rPr>
              <a:t>“Cho model tự sinh lời giải, dùng máy chấm tự động lọc bài đúng, rồi dạy lại chính nó,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51D"/>
                </a:solidFill>
                <a:latin typeface="Cambria"/>
              </a:rPr>
              <a:t>lặp nhiều vòng. Nếu máy chấm sai có quy luật, liệu model có chỉ giỏi lên ở việc viết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51D"/>
                </a:solidFill>
                <a:latin typeface="Cambria"/>
              </a:rPr>
              <a:t>đúng kiểu máy chấm ưa, thay vì giỏi toán thật?”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345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3650000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5447"/>
                </a:solidFill>
                <a:latin typeface="Cambria"/>
              </a:rPr>
              <a:t>Em đã đo độ lệch của máy chấm trước khi chạy, không phải giả định: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50000"/>
            <a:ext cx="34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9C772B"/>
                </a:solidFill>
                <a:latin typeface="Cambria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80000"/>
            <a:ext cx="34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Lời giải ĐÚNG nhưng viết \dfrac thay vì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\frac bị gạch — 146/146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6240" y="4150000"/>
            <a:ext cx="34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9C772B"/>
                </a:solidFill>
                <a:latin typeface="Cambria"/>
              </a:rPr>
              <a:t>7,8%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6240" y="4880000"/>
            <a:ext cx="34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Tỉ lệ gạch nhầm bài đúng trên MATH-500,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kiểm tra thủ công từng bài.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5240" y="4150000"/>
            <a:ext cx="34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9C772B"/>
                </a:solidFill>
                <a:latin typeface="Cambria"/>
              </a:rPr>
              <a:t>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5240" y="4880000"/>
            <a:ext cx="34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Trên GSM8K — đáp án là số nguyên,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máy chấm gần như không lệch.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5508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Giả thuyết: độ lệch một chiều này lặp qua nhiều vòng sẽ làm tập train co hẹp và lệch dần → model sụp.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QUY TRÌNH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Một vòng Generate → Verify → 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3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772B"/>
                </a:solidFill>
                <a:latin typeface="Cambria"/>
              </a:rPr>
              <a:t>1. Generate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00000"/>
            <a:ext cx="3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Model sinh k lời giải cho mỗi đề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(k=8), bằng sampling.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6240" y="1947672"/>
            <a:ext cx="3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772B"/>
                </a:solidFill>
                <a:latin typeface="Cambria"/>
              </a:rPr>
              <a:t>2. 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6240" y="2500000"/>
            <a:ext cx="3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Máy chấm so đáp án cuối với đáp án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chuẩn — chỉ giữ bài được chấm đúng.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5240" y="1947672"/>
            <a:ext cx="3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772B"/>
                </a:solidFill>
                <a:latin typeface="Cambria"/>
              </a:rPr>
              <a:t>3. 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5240" y="2500000"/>
            <a:ext cx="3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Fine-tune LoRA trên đúng các lời giải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vừa giữ, rồi lặp lại vòng mới.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0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4220000"/>
            <a:ext cx="10637215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Điểm mấu chốt: mỗi vòng train một adapter MỚI từ model gốc, chỉ học trên tập bài mà máy chấm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đã chấp nhận ở vòng trước. Nếu máy chấm gạch oan theo một hướng cố định, tập train mỗi vòng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sẽ lệch dần theo hướng đó — và vì tập đó do chính vòng trước sinh ra, độ lệch không tự triệt tiêu.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00000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5447"/>
                </a:solidFill>
                <a:latin typeface="Cambria"/>
              </a:rPr>
              <a:t>Hai thước đo dùng xuyên suốt: pass@1 = làm 1 lần có đúng không. pass@8 = cho làm 8 lần, có lần nào đúng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KẾT QUẢ ĐẦU TIÊN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Cả hai model đều sụp — tưởng đã xác nhận giả thuyết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000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Đo trên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240" y="2100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pass@1 vòng 0→4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240" y="2100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pass@8 vòng 0→4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7240" y="210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Mức giảm pass@8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252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257500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Qwen 0.5B — gộp 2 bộ đề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240" y="257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31,1% → 27,4%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7240" y="257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60,5% → 54,9%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240" y="257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−5,6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299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304500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Qwen 1.5B — gộp 2 bộ đề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240" y="304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50,0% → 18,6%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240" y="304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72,6% → 48,6%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240" y="304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−24,0 điểm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346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351500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1.5B, tách riêng GSM8K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240" y="351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69,6% → 26,6%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7240" y="351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91,4% → 65,8%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240" y="351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−25,6 điểm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240" y="393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" y="398500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1.5B, tách riêng MATH-500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240" y="398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30,4% → 10,6%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7240" y="398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53,8% → 31,4%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240" y="398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−22,4 điểm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77240" y="44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77240" y="4600000"/>
            <a:ext cx="10637215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Giảm liên tục qua cả 5 vòng, không vòng nào tăng lại, và model to hơn sụp nặng hơn hẳn.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Nếu dừng ở đây, đây là một kết quả rất đẹp cho giả thuyết ban đầu.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Nhưng có một chi tiết không khớp: GSM8K — bộ mà máy chấm gần như KHÔNG lệch — lại sụp nhiều nhất.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5508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Kaggle T4; 500 đề mỗi bộ, k=8, 5 vòng; --dataset both (gộp cả hai bộ đề).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PHÁT HIỆN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Thiết kế đo có hai lỗ hổng, không trả lời được câu hỏi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51D"/>
                </a:solidFill>
                <a:latin typeface="Cambria"/>
              </a:rPr>
              <a:t>Lỗ hổng 1 — hai bộ đề bị trộn chung vào MỘT adapter khi train: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50000"/>
            <a:ext cx="3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Tỉ lệ trong tập 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7240" y="2450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Vòng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240" y="2450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77240" y="2450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7240" y="2450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77240" y="2450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287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925000"/>
            <a:ext cx="3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Lời giải giữ — GSM8K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77240" y="292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2725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240" y="292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2551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7240" y="292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2356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7240" y="292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1837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7240" y="292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1100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331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3365000"/>
            <a:ext cx="3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Lời giải giữ — MATH-500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7240" y="336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1237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240" y="336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1179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7240" y="336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1039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7240" y="336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800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7240" y="336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466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7240" y="375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805000"/>
            <a:ext cx="3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% GSM8K trong tập train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7240" y="380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68,8%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240" y="380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68,4%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7240" y="380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69,4%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7240" y="380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69,7%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77240" y="3805000"/>
            <a:ext cx="1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70,2%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7240" y="419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4340000"/>
            <a:ext cx="1063721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Tập train luôn nghiêng ~69% về GSM8K. Điểm của MATH-500 vì thế phụ thuộc vào chuyện xảy ra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bên GSM8K, và ngược lại — không cách nào tách “tại verifier lệch” khỏi “tại lây từ bộ kia”.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7240" y="514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77240" y="5290000"/>
            <a:ext cx="1063721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A1F2B"/>
                </a:solidFill>
                <a:latin typeface="Cambria"/>
              </a:rPr>
              <a:t>Lỗ hổng 2 — chấm điểm trên chính những đề đã dùng để chọn bài train.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7A1F2B"/>
                </a:solidFill>
                <a:latin typeface="Cambria"/>
              </a:rPr>
              <a:t>Nên “sụp” có thể chỉ là hết thuộc bài, không phải mất năng lực thật.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LÀM LẠI CHO SẠCH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Năm lần chạy cô lập, có đối chứng kiểm soát biến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1063721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C5447"/>
                </a:solidFill>
                <a:latin typeface="Cambria"/>
              </a:rPr>
              <a:t>Tất cả: Qwen2.5-1.5B, 500 đề, 5 vòng, k=8, tách riêng 30% đề làm đề thi chưa từng dùng để train.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0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Lần chạy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0000" y="2500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Bộ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0000" y="2500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Verifier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0000" y="2500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Seed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0" y="2500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GPU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292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97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0000" y="297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MATH-500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0000" y="297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gốc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0" y="297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0000" y="297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~5 giờ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" y="34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7240" y="345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A — lặp lại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0000" y="345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MATH-500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0000" y="345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gốc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0000" y="345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000" y="345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~5 giờ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7240" y="388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393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B  (đối chứng)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0000" y="393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MATH-500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0000" y="393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ĐÃ VÁ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0000" y="393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0000" y="393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~5 giờ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77240" y="436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77240" y="441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B — lặp lại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0000" y="441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MATH-500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00000" y="441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ĐÃ VÁ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0000" y="441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0000" y="441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~5 giờ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7240" y="484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77240" y="489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0000" y="489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GSM8K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00000" y="4895000"/>
            <a:ext cx="2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gốc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0000" y="489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0000" y="489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51D"/>
                </a:solidFill>
                <a:latin typeface="Cambria"/>
              </a:rPr>
              <a:t>~5,5 giờ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77240" y="532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7240" y="5500000"/>
            <a:ext cx="1063721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A và B khác nhau đúng MỘT biến: verifier có được vá hay không. Đây là thí nghiệm đối chứng mà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thiết kế cũ không thể có — và là phép thử trực tiếp cho giả thuyết của đề tài.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5508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Tổng ~25 giờ GPU Kaggle, chia nhiều phiên; kết quả lưu sau mỗi vòng để không mất khi phiên bị ngắt.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KẾT QUẢ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Cú sụp không tái lập khi đo đúng cách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00000"/>
            <a:ext cx="3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Đo trên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240" y="2000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pass@1 vòng 0→4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240" y="2000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pass@8 vòng 0→4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7240" y="2000000"/>
            <a:ext cx="2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772B"/>
                </a:solidFill>
                <a:latin typeface="Cambria"/>
              </a:rPr>
              <a:t>Kết luận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242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2475000"/>
            <a:ext cx="3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Thiết kế CŨ — gộp, GSM8K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240" y="247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69,6% → 26,6%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7240" y="247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91,4% → 65,8%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240" y="2475000"/>
            <a:ext cx="2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sụp nặng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289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2945000"/>
            <a:ext cx="3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Thiết kế CŨ — gộp, MATH-500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240" y="294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30,4% → 10,6%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240" y="294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53,8% → 31,4%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240" y="2945000"/>
            <a:ext cx="2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C5447"/>
                </a:solidFill>
                <a:latin typeface="Cambria"/>
              </a:rPr>
              <a:t>sụp nặng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336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3415000"/>
            <a:ext cx="3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A — MATH-500 cô lập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240" y="341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32,0% → 29,3%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7240" y="341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57,3% → 56,0%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240" y="3415000"/>
            <a:ext cx="2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KHÔNG sụp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240" y="383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" y="3885000"/>
            <a:ext cx="3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A — lặp lại seed khác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240" y="388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36,7% → 33,3%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7240" y="388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58,7% → 58,7%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240" y="3885000"/>
            <a:ext cx="2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KHÔNG sụp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77240" y="43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77240" y="4355000"/>
            <a:ext cx="3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C — GSM8K cô lập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240" y="435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66,7% → 54,0%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7240" y="4355000"/>
            <a:ext cx="2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92,7% → 90,0%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240" y="4355000"/>
            <a:ext cx="2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pass@8 giữ nguyên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7240" y="477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950000"/>
            <a:ext cx="10637215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Cột pass@8 là cột quan trọng: nó đo “model còn giải được bài không nếu cho thử 8 lần”.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Thiết kế cũ mất 22–26 điểm. Cô lập xong, pass@8 gần như đứng yên ở mọi lần chạy.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Phần “mất năng lực” biến mất — nó đến từ cách đo, không phải từ verifier.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ĐỐI CHỨNG QUYẾT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Vá verifier không thay đổi bất cứ điều gì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5447"/>
                </a:solidFill>
                <a:latin typeface="Cambria"/>
              </a:rPr>
              <a:t>A và B giống hệt nhau mọi mặt, chỉ khác: B đã vá đúng chỗ verifier chấm sai.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50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pass@1 mỗi vòng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0000" y="2450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Vòng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00000" y="2450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000" y="2450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000" y="2450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0000" y="2450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9C772B"/>
                </a:solidFill>
                <a:latin typeface="Cambria"/>
              </a:rPr>
              <a:t>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287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92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A seed 0 — verifier gốc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000" y="292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32,0%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0000" y="292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29,3%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000" y="292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28,0%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0000" y="292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29,3%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00" y="292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29,3%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333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338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B seed 0 — ĐÃ VÁ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0000" y="338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32,0%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0000" y="338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28,7%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000" y="338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28,7%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000" y="338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28,7%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00000" y="338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28,7%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7240" y="379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84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A seed 1 — verifier gốc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0000" y="384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36,7%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0000" y="384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32,7%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000" y="384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32,7%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0000" y="384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31,3%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00" y="384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A251D"/>
                </a:solidFill>
                <a:latin typeface="Cambria"/>
              </a:rPr>
              <a:t>33,3%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7240" y="425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4305000"/>
            <a:ext cx="26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B seed 1 — ĐÃ VÁ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0000" y="430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37,3%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0000" y="430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32,0%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000" y="430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32,7%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0000" y="430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31,3%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0000" y="4305000"/>
            <a:ext cx="15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A251D"/>
                </a:solidFill>
                <a:latin typeface="Cambria"/>
              </a:rPr>
              <a:t>33,3%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7240" y="471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77240" y="4880000"/>
            <a:ext cx="10637215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Hai đường gần như trùng nhau. Ở seed 1, từ vòng 2 trở đi con số GIỐNG HỆT nhau.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Vá đúng chỗ verifier lệch — thứ mà cả đề tài đặt giả thuyết là nguyên nhân — không tạo ra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khác biệt đo được, ở cả hai lần lặp độc lập.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35508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Đề thi 150 đề, nên 1 đề ≈ 0,67 điểm phần trăm. Khoảng cách A–B lớn nhất là 0,6 điểm — đúng một đề.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09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VÌ SAO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Mức độ nặng khác với tần suất xảy 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1063721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2A251D"/>
                </a:solidFill>
                <a:latin typeface="Cambria"/>
              </a:rPr>
              <a:t>Đây là phần em thấy giá trị nhất: không chỉ biết “vá không có tác dụng”,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2A251D"/>
                </a:solidFill>
                <a:latin typeface="Cambria"/>
              </a:rPr>
              <a:t>mà đo được vì sao nó không có tác dụng.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8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050000"/>
            <a:ext cx="3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9C772B"/>
                </a:solidFill>
                <a:latin typeface="Cambria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50000"/>
            <a:ext cx="3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Tỉ lệ verifier chấm SAI khi gặp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cách viết \dfrac — đã đo.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Nghe rất nặng.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6240" y="3050000"/>
            <a:ext cx="3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9C772B"/>
                </a:solidFill>
                <a:latin typeface="Cambr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6240" y="3850000"/>
            <a:ext cx="3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Nhưng cách viết đó chỉ xuất hiện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22/4000 lời giải mỗi vòng.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Trên GSM8K: 0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5240" y="3050000"/>
            <a:ext cx="3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9C772B"/>
                </a:solidFill>
                <a:latin typeface="Cambria"/>
              </a:rPr>
              <a:t>0,55%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240" y="3850000"/>
            <a:ext cx="3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Nhân hai số lại — đó mới là phần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tập train bị loại oan mỗi vòng.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Không thể gây sụp 20 điểm.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53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5480000"/>
            <a:ext cx="1063721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C5447"/>
                </a:solidFill>
                <a:latin typeface="Cambria"/>
              </a:rPr>
              <a:t>Đo trực tiếp: ở vòng 0 model chưa học gì, A và B sinh ra ĐÚNG CÙNG bộ lời giải — khác nhau duy nhất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5447"/>
                </a:solidFill>
                <a:latin typeface="Cambria"/>
              </a:rPr>
              <a:t>là verifier nào chấm. Bản vá đổi kết quả của 0 đề (seed 0) và 1 đề (seed 1) trên 150 đề.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10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ĐỀ TÀI THU HẸP LẠI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Từ ‘phát hiện cơ chế gây hại’ sang ‘cảnh báo cách đo’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5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A1F2B"/>
                </a:solidFill>
                <a:latin typeface="Cambria"/>
              </a:rPr>
              <a:t>TUYÊN BỐ CŨ — đã bị bác bỏ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00000"/>
            <a:ext cx="51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5C5447"/>
                </a:solidFill>
                <a:latin typeface="Cambria"/>
              </a:rPr>
              <a:t>“Verifier lệch vì văn phong gây sụp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5C5447"/>
                </a:solidFill>
                <a:latin typeface="Cambria"/>
              </a:rPr>
              <a:t>năng lực trong self-training lặp vòng.”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00000"/>
            <a:ext cx="51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C5447"/>
                </a:solidFill>
                <a:latin typeface="Cambria"/>
              </a:rPr>
              <a:t>Bị bác bỏ bởi chính thí nghiệm đối chứng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C5447"/>
                </a:solidFill>
                <a:latin typeface="Cambria"/>
              </a:rPr>
              <a:t>dựng ra để kiểm tra nó. Không phải suy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C5447"/>
                </a:solidFill>
                <a:latin typeface="Cambria"/>
              </a:rPr>
              <a:t>luận gián tiếp — đo trực tiếp, 2 lần lặp.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00000" y="1947672"/>
            <a:ext cx="0" cy="3400000"/>
          </a:xfrm>
          <a:prstGeom prst="line">
            <a:avLst/>
          </a:prstGeom>
          <a:ln w="19050">
            <a:solidFill>
              <a:srgbClr val="9C77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000" y="1947672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A1F2B"/>
                </a:solidFill>
                <a:latin typeface="Cambria"/>
              </a:rPr>
              <a:t>TUYÊN BỐ MỚI — được số liệu chống lưng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000" y="2400000"/>
            <a:ext cx="50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A251D"/>
                </a:solidFill>
                <a:latin typeface="Cambria"/>
              </a:rPr>
              <a:t>“Gộp nhiều bộ đề vào một lần train, cộng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A251D"/>
                </a:solidFill>
                <a:latin typeface="Cambria"/>
              </a:rPr>
              <a:t>với chấm điểm trên chính đề đã học, đủ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A251D"/>
                </a:solidFill>
                <a:latin typeface="Cambria"/>
              </a:rPr>
              <a:t>để tạo ra một hiện tượng ‘sụp’ giả.”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0" y="3900000"/>
            <a:ext cx="50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Kèm quy tắc đọc số: các con số “verifier sai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X%” trong bài báo khác là mức-nặng-có-điều-kiện.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251D"/>
                </a:solidFill>
                <a:latin typeface="Cambria"/>
              </a:rPr>
              <a:t>Tác động thật = mức nặng × tần suất.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55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680000"/>
            <a:ext cx="1063721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Phạm vi hẹp hơn dự tính ban đầu, nhưng trung thực và tra lại được — và cái bẫy phương pháp này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A251D"/>
                </a:solidFill>
                <a:latin typeface="Cambria"/>
              </a:rPr>
              <a:t>đang khá phổ biến, nên vẫn là đóng góp dùng lại được.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11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CÂU HỎI CÒN MỞ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Một khả năng chưa loại trừ được — đang chạy để kiểm 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10637215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2A251D"/>
                </a:solidFill>
                <a:latin typeface="Cambria"/>
              </a:rPr>
              <a:t>Trong cả 7 lần chạy, pass@1 luôn rớt ~3 điểm ở vòng 1 rồi đứng yên. Nhưng các bài báo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2A251D"/>
                </a:solidFill>
                <a:latin typeface="Cambria"/>
              </a:rPr>
              <a:t>lớn (STaR, RFT, ReST-EM) đều báo cáo self-training làm model KHÁ LÊN. Vì sao của em ngược?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3000000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200000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C5447"/>
                </a:solidFill>
                <a:latin typeface="Cambria"/>
              </a:rPr>
              <a:t>Có một cách giải thích tầm thường chưa loại trừ được: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50000"/>
            <a:ext cx="1063721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Model đã được tinh chỉnh kỹ sẵn. Một lần SFT ngắn (~40 bước) có thể chỉ đơn giản làm nó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A251D"/>
                </a:solidFill>
                <a:latin typeface="Cambria"/>
              </a:rPr>
              <a:t>xê dịch khỏi trạng thái đã tinh chỉnh — bất kể dạy nó bằng dữ liệu gì.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00000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C5447"/>
                </a:solidFill>
                <a:latin typeface="Cambria"/>
              </a:rPr>
              <a:t>Thí nghiệm phân định (đã viết code xong, đang chờ GPU):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50000"/>
            <a:ext cx="2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C772B"/>
                </a:solidFill>
                <a:latin typeface="Cambria"/>
              </a:rPr>
              <a:t>Nếu KHÁ LÊN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0000" y="495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A251D"/>
                </a:solidFill>
                <a:latin typeface="Cambria"/>
              </a:rPr>
              <a:t>vòng lặp lành mạnh → “học từ output của chính mình” đúng là cái gây hại.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0000"/>
            <a:ext cx="2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C772B"/>
                </a:solidFill>
                <a:latin typeface="Cambria"/>
              </a:rPr>
              <a:t>Nếu CŨNG RỚT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0000" y="5570000"/>
            <a:ext cx="8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A251D"/>
                </a:solidFill>
                <a:latin typeface="Cambria"/>
              </a:rPr>
              <a:t>cú rớt là chi phí của SFT, không phải của self-training → phải viết lại lần nữa.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Chạy lại đúng vòng lặp nhưng dạy bằng lời giải mẫu của bộ đề, thay vì lời giải model tự sinh.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THẢO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Giới hạn — nói trước, không giấu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51D"/>
                </a:solidFill>
                <a:latin typeface="Cambria"/>
              </a:rPr>
              <a:t>Đề thi chỉ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67672"/>
            <a:ext cx="1063721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5C5447"/>
                </a:solidFill>
                <a:latin typeface="Cambria"/>
              </a:rPr>
              <a:t>Một đề ≈ 0,67 điểm. Riêng việc đổi cách bốc đề thi đã làm điểm vòng 0 lệch 4,7 điểm — lớn hơn cả hiệu ứng đang đo.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312767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3297672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51D"/>
                </a:solidFill>
                <a:latin typeface="Cambria"/>
              </a:rPr>
              <a:t>Chỉ mới 2 lần lặp cho A và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17672"/>
            <a:ext cx="1063721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5C5447"/>
                </a:solidFill>
                <a:latin typeface="Cambria"/>
              </a:rPr>
              <a:t>C và các lần chạy cũ mới 1 lần. Chưa đủ để nói chắc về cú rớt 12,7 điểm của GSM8K.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447767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4647672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51D"/>
                </a:solidFill>
                <a:latin typeface="Cambria"/>
              </a:rPr>
              <a:t>So sánh cũ–mới đổi 3 thứ cùng lúc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67672"/>
            <a:ext cx="1063721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5C5447"/>
                </a:solidFill>
                <a:latin typeface="Cambria"/>
              </a:rPr>
              <a:t>Bỏ gộp, thêm đề thi riêng, giảm số đề. Nên kết luận bác bỏ chỉ dựa trên so sánh A với B — hai lần chạy giống hệt, khác đúng một biến.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582767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BÁO CÁO TUẦN 2–3 — VERIFIER LỆCH VĂN PHONG TRONG SELF-TRAINING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42855" y="320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C5447"/>
                </a:solidFill>
                <a:latin typeface="Cambria"/>
              </a:rPr>
              <a:t>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21792"/>
            <a:ext cx="10637215" cy="0"/>
          </a:xfrm>
          <a:prstGeom prst="line">
            <a:avLst/>
          </a:prstGeom>
          <a:ln w="9525">
            <a:solidFill>
              <a:srgbClr val="D8D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A1F2B"/>
                </a:solidFill>
                <a:latin typeface="Cambria"/>
              </a:rPr>
              <a:t>TÓM TẮT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A251D"/>
                </a:solidFill>
                <a:latin typeface="Cambria"/>
              </a:rPr>
              <a:t>Hai tuần, và việc tiếp theo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1920000"/>
            <a:ext cx="0" cy="1150000"/>
          </a:xfrm>
          <a:prstGeom prst="line">
            <a:avLst/>
          </a:prstGeom>
          <a:ln w="19050">
            <a:solidFill>
              <a:srgbClr val="9C77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33272" y="1880000"/>
            <a:ext cx="10381183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51D"/>
                </a:solidFill>
                <a:latin typeface="Cambria"/>
              </a:rPr>
              <a:t>“Thí nghiệm đối chứng bác bỏ giả thuyết trung tâm của đề tài. Nguyên nhân đã đo được: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51D"/>
                </a:solidFill>
                <a:latin typeface="Cambria"/>
              </a:rPr>
              <a:t>lỗi verifier tuy nặng 100% nhưng chỉ xảy ra ở 0,55% lời giải. Đề tài chuyển sang cảnh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51D"/>
                </a:solidFill>
                <a:latin typeface="Cambria"/>
              </a:rPr>
              <a:t>báo về cách đo — hẹp hơn, nhưng đứng vững.”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50000"/>
            <a:ext cx="10637215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C772B"/>
                </a:solidFill>
                <a:latin typeface="Cambria"/>
              </a:rPr>
              <a:t>—  Đã làm: 7 lần chạy (~40 giờ GPU), phát hiện và sửa lỗ hổng thiết kế đo, dựng thí nghiệm đối chứng.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0000"/>
            <a:ext cx="10637215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C772B"/>
                </a:solidFill>
                <a:latin typeface="Cambria"/>
              </a:rPr>
              <a:t>—  Kết quả: bác bỏ giả thuyết ban đầu, và đo được nguyên nhân vì sao nó không đúng.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50000"/>
            <a:ext cx="10637215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C772B"/>
                </a:solidFill>
                <a:latin typeface="Cambria"/>
              </a:rPr>
              <a:t>—  Phát hiện: mức-nặng × tần-suất — quy tắc đọc lại mọi con số verifier-bias, kể cả của bài khác.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50000"/>
            <a:ext cx="10637215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C772B"/>
                </a:solidFill>
                <a:latin typeface="Cambria"/>
              </a:rPr>
              <a:t>—  Đang chạy: thí nghiệm phân định “chi phí SFT” với “tác hại của self-training”.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900000"/>
            <a:ext cx="1063721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5447"/>
                </a:solidFill>
                <a:latin typeface="Cambria"/>
              </a:rPr>
              <a:t>Cảm ơn thầy đã theo dõi — rất mong nhận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