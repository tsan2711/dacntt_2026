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cxnSp>
        <p:nvCxnSpPr>
          <p:cNvPr id="2" name="Connector 1"/>
          <p:cNvCxnSpPr/>
          <p:nvPr/>
        </p:nvCxnSpPr>
        <p:spPr>
          <a:xfrm>
            <a:off x="777240" y="822960"/>
            <a:ext cx="1005840" cy="0"/>
          </a:xfrm>
          <a:prstGeom prst="line">
            <a:avLst/>
          </a:prstGeom>
          <a:ln w="9525">
            <a:solidFill>
              <a:srgbClr val="C9BFAB"/>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777240" y="960120"/>
            <a:ext cx="10637215" cy="365760"/>
          </a:xfrm>
          <a:prstGeom prst="rect">
            <a:avLst/>
          </a:prstGeom>
          <a:noFill/>
        </p:spPr>
        <p:txBody>
          <a:bodyPr wrap="square">
            <a:spAutoFit/>
          </a:bodyPr>
          <a:lstStyle/>
          <a:p>
            <a:pPr algn="l"/>
            <a:r>
              <a:rPr sz="1400" b="1" i="0">
                <a:solidFill>
                  <a:srgbClr val="7A1F2B"/>
                </a:solidFill>
                <a:latin typeface="Cambria"/>
              </a:rPr>
              <a:t>BÁO CÁO TIẾN ĐỘ TUẦN 2</a:t>
            </a:r>
          </a:p>
        </p:txBody>
      </p:sp>
      <p:sp>
        <p:nvSpPr>
          <p:cNvPr id="4" name="TextBox 3"/>
          <p:cNvSpPr txBox="1"/>
          <p:nvPr/>
        </p:nvSpPr>
        <p:spPr>
          <a:xfrm>
            <a:off x="777240" y="1554480"/>
            <a:ext cx="10515600" cy="1600000"/>
          </a:xfrm>
          <a:prstGeom prst="rect">
            <a:avLst/>
          </a:prstGeom>
          <a:noFill/>
        </p:spPr>
        <p:txBody>
          <a:bodyPr wrap="square">
            <a:spAutoFit/>
          </a:bodyPr>
          <a:lstStyle/>
          <a:p>
            <a:r>
              <a:rPr sz="3200" b="1" i="0">
                <a:solidFill>
                  <a:srgbClr val="2A251D"/>
                </a:solidFill>
                <a:latin typeface="Cambria"/>
              </a:rPr>
              <a:t>Verifier lệch vì văn phong có làm ảo hoá</a:t>
            </a:r>
          </a:p>
          <a:p>
            <a:r>
              <a:rPr sz="3200" b="1" i="0">
                <a:solidFill>
                  <a:srgbClr val="2A251D"/>
                </a:solidFill>
                <a:latin typeface="Cambria"/>
              </a:rPr>
              <a:t>khả năng “tự cải thiện” của self-training toán học?</a:t>
            </a:r>
          </a:p>
        </p:txBody>
      </p:sp>
      <p:cxnSp>
        <p:nvCxnSpPr>
          <p:cNvPr id="5" name="Connector 4"/>
          <p:cNvCxnSpPr/>
          <p:nvPr/>
        </p:nvCxnSpPr>
        <p:spPr>
          <a:xfrm>
            <a:off x="777240" y="3246120"/>
            <a:ext cx="10607040" cy="0"/>
          </a:xfrm>
          <a:prstGeom prst="line">
            <a:avLst/>
          </a:prstGeom>
          <a:ln w="9525">
            <a:solidFill>
              <a:srgbClr val="C9BFA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77240" y="3474720"/>
            <a:ext cx="10515600" cy="900000"/>
          </a:xfrm>
          <a:prstGeom prst="rect">
            <a:avLst/>
          </a:prstGeom>
          <a:noFill/>
        </p:spPr>
        <p:txBody>
          <a:bodyPr wrap="square">
            <a:spAutoFit/>
          </a:bodyPr>
          <a:lstStyle/>
          <a:p>
            <a:r>
              <a:rPr sz="1600" b="0" i="0">
                <a:solidFill>
                  <a:srgbClr val="5C5447"/>
                </a:solidFill>
                <a:latin typeface="Cambria"/>
              </a:rPr>
              <a:t>Tuần 2: chạy thêm một cấu hình model lớn hơn, và phát hiện một điểm cần sửa trong cách thiết kế thí nghiệm.</a:t>
            </a:r>
          </a:p>
        </p:txBody>
      </p:sp>
      <p:sp>
        <p:nvSpPr>
          <p:cNvPr id="7" name="TextBox 6"/>
          <p:cNvSpPr txBox="1"/>
          <p:nvPr/>
        </p:nvSpPr>
        <p:spPr>
          <a:xfrm>
            <a:off x="777240" y="5806440"/>
            <a:ext cx="8229600" cy="548640"/>
          </a:xfrm>
          <a:prstGeom prst="rect">
            <a:avLst/>
          </a:prstGeom>
          <a:noFill/>
        </p:spPr>
        <p:txBody>
          <a:bodyPr wrap="square">
            <a:spAutoFit/>
          </a:bodyPr>
          <a:lstStyle/>
          <a:p>
            <a:r>
              <a:rPr sz="1300" b="1" i="0">
                <a:solidFill>
                  <a:srgbClr val="2A251D"/>
                </a:solidFill>
                <a:latin typeface="Cambria"/>
              </a:rPr>
              <a:t>Nguyễn Tấn Sang</a:t>
            </a:r>
            <a:r>
              <a:rPr sz="1200" b="0" i="0">
                <a:solidFill>
                  <a:srgbClr val="5C5447"/>
                </a:solidFill>
                <a:latin typeface="Cambria"/>
              </a:rPr>
              <a:t>   ·   6 tháng 9,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777240" y="320040"/>
            <a:ext cx="7315200" cy="274320"/>
          </a:xfrm>
          <a:prstGeom prst="rect">
            <a:avLst/>
          </a:prstGeom>
          <a:noFill/>
        </p:spPr>
        <p:txBody>
          <a:bodyPr wrap="square">
            <a:spAutoFit/>
          </a:bodyPr>
          <a:lstStyle/>
          <a:p>
            <a:pPr algn="l"/>
            <a:r>
              <a:rPr sz="950" b="0" i="0">
                <a:solidFill>
                  <a:srgbClr val="5C5447"/>
                </a:solidFill>
                <a:latin typeface="Cambria"/>
              </a:rPr>
              <a:t>TUẦN 2 — VERIFIER LỆCH VĂN PHONG TRONG SELF-TRAINING</a:t>
            </a:r>
          </a:p>
        </p:txBody>
      </p:sp>
      <p:sp>
        <p:nvSpPr>
          <p:cNvPr id="3" name="TextBox 2"/>
          <p:cNvSpPr txBox="1"/>
          <p:nvPr/>
        </p:nvSpPr>
        <p:spPr>
          <a:xfrm>
            <a:off x="10042855" y="320040"/>
            <a:ext cx="1371600" cy="274320"/>
          </a:xfrm>
          <a:prstGeom prst="rect">
            <a:avLst/>
          </a:prstGeom>
          <a:noFill/>
        </p:spPr>
        <p:txBody>
          <a:bodyPr wrap="square">
            <a:spAutoFit/>
          </a:bodyPr>
          <a:lstStyle/>
          <a:p>
            <a:pPr algn="r"/>
            <a:r>
              <a:rPr sz="950" b="0" i="0">
                <a:solidFill>
                  <a:srgbClr val="5C5447"/>
                </a:solidFill>
                <a:latin typeface="Cambria"/>
              </a:rPr>
              <a:t>01</a:t>
            </a:r>
          </a:p>
        </p:txBody>
      </p:sp>
      <p:cxnSp>
        <p:nvCxnSpPr>
          <p:cNvPr id="4" name="Connector 3"/>
          <p:cNvCxnSpPr/>
          <p:nvPr/>
        </p:nvCxnSpPr>
        <p:spPr>
          <a:xfrm>
            <a:off x="777240" y="621792"/>
            <a:ext cx="10637215" cy="0"/>
          </a:xfrm>
          <a:prstGeom prst="line">
            <a:avLst/>
          </a:prstGeom>
          <a:ln w="9525">
            <a:solidFill>
              <a:srgbClr val="C9BFA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77240" y="777240"/>
            <a:ext cx="10637215" cy="320040"/>
          </a:xfrm>
          <a:prstGeom prst="rect">
            <a:avLst/>
          </a:prstGeom>
          <a:noFill/>
        </p:spPr>
        <p:txBody>
          <a:bodyPr wrap="square">
            <a:spAutoFit/>
          </a:bodyPr>
          <a:lstStyle/>
          <a:p>
            <a:pPr algn="l"/>
            <a:r>
              <a:rPr sz="1300" b="1" i="0">
                <a:solidFill>
                  <a:srgbClr val="7A1F2B"/>
                </a:solidFill>
                <a:latin typeface="Cambria"/>
              </a:rPr>
              <a:t>NỘI DUNG</a:t>
            </a:r>
          </a:p>
        </p:txBody>
      </p:sp>
      <p:sp>
        <p:nvSpPr>
          <p:cNvPr id="6" name="TextBox 5"/>
          <p:cNvSpPr txBox="1"/>
          <p:nvPr/>
        </p:nvSpPr>
        <p:spPr>
          <a:xfrm>
            <a:off x="777240" y="1078992"/>
            <a:ext cx="10637215" cy="868680"/>
          </a:xfrm>
          <a:prstGeom prst="rect">
            <a:avLst/>
          </a:prstGeom>
          <a:noFill/>
        </p:spPr>
        <p:txBody>
          <a:bodyPr wrap="square">
            <a:spAutoFit/>
          </a:bodyPr>
          <a:lstStyle/>
          <a:p>
            <a:r>
              <a:rPr sz="2700" b="1" i="0">
                <a:solidFill>
                  <a:srgbClr val="2A251D"/>
                </a:solidFill>
                <a:latin typeface="Cambria"/>
              </a:rPr>
              <a:t>Những gì trình bày hôm nay</a:t>
            </a:r>
          </a:p>
        </p:txBody>
      </p:sp>
      <p:sp>
        <p:nvSpPr>
          <p:cNvPr id="7" name="TextBox 6"/>
          <p:cNvSpPr txBox="1"/>
          <p:nvPr/>
        </p:nvSpPr>
        <p:spPr>
          <a:xfrm>
            <a:off x="777240" y="2057399"/>
            <a:ext cx="548640" cy="420000"/>
          </a:xfrm>
          <a:prstGeom prst="rect">
            <a:avLst/>
          </a:prstGeom>
          <a:noFill/>
        </p:spPr>
        <p:txBody>
          <a:bodyPr wrap="square">
            <a:spAutoFit/>
          </a:bodyPr>
          <a:lstStyle/>
          <a:p>
            <a:pPr algn="l"/>
            <a:r>
              <a:rPr sz="1400" b="1" i="0">
                <a:solidFill>
                  <a:srgbClr val="9C772B"/>
                </a:solidFill>
                <a:latin typeface="Cambria"/>
              </a:rPr>
              <a:t>01</a:t>
            </a:r>
          </a:p>
        </p:txBody>
      </p:sp>
      <p:sp>
        <p:nvSpPr>
          <p:cNvPr id="8" name="TextBox 7"/>
          <p:cNvSpPr txBox="1"/>
          <p:nvPr/>
        </p:nvSpPr>
        <p:spPr>
          <a:xfrm>
            <a:off x="1417320" y="2057399"/>
            <a:ext cx="9997135" cy="420000"/>
          </a:xfrm>
          <a:prstGeom prst="rect">
            <a:avLst/>
          </a:prstGeom>
          <a:noFill/>
        </p:spPr>
        <p:txBody>
          <a:bodyPr wrap="square">
            <a:spAutoFit/>
          </a:bodyPr>
          <a:lstStyle/>
          <a:p>
            <a:pPr algn="l"/>
            <a:r>
              <a:rPr sz="1450" b="0" i="0">
                <a:solidFill>
                  <a:srgbClr val="2A251D"/>
                </a:solidFill>
                <a:latin typeface="Cambria"/>
              </a:rPr>
              <a:t>Nhắc lại: câu hỏi nghiên cứu và kết quả tuần 1 (Qwen 0.5B)</a:t>
            </a:r>
          </a:p>
        </p:txBody>
      </p:sp>
      <p:cxnSp>
        <p:nvCxnSpPr>
          <p:cNvPr id="9" name="Connector 8"/>
          <p:cNvCxnSpPr/>
          <p:nvPr/>
        </p:nvCxnSpPr>
        <p:spPr>
          <a:xfrm>
            <a:off x="1417320" y="2537399"/>
            <a:ext cx="9997135" cy="0"/>
          </a:xfrm>
          <a:prstGeom prst="line">
            <a:avLst/>
          </a:prstGeom>
          <a:ln w="9525">
            <a:solidFill>
              <a:srgbClr val="C9BFAB"/>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77240" y="2677399"/>
            <a:ext cx="548640" cy="420000"/>
          </a:xfrm>
          <a:prstGeom prst="rect">
            <a:avLst/>
          </a:prstGeom>
          <a:noFill/>
        </p:spPr>
        <p:txBody>
          <a:bodyPr wrap="square">
            <a:spAutoFit/>
          </a:bodyPr>
          <a:lstStyle/>
          <a:p>
            <a:pPr algn="l"/>
            <a:r>
              <a:rPr sz="1400" b="1" i="0">
                <a:solidFill>
                  <a:srgbClr val="9C772B"/>
                </a:solidFill>
                <a:latin typeface="Cambria"/>
              </a:rPr>
              <a:t>02</a:t>
            </a:r>
          </a:p>
        </p:txBody>
      </p:sp>
      <p:sp>
        <p:nvSpPr>
          <p:cNvPr id="11" name="TextBox 10"/>
          <p:cNvSpPr txBox="1"/>
          <p:nvPr/>
        </p:nvSpPr>
        <p:spPr>
          <a:xfrm>
            <a:off x="1417320" y="2677399"/>
            <a:ext cx="9997135" cy="420000"/>
          </a:xfrm>
          <a:prstGeom prst="rect">
            <a:avLst/>
          </a:prstGeom>
          <a:noFill/>
        </p:spPr>
        <p:txBody>
          <a:bodyPr wrap="square">
            <a:spAutoFit/>
          </a:bodyPr>
          <a:lstStyle/>
          <a:p>
            <a:pPr algn="l"/>
            <a:r>
              <a:rPr sz="1450" b="0" i="0">
                <a:solidFill>
                  <a:srgbClr val="2A251D"/>
                </a:solidFill>
                <a:latin typeface="Cambria"/>
              </a:rPr>
              <a:t>Nhắc lại quy trình thí nghiệm (Generate → Verify → Train)</a:t>
            </a:r>
          </a:p>
        </p:txBody>
      </p:sp>
      <p:cxnSp>
        <p:nvCxnSpPr>
          <p:cNvPr id="12" name="Connector 11"/>
          <p:cNvCxnSpPr/>
          <p:nvPr/>
        </p:nvCxnSpPr>
        <p:spPr>
          <a:xfrm>
            <a:off x="1417320" y="3157399"/>
            <a:ext cx="9997135" cy="0"/>
          </a:xfrm>
          <a:prstGeom prst="line">
            <a:avLst/>
          </a:prstGeom>
          <a:ln w="9525">
            <a:solidFill>
              <a:srgbClr val="C9BFAB"/>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77240" y="3297399"/>
            <a:ext cx="548640" cy="420000"/>
          </a:xfrm>
          <a:prstGeom prst="rect">
            <a:avLst/>
          </a:prstGeom>
          <a:noFill/>
        </p:spPr>
        <p:txBody>
          <a:bodyPr wrap="square">
            <a:spAutoFit/>
          </a:bodyPr>
          <a:lstStyle/>
          <a:p>
            <a:pPr algn="l"/>
            <a:r>
              <a:rPr sz="1400" b="1" i="0">
                <a:solidFill>
                  <a:srgbClr val="9C772B"/>
                </a:solidFill>
                <a:latin typeface="Cambria"/>
              </a:rPr>
              <a:t>03</a:t>
            </a:r>
          </a:p>
        </p:txBody>
      </p:sp>
      <p:sp>
        <p:nvSpPr>
          <p:cNvPr id="14" name="TextBox 13"/>
          <p:cNvSpPr txBox="1"/>
          <p:nvPr/>
        </p:nvSpPr>
        <p:spPr>
          <a:xfrm>
            <a:off x="1417320" y="3297399"/>
            <a:ext cx="9997135" cy="420000"/>
          </a:xfrm>
          <a:prstGeom prst="rect">
            <a:avLst/>
          </a:prstGeom>
          <a:noFill/>
        </p:spPr>
        <p:txBody>
          <a:bodyPr wrap="square">
            <a:spAutoFit/>
          </a:bodyPr>
          <a:lstStyle/>
          <a:p>
            <a:pPr algn="l"/>
            <a:r>
              <a:rPr sz="1450" b="0" i="0">
                <a:solidFill>
                  <a:srgbClr val="2A251D"/>
                </a:solidFill>
                <a:latin typeface="Cambria"/>
              </a:rPr>
              <a:t>Tuần 2: kết quả chạy thêm Qwen 1.5B, đủ 5 vòng, tách theo bộ đề</a:t>
            </a:r>
          </a:p>
        </p:txBody>
      </p:sp>
      <p:cxnSp>
        <p:nvCxnSpPr>
          <p:cNvPr id="15" name="Connector 14"/>
          <p:cNvCxnSpPr/>
          <p:nvPr/>
        </p:nvCxnSpPr>
        <p:spPr>
          <a:xfrm>
            <a:off x="1417320" y="3777399"/>
            <a:ext cx="9997135" cy="0"/>
          </a:xfrm>
          <a:prstGeom prst="line">
            <a:avLst/>
          </a:prstGeom>
          <a:ln w="9525">
            <a:solidFill>
              <a:srgbClr val="C9BFA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77240" y="3917399"/>
            <a:ext cx="548640" cy="420000"/>
          </a:xfrm>
          <a:prstGeom prst="rect">
            <a:avLst/>
          </a:prstGeom>
          <a:noFill/>
        </p:spPr>
        <p:txBody>
          <a:bodyPr wrap="square">
            <a:spAutoFit/>
          </a:bodyPr>
          <a:lstStyle/>
          <a:p>
            <a:pPr algn="l"/>
            <a:r>
              <a:rPr sz="1400" b="1" i="0">
                <a:solidFill>
                  <a:srgbClr val="9C772B"/>
                </a:solidFill>
                <a:latin typeface="Cambria"/>
              </a:rPr>
              <a:t>04</a:t>
            </a:r>
          </a:p>
        </p:txBody>
      </p:sp>
      <p:sp>
        <p:nvSpPr>
          <p:cNvPr id="17" name="TextBox 16"/>
          <p:cNvSpPr txBox="1"/>
          <p:nvPr/>
        </p:nvSpPr>
        <p:spPr>
          <a:xfrm>
            <a:off x="1417320" y="3917399"/>
            <a:ext cx="9997135" cy="420000"/>
          </a:xfrm>
          <a:prstGeom prst="rect">
            <a:avLst/>
          </a:prstGeom>
          <a:noFill/>
        </p:spPr>
        <p:txBody>
          <a:bodyPr wrap="square">
            <a:spAutoFit/>
          </a:bodyPr>
          <a:lstStyle/>
          <a:p>
            <a:pPr algn="l"/>
            <a:r>
              <a:rPr sz="1450" b="0" i="0">
                <a:solidFill>
                  <a:srgbClr val="2A251D"/>
                </a:solidFill>
                <a:latin typeface="Cambria"/>
              </a:rPr>
              <a:t>Bằng chứng phát hiện: hai bộ đề bị trộn chung khi train</a:t>
            </a:r>
          </a:p>
        </p:txBody>
      </p:sp>
      <p:cxnSp>
        <p:nvCxnSpPr>
          <p:cNvPr id="18" name="Connector 17"/>
          <p:cNvCxnSpPr/>
          <p:nvPr/>
        </p:nvCxnSpPr>
        <p:spPr>
          <a:xfrm>
            <a:off x="1417320" y="4397399"/>
            <a:ext cx="9997135" cy="0"/>
          </a:xfrm>
          <a:prstGeom prst="line">
            <a:avLst/>
          </a:prstGeom>
          <a:ln w="9525">
            <a:solidFill>
              <a:srgbClr val="C9BFAB"/>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77240" y="4537399"/>
            <a:ext cx="548640" cy="420000"/>
          </a:xfrm>
          <a:prstGeom prst="rect">
            <a:avLst/>
          </a:prstGeom>
          <a:noFill/>
        </p:spPr>
        <p:txBody>
          <a:bodyPr wrap="square">
            <a:spAutoFit/>
          </a:bodyPr>
          <a:lstStyle/>
          <a:p>
            <a:pPr algn="l"/>
            <a:r>
              <a:rPr sz="1400" b="1" i="0">
                <a:solidFill>
                  <a:srgbClr val="9C772B"/>
                </a:solidFill>
                <a:latin typeface="Cambria"/>
              </a:rPr>
              <a:t>05</a:t>
            </a:r>
          </a:p>
        </p:txBody>
      </p:sp>
      <p:sp>
        <p:nvSpPr>
          <p:cNvPr id="20" name="TextBox 19"/>
          <p:cNvSpPr txBox="1"/>
          <p:nvPr/>
        </p:nvSpPr>
        <p:spPr>
          <a:xfrm>
            <a:off x="1417320" y="4537399"/>
            <a:ext cx="9997135" cy="420000"/>
          </a:xfrm>
          <a:prstGeom prst="rect">
            <a:avLst/>
          </a:prstGeom>
          <a:noFill/>
        </p:spPr>
        <p:txBody>
          <a:bodyPr wrap="square">
            <a:spAutoFit/>
          </a:bodyPr>
          <a:lstStyle/>
          <a:p>
            <a:pPr algn="l"/>
            <a:r>
              <a:rPr sz="1450" b="0" i="0">
                <a:solidFill>
                  <a:srgbClr val="2A251D"/>
                </a:solidFill>
                <a:latin typeface="Cambria"/>
              </a:rPr>
              <a:t>Vì sao phát hiện này quan trọng với câu hỏi nghiên cứu</a:t>
            </a:r>
          </a:p>
        </p:txBody>
      </p:sp>
      <p:cxnSp>
        <p:nvCxnSpPr>
          <p:cNvPr id="21" name="Connector 20"/>
          <p:cNvCxnSpPr/>
          <p:nvPr/>
        </p:nvCxnSpPr>
        <p:spPr>
          <a:xfrm>
            <a:off x="1417320" y="5017399"/>
            <a:ext cx="9997135" cy="0"/>
          </a:xfrm>
          <a:prstGeom prst="line">
            <a:avLst/>
          </a:prstGeom>
          <a:ln w="9525">
            <a:solidFill>
              <a:srgbClr val="C9BFAB"/>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777240" y="5157399"/>
            <a:ext cx="548640" cy="420000"/>
          </a:xfrm>
          <a:prstGeom prst="rect">
            <a:avLst/>
          </a:prstGeom>
          <a:noFill/>
        </p:spPr>
        <p:txBody>
          <a:bodyPr wrap="square">
            <a:spAutoFit/>
          </a:bodyPr>
          <a:lstStyle/>
          <a:p>
            <a:pPr algn="l"/>
            <a:r>
              <a:rPr sz="1400" b="1" i="0">
                <a:solidFill>
                  <a:srgbClr val="9C772B"/>
                </a:solidFill>
                <a:latin typeface="Cambria"/>
              </a:rPr>
              <a:t>06</a:t>
            </a:r>
          </a:p>
        </p:txBody>
      </p:sp>
      <p:sp>
        <p:nvSpPr>
          <p:cNvPr id="23" name="TextBox 22"/>
          <p:cNvSpPr txBox="1"/>
          <p:nvPr/>
        </p:nvSpPr>
        <p:spPr>
          <a:xfrm>
            <a:off x="1417320" y="5157399"/>
            <a:ext cx="9997135" cy="420000"/>
          </a:xfrm>
          <a:prstGeom prst="rect">
            <a:avLst/>
          </a:prstGeom>
          <a:noFill/>
        </p:spPr>
        <p:txBody>
          <a:bodyPr wrap="square">
            <a:spAutoFit/>
          </a:bodyPr>
          <a:lstStyle/>
          <a:p>
            <a:pPr algn="l"/>
            <a:r>
              <a:rPr sz="1450" b="0" i="0">
                <a:solidFill>
                  <a:srgbClr val="2A251D"/>
                </a:solidFill>
                <a:latin typeface="Cambria"/>
              </a:rPr>
              <a:t>Hướng khắc phục, dự kiến làm tuần tới</a:t>
            </a:r>
          </a:p>
        </p:txBody>
      </p:sp>
      <p:cxnSp>
        <p:nvCxnSpPr>
          <p:cNvPr id="24" name="Connector 23"/>
          <p:cNvCxnSpPr/>
          <p:nvPr/>
        </p:nvCxnSpPr>
        <p:spPr>
          <a:xfrm>
            <a:off x="1417320" y="5637399"/>
            <a:ext cx="9997135" cy="0"/>
          </a:xfrm>
          <a:prstGeom prst="line">
            <a:avLst/>
          </a:prstGeom>
          <a:ln w="9525">
            <a:solidFill>
              <a:srgbClr val="C9BFAB"/>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777240" y="320040"/>
            <a:ext cx="7315200" cy="274320"/>
          </a:xfrm>
          <a:prstGeom prst="rect">
            <a:avLst/>
          </a:prstGeom>
          <a:noFill/>
        </p:spPr>
        <p:txBody>
          <a:bodyPr wrap="square">
            <a:spAutoFit/>
          </a:bodyPr>
          <a:lstStyle/>
          <a:p>
            <a:pPr algn="l"/>
            <a:r>
              <a:rPr sz="950" b="0" i="0">
                <a:solidFill>
                  <a:srgbClr val="5C5447"/>
                </a:solidFill>
                <a:latin typeface="Cambria"/>
              </a:rPr>
              <a:t>TUẦN 2 — VERIFIER LỆCH VĂN PHONG TRONG SELF-TRAINING</a:t>
            </a:r>
          </a:p>
        </p:txBody>
      </p:sp>
      <p:sp>
        <p:nvSpPr>
          <p:cNvPr id="3" name="TextBox 2"/>
          <p:cNvSpPr txBox="1"/>
          <p:nvPr/>
        </p:nvSpPr>
        <p:spPr>
          <a:xfrm>
            <a:off x="10042855" y="320040"/>
            <a:ext cx="1371600" cy="274320"/>
          </a:xfrm>
          <a:prstGeom prst="rect">
            <a:avLst/>
          </a:prstGeom>
          <a:noFill/>
        </p:spPr>
        <p:txBody>
          <a:bodyPr wrap="square">
            <a:spAutoFit/>
          </a:bodyPr>
          <a:lstStyle/>
          <a:p>
            <a:pPr algn="r"/>
            <a:r>
              <a:rPr sz="950" b="0" i="0">
                <a:solidFill>
                  <a:srgbClr val="5C5447"/>
                </a:solidFill>
                <a:latin typeface="Cambria"/>
              </a:rPr>
              <a:t>02</a:t>
            </a:r>
          </a:p>
        </p:txBody>
      </p:sp>
      <p:cxnSp>
        <p:nvCxnSpPr>
          <p:cNvPr id="4" name="Connector 3"/>
          <p:cNvCxnSpPr/>
          <p:nvPr/>
        </p:nvCxnSpPr>
        <p:spPr>
          <a:xfrm>
            <a:off x="777240" y="621792"/>
            <a:ext cx="10637215" cy="0"/>
          </a:xfrm>
          <a:prstGeom prst="line">
            <a:avLst/>
          </a:prstGeom>
          <a:ln w="9525">
            <a:solidFill>
              <a:srgbClr val="C9BFA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77240" y="777240"/>
            <a:ext cx="10637215" cy="320040"/>
          </a:xfrm>
          <a:prstGeom prst="rect">
            <a:avLst/>
          </a:prstGeom>
          <a:noFill/>
        </p:spPr>
        <p:txBody>
          <a:bodyPr wrap="square">
            <a:spAutoFit/>
          </a:bodyPr>
          <a:lstStyle/>
          <a:p>
            <a:pPr algn="l"/>
            <a:r>
              <a:rPr sz="1300" b="1" i="0">
                <a:solidFill>
                  <a:srgbClr val="7A1F2B"/>
                </a:solidFill>
                <a:latin typeface="Cambria"/>
              </a:rPr>
              <a:t>NHẮC LẠI TUẦN 1</a:t>
            </a:r>
          </a:p>
        </p:txBody>
      </p:sp>
      <p:sp>
        <p:nvSpPr>
          <p:cNvPr id="6" name="TextBox 5"/>
          <p:cNvSpPr txBox="1"/>
          <p:nvPr/>
        </p:nvSpPr>
        <p:spPr>
          <a:xfrm>
            <a:off x="777240" y="1078992"/>
            <a:ext cx="10637215" cy="868680"/>
          </a:xfrm>
          <a:prstGeom prst="rect">
            <a:avLst/>
          </a:prstGeom>
          <a:noFill/>
        </p:spPr>
        <p:txBody>
          <a:bodyPr wrap="square">
            <a:spAutoFit/>
          </a:bodyPr>
          <a:lstStyle/>
          <a:p>
            <a:r>
              <a:rPr sz="2700" b="1" i="0">
                <a:solidFill>
                  <a:srgbClr val="2A251D"/>
                </a:solidFill>
                <a:latin typeface="Cambria"/>
              </a:rPr>
              <a:t>Câu hỏi nghiên cứu và kết quả lần chạy đầu tiên</a:t>
            </a:r>
          </a:p>
        </p:txBody>
      </p:sp>
      <p:cxnSp>
        <p:nvCxnSpPr>
          <p:cNvPr id="7" name="Connector 6"/>
          <p:cNvCxnSpPr/>
          <p:nvPr/>
        </p:nvCxnSpPr>
        <p:spPr>
          <a:xfrm>
            <a:off x="777240" y="1920239"/>
            <a:ext cx="0" cy="1325880"/>
          </a:xfrm>
          <a:prstGeom prst="line">
            <a:avLst/>
          </a:prstGeom>
          <a:ln w="28575">
            <a:solidFill>
              <a:srgbClr val="9C772B"/>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033272" y="1874519"/>
            <a:ext cx="10381183" cy="1200000"/>
          </a:xfrm>
          <a:prstGeom prst="rect">
            <a:avLst/>
          </a:prstGeom>
          <a:noFill/>
        </p:spPr>
        <p:txBody>
          <a:bodyPr wrap="square">
            <a:spAutoFit/>
          </a:bodyPr>
          <a:lstStyle/>
          <a:p>
            <a:r>
              <a:rPr sz="1500" b="0" i="0">
                <a:solidFill>
                  <a:srgbClr val="2A251D"/>
                </a:solidFill>
                <a:latin typeface="Cambria"/>
              </a:rPr>
              <a:t>“Sau nhiều vòng Generate → Verify → Train, model đang thật sự giỏi giải toán hơn, hay chỉ đang học viết đáp án theo đúng định dạng mà verifier chấp nhận?”</a:t>
            </a:r>
          </a:p>
          <a:p>
            <a:r>
              <a:rPr sz="1100" b="1" i="0">
                <a:solidFill>
                  <a:srgbClr val="5C5447"/>
                </a:solidFill>
                <a:latin typeface="Cambria"/>
              </a:rPr>
              <a:t>— Câu hỏi trung tâm của đề tài, chưa đổi</a:t>
            </a:r>
          </a:p>
        </p:txBody>
      </p:sp>
      <p:cxnSp>
        <p:nvCxnSpPr>
          <p:cNvPr id="9" name="Connector 8"/>
          <p:cNvCxnSpPr/>
          <p:nvPr/>
        </p:nvCxnSpPr>
        <p:spPr>
          <a:xfrm>
            <a:off x="777240" y="3749038"/>
            <a:ext cx="10637215" cy="0"/>
          </a:xfrm>
          <a:prstGeom prst="line">
            <a:avLst/>
          </a:prstGeom>
          <a:ln w="9525">
            <a:solidFill>
              <a:srgbClr val="C9BFAB"/>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77240" y="4023358"/>
            <a:ext cx="5100000" cy="1900000"/>
          </a:xfrm>
          <a:prstGeom prst="rect">
            <a:avLst/>
          </a:prstGeom>
          <a:noFill/>
        </p:spPr>
        <p:txBody>
          <a:bodyPr wrap="square">
            <a:spAutoFit/>
          </a:bodyPr>
          <a:lstStyle/>
          <a:p>
            <a:r>
              <a:rPr sz="1300" b="1" i="0">
                <a:solidFill>
                  <a:srgbClr val="9C772B"/>
                </a:solidFill>
                <a:latin typeface="Cambria"/>
              </a:rPr>
              <a:t>pass@1</a:t>
            </a:r>
          </a:p>
          <a:p>
            <a:r>
              <a:rPr sz="3000" b="1" i="0">
                <a:solidFill>
                  <a:srgbClr val="2A251D"/>
                </a:solidFill>
                <a:latin typeface="Cambria"/>
              </a:rPr>
              <a:t>31,1% → 27,4%</a:t>
            </a:r>
          </a:p>
          <a:p>
            <a:r>
              <a:rPr sz="1200" b="0" i="0">
                <a:solidFill>
                  <a:srgbClr val="5C5447"/>
                </a:solidFill>
                <a:latin typeface="Cambria"/>
              </a:rPr>
              <a:t>giảm 3,7 điểm phần trăm qua 4 vòng</a:t>
            </a:r>
          </a:p>
        </p:txBody>
      </p:sp>
      <p:sp>
        <p:nvSpPr>
          <p:cNvPr id="11" name="TextBox 10"/>
          <p:cNvSpPr txBox="1"/>
          <p:nvPr/>
        </p:nvSpPr>
        <p:spPr>
          <a:xfrm>
            <a:off x="6177240" y="4023358"/>
            <a:ext cx="5100000" cy="1900000"/>
          </a:xfrm>
          <a:prstGeom prst="rect">
            <a:avLst/>
          </a:prstGeom>
          <a:noFill/>
        </p:spPr>
        <p:txBody>
          <a:bodyPr wrap="square">
            <a:spAutoFit/>
          </a:bodyPr>
          <a:lstStyle/>
          <a:p>
            <a:r>
              <a:rPr sz="1300" b="1" i="0">
                <a:solidFill>
                  <a:srgbClr val="9C772B"/>
                </a:solidFill>
                <a:latin typeface="Cambria"/>
              </a:rPr>
              <a:t>pass@8</a:t>
            </a:r>
          </a:p>
          <a:p>
            <a:r>
              <a:rPr sz="3000" b="1" i="0">
                <a:solidFill>
                  <a:srgbClr val="2A251D"/>
                </a:solidFill>
                <a:latin typeface="Cambria"/>
              </a:rPr>
              <a:t>60,5% → 54,9%</a:t>
            </a:r>
          </a:p>
          <a:p>
            <a:r>
              <a:rPr sz="1200" b="0" i="0">
                <a:solidFill>
                  <a:srgbClr val="5C5447"/>
                </a:solidFill>
                <a:latin typeface="Cambria"/>
              </a:rPr>
              <a:t>giảm 5,6 điểm phần trăm qua 4 vòng</a:t>
            </a:r>
          </a:p>
        </p:txBody>
      </p:sp>
      <p:sp>
        <p:nvSpPr>
          <p:cNvPr id="12" name="TextBox 11"/>
          <p:cNvSpPr txBox="1"/>
          <p:nvPr/>
        </p:nvSpPr>
        <p:spPr>
          <a:xfrm>
            <a:off x="777240" y="6355080"/>
            <a:ext cx="10637215" cy="365760"/>
          </a:xfrm>
          <a:prstGeom prst="rect">
            <a:avLst/>
          </a:prstGeom>
          <a:noFill/>
        </p:spPr>
        <p:txBody>
          <a:bodyPr wrap="square">
            <a:spAutoFit/>
          </a:bodyPr>
          <a:lstStyle/>
          <a:p>
            <a:pPr algn="l"/>
            <a:r>
              <a:rPr sz="950" b="0" i="1">
                <a:solidFill>
                  <a:srgbClr val="5C5447"/>
                </a:solidFill>
                <a:latin typeface="Cambria"/>
              </a:rPr>
              <a:t>Qwen2.5-0.5B, GSM8K+MATH-500 gộp, 500 đề/bộ, k=8, 5 vòng — Kaggle, 27/08/2026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777240" y="320040"/>
            <a:ext cx="7315200" cy="274320"/>
          </a:xfrm>
          <a:prstGeom prst="rect">
            <a:avLst/>
          </a:prstGeom>
          <a:noFill/>
        </p:spPr>
        <p:txBody>
          <a:bodyPr wrap="square">
            <a:spAutoFit/>
          </a:bodyPr>
          <a:lstStyle/>
          <a:p>
            <a:pPr algn="l"/>
            <a:r>
              <a:rPr sz="950" b="0" i="0">
                <a:solidFill>
                  <a:srgbClr val="5C5447"/>
                </a:solidFill>
                <a:latin typeface="Cambria"/>
              </a:rPr>
              <a:t>TUẦN 2 — VERIFIER LỆCH VĂN PHONG TRONG SELF-TRAINING</a:t>
            </a:r>
          </a:p>
        </p:txBody>
      </p:sp>
      <p:sp>
        <p:nvSpPr>
          <p:cNvPr id="3" name="TextBox 2"/>
          <p:cNvSpPr txBox="1"/>
          <p:nvPr/>
        </p:nvSpPr>
        <p:spPr>
          <a:xfrm>
            <a:off x="10042855" y="320040"/>
            <a:ext cx="1371600" cy="274320"/>
          </a:xfrm>
          <a:prstGeom prst="rect">
            <a:avLst/>
          </a:prstGeom>
          <a:noFill/>
        </p:spPr>
        <p:txBody>
          <a:bodyPr wrap="square">
            <a:spAutoFit/>
          </a:bodyPr>
          <a:lstStyle/>
          <a:p>
            <a:pPr algn="r"/>
            <a:r>
              <a:rPr sz="950" b="0" i="0">
                <a:solidFill>
                  <a:srgbClr val="5C5447"/>
                </a:solidFill>
                <a:latin typeface="Cambria"/>
              </a:rPr>
              <a:t>03</a:t>
            </a:r>
          </a:p>
        </p:txBody>
      </p:sp>
      <p:cxnSp>
        <p:nvCxnSpPr>
          <p:cNvPr id="4" name="Connector 3"/>
          <p:cNvCxnSpPr/>
          <p:nvPr/>
        </p:nvCxnSpPr>
        <p:spPr>
          <a:xfrm>
            <a:off x="777240" y="621792"/>
            <a:ext cx="10637215" cy="0"/>
          </a:xfrm>
          <a:prstGeom prst="line">
            <a:avLst/>
          </a:prstGeom>
          <a:ln w="9525">
            <a:solidFill>
              <a:srgbClr val="C9BFA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77240" y="777240"/>
            <a:ext cx="10637215" cy="320040"/>
          </a:xfrm>
          <a:prstGeom prst="rect">
            <a:avLst/>
          </a:prstGeom>
          <a:noFill/>
        </p:spPr>
        <p:txBody>
          <a:bodyPr wrap="square">
            <a:spAutoFit/>
          </a:bodyPr>
          <a:lstStyle/>
          <a:p>
            <a:pPr algn="l"/>
            <a:r>
              <a:rPr sz="1300" b="1" i="0">
                <a:solidFill>
                  <a:srgbClr val="7A1F2B"/>
                </a:solidFill>
                <a:latin typeface="Cambria"/>
              </a:rPr>
              <a:t>NHẮC LẠI QUY TRÌNH</a:t>
            </a:r>
          </a:p>
        </p:txBody>
      </p:sp>
      <p:sp>
        <p:nvSpPr>
          <p:cNvPr id="6" name="TextBox 5"/>
          <p:cNvSpPr txBox="1"/>
          <p:nvPr/>
        </p:nvSpPr>
        <p:spPr>
          <a:xfrm>
            <a:off x="777240" y="1078992"/>
            <a:ext cx="10637215" cy="868680"/>
          </a:xfrm>
          <a:prstGeom prst="rect">
            <a:avLst/>
          </a:prstGeom>
          <a:noFill/>
        </p:spPr>
        <p:txBody>
          <a:bodyPr wrap="square">
            <a:spAutoFit/>
          </a:bodyPr>
          <a:lstStyle/>
          <a:p>
            <a:r>
              <a:rPr sz="2700" b="1" i="0">
                <a:solidFill>
                  <a:srgbClr val="2A251D"/>
                </a:solidFill>
                <a:latin typeface="Cambria"/>
              </a:rPr>
              <a:t>Một vòng Generate → Verify → Train</a:t>
            </a:r>
          </a:p>
        </p:txBody>
      </p:sp>
      <p:sp>
        <p:nvSpPr>
          <p:cNvPr id="7" name="TextBox 6"/>
          <p:cNvSpPr txBox="1"/>
          <p:nvPr/>
        </p:nvSpPr>
        <p:spPr>
          <a:xfrm>
            <a:off x="777240" y="1947672"/>
            <a:ext cx="3479000" cy="2000000"/>
          </a:xfrm>
          <a:prstGeom prst="rect">
            <a:avLst/>
          </a:prstGeom>
          <a:noFill/>
        </p:spPr>
        <p:txBody>
          <a:bodyPr wrap="square">
            <a:spAutoFit/>
          </a:bodyPr>
          <a:lstStyle/>
          <a:p>
            <a:r>
              <a:rPr sz="1600" b="1" i="0">
                <a:solidFill>
                  <a:srgbClr val="9C772B"/>
                </a:solidFill>
                <a:latin typeface="Cambria"/>
              </a:rPr>
              <a:t>1. Generate</a:t>
            </a:r>
          </a:p>
          <a:p>
            <a:r>
              <a:rPr sz="1250" b="0" i="0">
                <a:solidFill>
                  <a:srgbClr val="2A251D"/>
                </a:solidFill>
                <a:latin typeface="Cambria"/>
              </a:rPr>
              <a:t>Model sinh k lời giải cho mỗi đề (k=8), bằng sampling.</a:t>
            </a:r>
          </a:p>
        </p:txBody>
      </p:sp>
      <p:sp>
        <p:nvSpPr>
          <p:cNvPr id="8" name="TextBox 7"/>
          <p:cNvSpPr txBox="1"/>
          <p:nvPr/>
        </p:nvSpPr>
        <p:spPr>
          <a:xfrm>
            <a:off x="4356240" y="1947672"/>
            <a:ext cx="3479000" cy="2000000"/>
          </a:xfrm>
          <a:prstGeom prst="rect">
            <a:avLst/>
          </a:prstGeom>
          <a:noFill/>
        </p:spPr>
        <p:txBody>
          <a:bodyPr wrap="square">
            <a:spAutoFit/>
          </a:bodyPr>
          <a:lstStyle/>
          <a:p>
            <a:r>
              <a:rPr sz="1600" b="1" i="0">
                <a:solidFill>
                  <a:srgbClr val="9C772B"/>
                </a:solidFill>
                <a:latin typeface="Cambria"/>
              </a:rPr>
              <a:t>2. Verify</a:t>
            </a:r>
          </a:p>
          <a:p>
            <a:r>
              <a:rPr sz="1250" b="0" i="0">
                <a:solidFill>
                  <a:srgbClr val="2A251D"/>
                </a:solidFill>
                <a:latin typeface="Cambria"/>
              </a:rPr>
              <a:t>So khớp đáp án cuối với đáp án chuẩn (math-verify) — chỉ giữ lời giải được chấm đúng.</a:t>
            </a:r>
          </a:p>
        </p:txBody>
      </p:sp>
      <p:sp>
        <p:nvSpPr>
          <p:cNvPr id="9" name="TextBox 8"/>
          <p:cNvSpPr txBox="1"/>
          <p:nvPr/>
        </p:nvSpPr>
        <p:spPr>
          <a:xfrm>
            <a:off x="7935240" y="1947672"/>
            <a:ext cx="3479000" cy="2000000"/>
          </a:xfrm>
          <a:prstGeom prst="rect">
            <a:avLst/>
          </a:prstGeom>
          <a:noFill/>
        </p:spPr>
        <p:txBody>
          <a:bodyPr wrap="square">
            <a:spAutoFit/>
          </a:bodyPr>
          <a:lstStyle/>
          <a:p>
            <a:r>
              <a:rPr sz="1600" b="1" i="0">
                <a:solidFill>
                  <a:srgbClr val="9C772B"/>
                </a:solidFill>
                <a:latin typeface="Cambria"/>
              </a:rPr>
              <a:t>3. Train</a:t>
            </a:r>
          </a:p>
          <a:p>
            <a:r>
              <a:rPr sz="1250" b="0" i="0">
                <a:solidFill>
                  <a:srgbClr val="2A251D"/>
                </a:solidFill>
                <a:latin typeface="Cambria"/>
              </a:rPr>
              <a:t>Fine-tune LoRA trên đúng các lời giải vừa được giữ, rồi lặp lại vòng kế tiếp trên model mới.</a:t>
            </a:r>
          </a:p>
        </p:txBody>
      </p:sp>
      <p:cxnSp>
        <p:nvCxnSpPr>
          <p:cNvPr id="10" name="Connector 9"/>
          <p:cNvCxnSpPr/>
          <p:nvPr/>
        </p:nvCxnSpPr>
        <p:spPr>
          <a:xfrm>
            <a:off x="777240" y="4200000"/>
            <a:ext cx="10637215" cy="0"/>
          </a:xfrm>
          <a:prstGeom prst="line">
            <a:avLst/>
          </a:prstGeom>
          <a:ln w="9525">
            <a:solidFill>
              <a:srgbClr val="C9BFAB"/>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77240" y="4420000"/>
            <a:ext cx="10637215" cy="1200000"/>
          </a:xfrm>
          <a:prstGeom prst="rect">
            <a:avLst/>
          </a:prstGeom>
          <a:noFill/>
        </p:spPr>
        <p:txBody>
          <a:bodyPr wrap="square">
            <a:spAutoFit/>
          </a:bodyPr>
          <a:lstStyle/>
          <a:p>
            <a:r>
              <a:rPr sz="1300" b="0" i="0">
                <a:solidFill>
                  <a:srgbClr val="5C5447"/>
                </a:solidFill>
                <a:latin typeface="Cambria"/>
              </a:rPr>
              <a:t>Nếu verifier chấm sai theo hướng lệch văn phong (ví dụ chấm sai các lời giải viết đáp án dưới dạng \dfrac thay vì \tfrac dù đúng về mặt toán học), thì bước Train ở mỗi vòng đang học từ một tập lời giải bị lọc lệch — không phải tập lời giải "đúng nhất". Đây là cơ chế nghi ngờ đứng sau hiện tượng pass@1/pass@8 giảm dần qua các vòng.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777240" y="320040"/>
            <a:ext cx="7315200" cy="274320"/>
          </a:xfrm>
          <a:prstGeom prst="rect">
            <a:avLst/>
          </a:prstGeom>
          <a:noFill/>
        </p:spPr>
        <p:txBody>
          <a:bodyPr wrap="square">
            <a:spAutoFit/>
          </a:bodyPr>
          <a:lstStyle/>
          <a:p>
            <a:pPr algn="l"/>
            <a:r>
              <a:rPr sz="950" b="0" i="0">
                <a:solidFill>
                  <a:srgbClr val="5C5447"/>
                </a:solidFill>
                <a:latin typeface="Cambria"/>
              </a:rPr>
              <a:t>TUẦN 2 — VERIFIER LỆCH VĂN PHONG TRONG SELF-TRAINING</a:t>
            </a:r>
          </a:p>
        </p:txBody>
      </p:sp>
      <p:sp>
        <p:nvSpPr>
          <p:cNvPr id="3" name="TextBox 2"/>
          <p:cNvSpPr txBox="1"/>
          <p:nvPr/>
        </p:nvSpPr>
        <p:spPr>
          <a:xfrm>
            <a:off x="10042855" y="320040"/>
            <a:ext cx="1371600" cy="274320"/>
          </a:xfrm>
          <a:prstGeom prst="rect">
            <a:avLst/>
          </a:prstGeom>
          <a:noFill/>
        </p:spPr>
        <p:txBody>
          <a:bodyPr wrap="square">
            <a:spAutoFit/>
          </a:bodyPr>
          <a:lstStyle/>
          <a:p>
            <a:pPr algn="r"/>
            <a:r>
              <a:rPr sz="950" b="0" i="0">
                <a:solidFill>
                  <a:srgbClr val="5C5447"/>
                </a:solidFill>
                <a:latin typeface="Cambria"/>
              </a:rPr>
              <a:t>04</a:t>
            </a:r>
          </a:p>
        </p:txBody>
      </p:sp>
      <p:cxnSp>
        <p:nvCxnSpPr>
          <p:cNvPr id="4" name="Connector 3"/>
          <p:cNvCxnSpPr/>
          <p:nvPr/>
        </p:nvCxnSpPr>
        <p:spPr>
          <a:xfrm>
            <a:off x="777240" y="621792"/>
            <a:ext cx="10637215" cy="0"/>
          </a:xfrm>
          <a:prstGeom prst="line">
            <a:avLst/>
          </a:prstGeom>
          <a:ln w="9525">
            <a:solidFill>
              <a:srgbClr val="C9BFA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77240" y="777240"/>
            <a:ext cx="10637215" cy="320040"/>
          </a:xfrm>
          <a:prstGeom prst="rect">
            <a:avLst/>
          </a:prstGeom>
          <a:noFill/>
        </p:spPr>
        <p:txBody>
          <a:bodyPr wrap="square">
            <a:spAutoFit/>
          </a:bodyPr>
          <a:lstStyle/>
          <a:p>
            <a:pPr algn="l"/>
            <a:r>
              <a:rPr sz="1300" b="1" i="0">
                <a:solidFill>
                  <a:srgbClr val="7A1F2B"/>
                </a:solidFill>
                <a:latin typeface="Cambria"/>
              </a:rPr>
              <a:t>TUẦN 2 — CHẠY THÊM MODEL LỚN HƠN</a:t>
            </a:r>
          </a:p>
        </p:txBody>
      </p:sp>
      <p:sp>
        <p:nvSpPr>
          <p:cNvPr id="6" name="TextBox 5"/>
          <p:cNvSpPr txBox="1"/>
          <p:nvPr/>
        </p:nvSpPr>
        <p:spPr>
          <a:xfrm>
            <a:off x="777240" y="1078992"/>
            <a:ext cx="10637215" cy="868680"/>
          </a:xfrm>
          <a:prstGeom prst="rect">
            <a:avLst/>
          </a:prstGeom>
          <a:noFill/>
        </p:spPr>
        <p:txBody>
          <a:bodyPr wrap="square">
            <a:spAutoFit/>
          </a:bodyPr>
          <a:lstStyle/>
          <a:p>
            <a:r>
              <a:rPr sz="2700" b="1" i="0">
                <a:solidFill>
                  <a:srgbClr val="2A251D"/>
                </a:solidFill>
                <a:latin typeface="Cambria"/>
              </a:rPr>
              <a:t>Qwen 1.5B: hiện tượng lặp lại, và mạnh hơn hẳn</a:t>
            </a:r>
          </a:p>
        </p:txBody>
      </p:sp>
      <p:sp>
        <p:nvSpPr>
          <p:cNvPr id="7" name="TextBox 6"/>
          <p:cNvSpPr txBox="1"/>
          <p:nvPr/>
        </p:nvSpPr>
        <p:spPr>
          <a:xfrm>
            <a:off x="777240" y="1947672"/>
            <a:ext cx="10637215" cy="420000"/>
          </a:xfrm>
          <a:prstGeom prst="rect">
            <a:avLst/>
          </a:prstGeom>
          <a:noFill/>
        </p:spPr>
        <p:txBody>
          <a:bodyPr wrap="square">
            <a:spAutoFit/>
          </a:bodyPr>
          <a:lstStyle/>
          <a:p>
            <a:r>
              <a:rPr sz="1250" b="0" i="0">
                <a:solidFill>
                  <a:srgbClr val="5C5447"/>
                </a:solidFill>
                <a:latin typeface="Cambria"/>
              </a:rPr>
              <a:t>Cùng thiết kế thí nghiệm với tuần 1 (500 đề/bộ, k=8, 5 vòng), chỉ đổi model 0.5B → 1.5B. Số liệu đủ 5 vòng, tách theo từng bộ đề:</a:t>
            </a:r>
          </a:p>
        </p:txBody>
      </p:sp>
      <p:sp>
        <p:nvSpPr>
          <p:cNvPr id="8" name="TextBox 7"/>
          <p:cNvSpPr txBox="1"/>
          <p:nvPr/>
        </p:nvSpPr>
        <p:spPr>
          <a:xfrm>
            <a:off x="777240" y="2500000"/>
            <a:ext cx="1400000" cy="470000"/>
          </a:xfrm>
          <a:prstGeom prst="rect">
            <a:avLst/>
          </a:prstGeom>
          <a:noFill/>
        </p:spPr>
        <p:txBody>
          <a:bodyPr wrap="square">
            <a:spAutoFit/>
          </a:bodyPr>
          <a:lstStyle/>
          <a:p>
            <a:pPr algn="l"/>
            <a:r>
              <a:rPr sz="1250" b="1" i="0">
                <a:solidFill>
                  <a:srgbClr val="9C772B"/>
                </a:solidFill>
                <a:latin typeface="Cambria"/>
              </a:rPr>
              <a:t>Vòng</a:t>
            </a:r>
          </a:p>
        </p:txBody>
      </p:sp>
      <p:sp>
        <p:nvSpPr>
          <p:cNvPr id="9" name="TextBox 8"/>
          <p:cNvSpPr txBox="1"/>
          <p:nvPr/>
        </p:nvSpPr>
        <p:spPr>
          <a:xfrm>
            <a:off x="2177240" y="2500000"/>
            <a:ext cx="2400000" cy="470000"/>
          </a:xfrm>
          <a:prstGeom prst="rect">
            <a:avLst/>
          </a:prstGeom>
          <a:noFill/>
        </p:spPr>
        <p:txBody>
          <a:bodyPr wrap="square">
            <a:spAutoFit/>
          </a:bodyPr>
          <a:lstStyle/>
          <a:p>
            <a:pPr algn="l"/>
            <a:r>
              <a:rPr sz="1250" b="1" i="0">
                <a:solidFill>
                  <a:srgbClr val="9C772B"/>
                </a:solidFill>
                <a:latin typeface="Cambria"/>
              </a:rPr>
              <a:t>GSM8K pass@1</a:t>
            </a:r>
          </a:p>
        </p:txBody>
      </p:sp>
      <p:sp>
        <p:nvSpPr>
          <p:cNvPr id="10" name="TextBox 9"/>
          <p:cNvSpPr txBox="1"/>
          <p:nvPr/>
        </p:nvSpPr>
        <p:spPr>
          <a:xfrm>
            <a:off x="4577240" y="2500000"/>
            <a:ext cx="2400000" cy="470000"/>
          </a:xfrm>
          <a:prstGeom prst="rect">
            <a:avLst/>
          </a:prstGeom>
          <a:noFill/>
        </p:spPr>
        <p:txBody>
          <a:bodyPr wrap="square">
            <a:spAutoFit/>
          </a:bodyPr>
          <a:lstStyle/>
          <a:p>
            <a:pPr algn="l"/>
            <a:r>
              <a:rPr sz="1250" b="1" i="0">
                <a:solidFill>
                  <a:srgbClr val="9C772B"/>
                </a:solidFill>
                <a:latin typeface="Cambria"/>
              </a:rPr>
              <a:t>GSM8K pass@8</a:t>
            </a:r>
          </a:p>
        </p:txBody>
      </p:sp>
      <p:sp>
        <p:nvSpPr>
          <p:cNvPr id="11" name="TextBox 10"/>
          <p:cNvSpPr txBox="1"/>
          <p:nvPr/>
        </p:nvSpPr>
        <p:spPr>
          <a:xfrm>
            <a:off x="6977240" y="2500000"/>
            <a:ext cx="2400000" cy="470000"/>
          </a:xfrm>
          <a:prstGeom prst="rect">
            <a:avLst/>
          </a:prstGeom>
          <a:noFill/>
        </p:spPr>
        <p:txBody>
          <a:bodyPr wrap="square">
            <a:spAutoFit/>
          </a:bodyPr>
          <a:lstStyle/>
          <a:p>
            <a:pPr algn="l"/>
            <a:r>
              <a:rPr sz="1250" b="1" i="0">
                <a:solidFill>
                  <a:srgbClr val="9C772B"/>
                </a:solidFill>
                <a:latin typeface="Cambria"/>
              </a:rPr>
              <a:t>MATH-500 pass@1</a:t>
            </a:r>
          </a:p>
        </p:txBody>
      </p:sp>
      <p:sp>
        <p:nvSpPr>
          <p:cNvPr id="12" name="TextBox 11"/>
          <p:cNvSpPr txBox="1"/>
          <p:nvPr/>
        </p:nvSpPr>
        <p:spPr>
          <a:xfrm>
            <a:off x="9377240" y="2500000"/>
            <a:ext cx="2400000" cy="470000"/>
          </a:xfrm>
          <a:prstGeom prst="rect">
            <a:avLst/>
          </a:prstGeom>
          <a:noFill/>
        </p:spPr>
        <p:txBody>
          <a:bodyPr wrap="square">
            <a:spAutoFit/>
          </a:bodyPr>
          <a:lstStyle/>
          <a:p>
            <a:pPr algn="l"/>
            <a:r>
              <a:rPr sz="1250" b="1" i="0">
                <a:solidFill>
                  <a:srgbClr val="9C772B"/>
                </a:solidFill>
                <a:latin typeface="Cambria"/>
              </a:rPr>
              <a:t>MATH-500 pass@8</a:t>
            </a:r>
          </a:p>
        </p:txBody>
      </p:sp>
      <p:cxnSp>
        <p:nvCxnSpPr>
          <p:cNvPr id="13" name="Connector 12"/>
          <p:cNvCxnSpPr/>
          <p:nvPr/>
        </p:nvCxnSpPr>
        <p:spPr>
          <a:xfrm>
            <a:off x="777240" y="2970000"/>
            <a:ext cx="11000000" cy="0"/>
          </a:xfrm>
          <a:prstGeom prst="line">
            <a:avLst/>
          </a:prstGeom>
          <a:ln w="9525">
            <a:solidFill>
              <a:srgbClr val="C9BFA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77240" y="2970000"/>
            <a:ext cx="1400000" cy="470000"/>
          </a:xfrm>
          <a:prstGeom prst="rect">
            <a:avLst/>
          </a:prstGeom>
          <a:noFill/>
        </p:spPr>
        <p:txBody>
          <a:bodyPr wrap="square">
            <a:spAutoFit/>
          </a:bodyPr>
          <a:lstStyle/>
          <a:p>
            <a:pPr algn="l"/>
            <a:r>
              <a:rPr sz="1250" b="0" i="0">
                <a:solidFill>
                  <a:srgbClr val="2A251D"/>
                </a:solidFill>
                <a:latin typeface="Cambria"/>
              </a:rPr>
              <a:t>0</a:t>
            </a:r>
          </a:p>
        </p:txBody>
      </p:sp>
      <p:sp>
        <p:nvSpPr>
          <p:cNvPr id="15" name="TextBox 14"/>
          <p:cNvSpPr txBox="1"/>
          <p:nvPr/>
        </p:nvSpPr>
        <p:spPr>
          <a:xfrm>
            <a:off x="2177240" y="2970000"/>
            <a:ext cx="2400000" cy="470000"/>
          </a:xfrm>
          <a:prstGeom prst="rect">
            <a:avLst/>
          </a:prstGeom>
          <a:noFill/>
        </p:spPr>
        <p:txBody>
          <a:bodyPr wrap="square">
            <a:spAutoFit/>
          </a:bodyPr>
          <a:lstStyle/>
          <a:p>
            <a:pPr algn="l"/>
            <a:r>
              <a:rPr sz="1250" b="0" i="0">
                <a:solidFill>
                  <a:srgbClr val="2A251D"/>
                </a:solidFill>
                <a:latin typeface="Cambria"/>
              </a:rPr>
              <a:t>69,6%</a:t>
            </a:r>
          </a:p>
        </p:txBody>
      </p:sp>
      <p:sp>
        <p:nvSpPr>
          <p:cNvPr id="16" name="TextBox 15"/>
          <p:cNvSpPr txBox="1"/>
          <p:nvPr/>
        </p:nvSpPr>
        <p:spPr>
          <a:xfrm>
            <a:off x="4577240" y="2970000"/>
            <a:ext cx="2400000" cy="470000"/>
          </a:xfrm>
          <a:prstGeom prst="rect">
            <a:avLst/>
          </a:prstGeom>
          <a:noFill/>
        </p:spPr>
        <p:txBody>
          <a:bodyPr wrap="square">
            <a:spAutoFit/>
          </a:bodyPr>
          <a:lstStyle/>
          <a:p>
            <a:pPr algn="l"/>
            <a:r>
              <a:rPr sz="1250" b="0" i="0">
                <a:solidFill>
                  <a:srgbClr val="2A251D"/>
                </a:solidFill>
                <a:latin typeface="Cambria"/>
              </a:rPr>
              <a:t>91,4%</a:t>
            </a:r>
          </a:p>
        </p:txBody>
      </p:sp>
      <p:sp>
        <p:nvSpPr>
          <p:cNvPr id="17" name="TextBox 16"/>
          <p:cNvSpPr txBox="1"/>
          <p:nvPr/>
        </p:nvSpPr>
        <p:spPr>
          <a:xfrm>
            <a:off x="6977240" y="2970000"/>
            <a:ext cx="2400000" cy="470000"/>
          </a:xfrm>
          <a:prstGeom prst="rect">
            <a:avLst/>
          </a:prstGeom>
          <a:noFill/>
        </p:spPr>
        <p:txBody>
          <a:bodyPr wrap="square">
            <a:spAutoFit/>
          </a:bodyPr>
          <a:lstStyle/>
          <a:p>
            <a:pPr algn="l"/>
            <a:r>
              <a:rPr sz="1250" b="0" i="0">
                <a:solidFill>
                  <a:srgbClr val="2A251D"/>
                </a:solidFill>
                <a:latin typeface="Cambria"/>
              </a:rPr>
              <a:t>30,4%</a:t>
            </a:r>
          </a:p>
        </p:txBody>
      </p:sp>
      <p:sp>
        <p:nvSpPr>
          <p:cNvPr id="18" name="TextBox 17"/>
          <p:cNvSpPr txBox="1"/>
          <p:nvPr/>
        </p:nvSpPr>
        <p:spPr>
          <a:xfrm>
            <a:off x="9377240" y="2970000"/>
            <a:ext cx="2400000" cy="470000"/>
          </a:xfrm>
          <a:prstGeom prst="rect">
            <a:avLst/>
          </a:prstGeom>
          <a:noFill/>
        </p:spPr>
        <p:txBody>
          <a:bodyPr wrap="square">
            <a:spAutoFit/>
          </a:bodyPr>
          <a:lstStyle/>
          <a:p>
            <a:pPr algn="l"/>
            <a:r>
              <a:rPr sz="1250" b="0" i="0">
                <a:solidFill>
                  <a:srgbClr val="2A251D"/>
                </a:solidFill>
                <a:latin typeface="Cambria"/>
              </a:rPr>
              <a:t>53,8%</a:t>
            </a:r>
          </a:p>
        </p:txBody>
      </p:sp>
      <p:cxnSp>
        <p:nvCxnSpPr>
          <p:cNvPr id="19" name="Connector 18"/>
          <p:cNvCxnSpPr/>
          <p:nvPr/>
        </p:nvCxnSpPr>
        <p:spPr>
          <a:xfrm>
            <a:off x="777240" y="3440000"/>
            <a:ext cx="11000000" cy="0"/>
          </a:xfrm>
          <a:prstGeom prst="line">
            <a:avLst/>
          </a:prstGeom>
          <a:ln w="9525">
            <a:solidFill>
              <a:srgbClr val="C9BFAB"/>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77240" y="3440000"/>
            <a:ext cx="1400000" cy="470000"/>
          </a:xfrm>
          <a:prstGeom prst="rect">
            <a:avLst/>
          </a:prstGeom>
          <a:noFill/>
        </p:spPr>
        <p:txBody>
          <a:bodyPr wrap="square">
            <a:spAutoFit/>
          </a:bodyPr>
          <a:lstStyle/>
          <a:p>
            <a:pPr algn="l"/>
            <a:r>
              <a:rPr sz="1250" b="0" i="0">
                <a:solidFill>
                  <a:srgbClr val="2A251D"/>
                </a:solidFill>
                <a:latin typeface="Cambria"/>
              </a:rPr>
              <a:t>1</a:t>
            </a:r>
          </a:p>
        </p:txBody>
      </p:sp>
      <p:sp>
        <p:nvSpPr>
          <p:cNvPr id="21" name="TextBox 20"/>
          <p:cNvSpPr txBox="1"/>
          <p:nvPr/>
        </p:nvSpPr>
        <p:spPr>
          <a:xfrm>
            <a:off x="2177240" y="3440000"/>
            <a:ext cx="2400000" cy="470000"/>
          </a:xfrm>
          <a:prstGeom prst="rect">
            <a:avLst/>
          </a:prstGeom>
          <a:noFill/>
        </p:spPr>
        <p:txBody>
          <a:bodyPr wrap="square">
            <a:spAutoFit/>
          </a:bodyPr>
          <a:lstStyle/>
          <a:p>
            <a:pPr algn="l"/>
            <a:r>
              <a:rPr sz="1250" b="0" i="0">
                <a:solidFill>
                  <a:srgbClr val="2A251D"/>
                </a:solidFill>
                <a:latin typeface="Cambria"/>
              </a:rPr>
              <a:t>62,0%</a:t>
            </a:r>
          </a:p>
        </p:txBody>
      </p:sp>
      <p:sp>
        <p:nvSpPr>
          <p:cNvPr id="22" name="TextBox 21"/>
          <p:cNvSpPr txBox="1"/>
          <p:nvPr/>
        </p:nvSpPr>
        <p:spPr>
          <a:xfrm>
            <a:off x="4577240" y="3440000"/>
            <a:ext cx="2400000" cy="470000"/>
          </a:xfrm>
          <a:prstGeom prst="rect">
            <a:avLst/>
          </a:prstGeom>
          <a:noFill/>
        </p:spPr>
        <p:txBody>
          <a:bodyPr wrap="square">
            <a:spAutoFit/>
          </a:bodyPr>
          <a:lstStyle/>
          <a:p>
            <a:pPr algn="l"/>
            <a:r>
              <a:rPr sz="1250" b="0" i="0">
                <a:solidFill>
                  <a:srgbClr val="2A251D"/>
                </a:solidFill>
                <a:latin typeface="Cambria"/>
              </a:rPr>
              <a:t>90,4%</a:t>
            </a:r>
          </a:p>
        </p:txBody>
      </p:sp>
      <p:sp>
        <p:nvSpPr>
          <p:cNvPr id="23" name="TextBox 22"/>
          <p:cNvSpPr txBox="1"/>
          <p:nvPr/>
        </p:nvSpPr>
        <p:spPr>
          <a:xfrm>
            <a:off x="6977240" y="3440000"/>
            <a:ext cx="2400000" cy="470000"/>
          </a:xfrm>
          <a:prstGeom prst="rect">
            <a:avLst/>
          </a:prstGeom>
          <a:noFill/>
        </p:spPr>
        <p:txBody>
          <a:bodyPr wrap="square">
            <a:spAutoFit/>
          </a:bodyPr>
          <a:lstStyle/>
          <a:p>
            <a:pPr algn="l"/>
            <a:r>
              <a:rPr sz="1250" b="0" i="0">
                <a:solidFill>
                  <a:srgbClr val="2A251D"/>
                </a:solidFill>
                <a:latin typeface="Cambria"/>
              </a:rPr>
              <a:t>30,4%</a:t>
            </a:r>
          </a:p>
        </p:txBody>
      </p:sp>
      <p:sp>
        <p:nvSpPr>
          <p:cNvPr id="24" name="TextBox 23"/>
          <p:cNvSpPr txBox="1"/>
          <p:nvPr/>
        </p:nvSpPr>
        <p:spPr>
          <a:xfrm>
            <a:off x="9377240" y="3440000"/>
            <a:ext cx="2400000" cy="470000"/>
          </a:xfrm>
          <a:prstGeom prst="rect">
            <a:avLst/>
          </a:prstGeom>
          <a:noFill/>
        </p:spPr>
        <p:txBody>
          <a:bodyPr wrap="square">
            <a:spAutoFit/>
          </a:bodyPr>
          <a:lstStyle/>
          <a:p>
            <a:pPr algn="l"/>
            <a:r>
              <a:rPr sz="1250" b="0" i="0">
                <a:solidFill>
                  <a:srgbClr val="2A251D"/>
                </a:solidFill>
                <a:latin typeface="Cambria"/>
              </a:rPr>
              <a:t>52,6%</a:t>
            </a:r>
          </a:p>
        </p:txBody>
      </p:sp>
      <p:cxnSp>
        <p:nvCxnSpPr>
          <p:cNvPr id="25" name="Connector 24"/>
          <p:cNvCxnSpPr/>
          <p:nvPr/>
        </p:nvCxnSpPr>
        <p:spPr>
          <a:xfrm>
            <a:off x="777240" y="3910000"/>
            <a:ext cx="11000000" cy="0"/>
          </a:xfrm>
          <a:prstGeom prst="line">
            <a:avLst/>
          </a:prstGeom>
          <a:ln w="9525">
            <a:solidFill>
              <a:srgbClr val="C9BFAB"/>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777240" y="3910000"/>
            <a:ext cx="1400000" cy="470000"/>
          </a:xfrm>
          <a:prstGeom prst="rect">
            <a:avLst/>
          </a:prstGeom>
          <a:noFill/>
        </p:spPr>
        <p:txBody>
          <a:bodyPr wrap="square">
            <a:spAutoFit/>
          </a:bodyPr>
          <a:lstStyle/>
          <a:p>
            <a:pPr algn="l"/>
            <a:r>
              <a:rPr sz="1250" b="0" i="0">
                <a:solidFill>
                  <a:srgbClr val="2A251D"/>
                </a:solidFill>
                <a:latin typeface="Cambria"/>
              </a:rPr>
              <a:t>2</a:t>
            </a:r>
          </a:p>
        </p:txBody>
      </p:sp>
      <p:sp>
        <p:nvSpPr>
          <p:cNvPr id="27" name="TextBox 26"/>
          <p:cNvSpPr txBox="1"/>
          <p:nvPr/>
        </p:nvSpPr>
        <p:spPr>
          <a:xfrm>
            <a:off x="2177240" y="3910000"/>
            <a:ext cx="2400000" cy="470000"/>
          </a:xfrm>
          <a:prstGeom prst="rect">
            <a:avLst/>
          </a:prstGeom>
          <a:noFill/>
        </p:spPr>
        <p:txBody>
          <a:bodyPr wrap="square">
            <a:spAutoFit/>
          </a:bodyPr>
          <a:lstStyle/>
          <a:p>
            <a:pPr algn="l"/>
            <a:r>
              <a:rPr sz="1250" b="0" i="0">
                <a:solidFill>
                  <a:srgbClr val="2A251D"/>
                </a:solidFill>
                <a:latin typeface="Cambria"/>
              </a:rPr>
              <a:t>61,0%</a:t>
            </a:r>
          </a:p>
        </p:txBody>
      </p:sp>
      <p:sp>
        <p:nvSpPr>
          <p:cNvPr id="28" name="TextBox 27"/>
          <p:cNvSpPr txBox="1"/>
          <p:nvPr/>
        </p:nvSpPr>
        <p:spPr>
          <a:xfrm>
            <a:off x="4577240" y="3910000"/>
            <a:ext cx="2400000" cy="470000"/>
          </a:xfrm>
          <a:prstGeom prst="rect">
            <a:avLst/>
          </a:prstGeom>
          <a:noFill/>
        </p:spPr>
        <p:txBody>
          <a:bodyPr wrap="square">
            <a:spAutoFit/>
          </a:bodyPr>
          <a:lstStyle/>
          <a:p>
            <a:pPr algn="l"/>
            <a:r>
              <a:rPr sz="1250" b="0" i="0">
                <a:solidFill>
                  <a:srgbClr val="2A251D"/>
                </a:solidFill>
                <a:latin typeface="Cambria"/>
              </a:rPr>
              <a:t>89,0%</a:t>
            </a:r>
          </a:p>
        </p:txBody>
      </p:sp>
      <p:sp>
        <p:nvSpPr>
          <p:cNvPr id="29" name="TextBox 28"/>
          <p:cNvSpPr txBox="1"/>
          <p:nvPr/>
        </p:nvSpPr>
        <p:spPr>
          <a:xfrm>
            <a:off x="6977240" y="3910000"/>
            <a:ext cx="2400000" cy="470000"/>
          </a:xfrm>
          <a:prstGeom prst="rect">
            <a:avLst/>
          </a:prstGeom>
          <a:noFill/>
        </p:spPr>
        <p:txBody>
          <a:bodyPr wrap="square">
            <a:spAutoFit/>
          </a:bodyPr>
          <a:lstStyle/>
          <a:p>
            <a:pPr algn="l"/>
            <a:r>
              <a:rPr sz="1250" b="0" i="0">
                <a:solidFill>
                  <a:srgbClr val="2A251D"/>
                </a:solidFill>
                <a:latin typeface="Cambria"/>
              </a:rPr>
              <a:t>28,0%</a:t>
            </a:r>
          </a:p>
        </p:txBody>
      </p:sp>
      <p:sp>
        <p:nvSpPr>
          <p:cNvPr id="30" name="TextBox 29"/>
          <p:cNvSpPr txBox="1"/>
          <p:nvPr/>
        </p:nvSpPr>
        <p:spPr>
          <a:xfrm>
            <a:off x="9377240" y="3910000"/>
            <a:ext cx="2400000" cy="470000"/>
          </a:xfrm>
          <a:prstGeom prst="rect">
            <a:avLst/>
          </a:prstGeom>
          <a:noFill/>
        </p:spPr>
        <p:txBody>
          <a:bodyPr wrap="square">
            <a:spAutoFit/>
          </a:bodyPr>
          <a:lstStyle/>
          <a:p>
            <a:pPr algn="l"/>
            <a:r>
              <a:rPr sz="1250" b="0" i="0">
                <a:solidFill>
                  <a:srgbClr val="2A251D"/>
                </a:solidFill>
                <a:latin typeface="Cambria"/>
              </a:rPr>
              <a:t>51,4%</a:t>
            </a:r>
          </a:p>
        </p:txBody>
      </p:sp>
      <p:cxnSp>
        <p:nvCxnSpPr>
          <p:cNvPr id="31" name="Connector 30"/>
          <p:cNvCxnSpPr/>
          <p:nvPr/>
        </p:nvCxnSpPr>
        <p:spPr>
          <a:xfrm>
            <a:off x="777240" y="4380000"/>
            <a:ext cx="11000000" cy="0"/>
          </a:xfrm>
          <a:prstGeom prst="line">
            <a:avLst/>
          </a:prstGeom>
          <a:ln w="9525">
            <a:solidFill>
              <a:srgbClr val="C9BFAB"/>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777240" y="4380000"/>
            <a:ext cx="1400000" cy="470000"/>
          </a:xfrm>
          <a:prstGeom prst="rect">
            <a:avLst/>
          </a:prstGeom>
          <a:noFill/>
        </p:spPr>
        <p:txBody>
          <a:bodyPr wrap="square">
            <a:spAutoFit/>
          </a:bodyPr>
          <a:lstStyle/>
          <a:p>
            <a:pPr algn="l"/>
            <a:r>
              <a:rPr sz="1250" b="0" i="0">
                <a:solidFill>
                  <a:srgbClr val="2A251D"/>
                </a:solidFill>
                <a:latin typeface="Cambria"/>
              </a:rPr>
              <a:t>3</a:t>
            </a:r>
          </a:p>
        </p:txBody>
      </p:sp>
      <p:sp>
        <p:nvSpPr>
          <p:cNvPr id="33" name="TextBox 32"/>
          <p:cNvSpPr txBox="1"/>
          <p:nvPr/>
        </p:nvSpPr>
        <p:spPr>
          <a:xfrm>
            <a:off x="2177240" y="4380000"/>
            <a:ext cx="2400000" cy="470000"/>
          </a:xfrm>
          <a:prstGeom prst="rect">
            <a:avLst/>
          </a:prstGeom>
          <a:noFill/>
        </p:spPr>
        <p:txBody>
          <a:bodyPr wrap="square">
            <a:spAutoFit/>
          </a:bodyPr>
          <a:lstStyle/>
          <a:p>
            <a:pPr algn="l"/>
            <a:r>
              <a:rPr sz="1250" b="0" i="0">
                <a:solidFill>
                  <a:srgbClr val="2A251D"/>
                </a:solidFill>
                <a:latin typeface="Cambria"/>
              </a:rPr>
              <a:t>45,6%</a:t>
            </a:r>
          </a:p>
        </p:txBody>
      </p:sp>
      <p:sp>
        <p:nvSpPr>
          <p:cNvPr id="34" name="TextBox 33"/>
          <p:cNvSpPr txBox="1"/>
          <p:nvPr/>
        </p:nvSpPr>
        <p:spPr>
          <a:xfrm>
            <a:off x="4577240" y="4380000"/>
            <a:ext cx="2400000" cy="470000"/>
          </a:xfrm>
          <a:prstGeom prst="rect">
            <a:avLst/>
          </a:prstGeom>
          <a:noFill/>
        </p:spPr>
        <p:txBody>
          <a:bodyPr wrap="square">
            <a:spAutoFit/>
          </a:bodyPr>
          <a:lstStyle/>
          <a:p>
            <a:pPr algn="l"/>
            <a:r>
              <a:rPr sz="1250" b="0" i="0">
                <a:solidFill>
                  <a:srgbClr val="2A251D"/>
                </a:solidFill>
                <a:latin typeface="Cambria"/>
              </a:rPr>
              <a:t>82,2%</a:t>
            </a:r>
          </a:p>
        </p:txBody>
      </p:sp>
      <p:sp>
        <p:nvSpPr>
          <p:cNvPr id="35" name="TextBox 34"/>
          <p:cNvSpPr txBox="1"/>
          <p:nvPr/>
        </p:nvSpPr>
        <p:spPr>
          <a:xfrm>
            <a:off x="6977240" y="4380000"/>
            <a:ext cx="2400000" cy="470000"/>
          </a:xfrm>
          <a:prstGeom prst="rect">
            <a:avLst/>
          </a:prstGeom>
          <a:noFill/>
        </p:spPr>
        <p:txBody>
          <a:bodyPr wrap="square">
            <a:spAutoFit/>
          </a:bodyPr>
          <a:lstStyle/>
          <a:p>
            <a:pPr algn="l"/>
            <a:r>
              <a:rPr sz="1250" b="0" i="0">
                <a:solidFill>
                  <a:srgbClr val="2A251D"/>
                </a:solidFill>
                <a:latin typeface="Cambria"/>
              </a:rPr>
              <a:t>19,2%</a:t>
            </a:r>
          </a:p>
        </p:txBody>
      </p:sp>
      <p:sp>
        <p:nvSpPr>
          <p:cNvPr id="36" name="TextBox 35"/>
          <p:cNvSpPr txBox="1"/>
          <p:nvPr/>
        </p:nvSpPr>
        <p:spPr>
          <a:xfrm>
            <a:off x="9377240" y="4380000"/>
            <a:ext cx="2400000" cy="470000"/>
          </a:xfrm>
          <a:prstGeom prst="rect">
            <a:avLst/>
          </a:prstGeom>
          <a:noFill/>
        </p:spPr>
        <p:txBody>
          <a:bodyPr wrap="square">
            <a:spAutoFit/>
          </a:bodyPr>
          <a:lstStyle/>
          <a:p>
            <a:pPr algn="l"/>
            <a:r>
              <a:rPr sz="1250" b="0" i="0">
                <a:solidFill>
                  <a:srgbClr val="2A251D"/>
                </a:solidFill>
                <a:latin typeface="Cambria"/>
              </a:rPr>
              <a:t>45,0%</a:t>
            </a:r>
          </a:p>
        </p:txBody>
      </p:sp>
      <p:cxnSp>
        <p:nvCxnSpPr>
          <p:cNvPr id="37" name="Connector 36"/>
          <p:cNvCxnSpPr/>
          <p:nvPr/>
        </p:nvCxnSpPr>
        <p:spPr>
          <a:xfrm>
            <a:off x="777240" y="4850000"/>
            <a:ext cx="11000000" cy="0"/>
          </a:xfrm>
          <a:prstGeom prst="line">
            <a:avLst/>
          </a:prstGeom>
          <a:ln w="9525">
            <a:solidFill>
              <a:srgbClr val="C9BFAB"/>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777240" y="4850000"/>
            <a:ext cx="1400000" cy="470000"/>
          </a:xfrm>
          <a:prstGeom prst="rect">
            <a:avLst/>
          </a:prstGeom>
          <a:noFill/>
        </p:spPr>
        <p:txBody>
          <a:bodyPr wrap="square">
            <a:spAutoFit/>
          </a:bodyPr>
          <a:lstStyle/>
          <a:p>
            <a:pPr algn="l"/>
            <a:r>
              <a:rPr sz="1250" b="0" i="0">
                <a:solidFill>
                  <a:srgbClr val="2A251D"/>
                </a:solidFill>
                <a:latin typeface="Cambria"/>
              </a:rPr>
              <a:t>4</a:t>
            </a:r>
          </a:p>
        </p:txBody>
      </p:sp>
      <p:sp>
        <p:nvSpPr>
          <p:cNvPr id="39" name="TextBox 38"/>
          <p:cNvSpPr txBox="1"/>
          <p:nvPr/>
        </p:nvSpPr>
        <p:spPr>
          <a:xfrm>
            <a:off x="2177240" y="4850000"/>
            <a:ext cx="2400000" cy="470000"/>
          </a:xfrm>
          <a:prstGeom prst="rect">
            <a:avLst/>
          </a:prstGeom>
          <a:noFill/>
        </p:spPr>
        <p:txBody>
          <a:bodyPr wrap="square">
            <a:spAutoFit/>
          </a:bodyPr>
          <a:lstStyle/>
          <a:p>
            <a:pPr algn="l"/>
            <a:r>
              <a:rPr sz="1250" b="0" i="0">
                <a:solidFill>
                  <a:srgbClr val="2A251D"/>
                </a:solidFill>
                <a:latin typeface="Cambria"/>
              </a:rPr>
              <a:t>26,6%</a:t>
            </a:r>
          </a:p>
        </p:txBody>
      </p:sp>
      <p:sp>
        <p:nvSpPr>
          <p:cNvPr id="40" name="TextBox 39"/>
          <p:cNvSpPr txBox="1"/>
          <p:nvPr/>
        </p:nvSpPr>
        <p:spPr>
          <a:xfrm>
            <a:off x="4577240" y="4850000"/>
            <a:ext cx="2400000" cy="470000"/>
          </a:xfrm>
          <a:prstGeom prst="rect">
            <a:avLst/>
          </a:prstGeom>
          <a:noFill/>
        </p:spPr>
        <p:txBody>
          <a:bodyPr wrap="square">
            <a:spAutoFit/>
          </a:bodyPr>
          <a:lstStyle/>
          <a:p>
            <a:pPr algn="l"/>
            <a:r>
              <a:rPr sz="1250" b="0" i="0">
                <a:solidFill>
                  <a:srgbClr val="2A251D"/>
                </a:solidFill>
                <a:latin typeface="Cambria"/>
              </a:rPr>
              <a:t>65,8%</a:t>
            </a:r>
          </a:p>
        </p:txBody>
      </p:sp>
      <p:sp>
        <p:nvSpPr>
          <p:cNvPr id="41" name="TextBox 40"/>
          <p:cNvSpPr txBox="1"/>
          <p:nvPr/>
        </p:nvSpPr>
        <p:spPr>
          <a:xfrm>
            <a:off x="6977240" y="4850000"/>
            <a:ext cx="2400000" cy="470000"/>
          </a:xfrm>
          <a:prstGeom prst="rect">
            <a:avLst/>
          </a:prstGeom>
          <a:noFill/>
        </p:spPr>
        <p:txBody>
          <a:bodyPr wrap="square">
            <a:spAutoFit/>
          </a:bodyPr>
          <a:lstStyle/>
          <a:p>
            <a:pPr algn="l"/>
            <a:r>
              <a:rPr sz="1250" b="0" i="0">
                <a:solidFill>
                  <a:srgbClr val="2A251D"/>
                </a:solidFill>
                <a:latin typeface="Cambria"/>
              </a:rPr>
              <a:t>10,6%</a:t>
            </a:r>
          </a:p>
        </p:txBody>
      </p:sp>
      <p:sp>
        <p:nvSpPr>
          <p:cNvPr id="42" name="TextBox 41"/>
          <p:cNvSpPr txBox="1"/>
          <p:nvPr/>
        </p:nvSpPr>
        <p:spPr>
          <a:xfrm>
            <a:off x="9377240" y="4850000"/>
            <a:ext cx="2400000" cy="470000"/>
          </a:xfrm>
          <a:prstGeom prst="rect">
            <a:avLst/>
          </a:prstGeom>
          <a:noFill/>
        </p:spPr>
        <p:txBody>
          <a:bodyPr wrap="square">
            <a:spAutoFit/>
          </a:bodyPr>
          <a:lstStyle/>
          <a:p>
            <a:pPr algn="l"/>
            <a:r>
              <a:rPr sz="1250" b="0" i="0">
                <a:solidFill>
                  <a:srgbClr val="2A251D"/>
                </a:solidFill>
                <a:latin typeface="Cambria"/>
              </a:rPr>
              <a:t>31,4%</a:t>
            </a:r>
          </a:p>
        </p:txBody>
      </p:sp>
      <p:cxnSp>
        <p:nvCxnSpPr>
          <p:cNvPr id="43" name="Connector 42"/>
          <p:cNvCxnSpPr/>
          <p:nvPr/>
        </p:nvCxnSpPr>
        <p:spPr>
          <a:xfrm>
            <a:off x="777240" y="5320000"/>
            <a:ext cx="11000000" cy="0"/>
          </a:xfrm>
          <a:prstGeom prst="line">
            <a:avLst/>
          </a:prstGeom>
          <a:ln w="9525">
            <a:solidFill>
              <a:srgbClr val="C9BFAB"/>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777240" y="5300000"/>
            <a:ext cx="10637215" cy="750000"/>
          </a:xfrm>
          <a:prstGeom prst="rect">
            <a:avLst/>
          </a:prstGeom>
          <a:noFill/>
        </p:spPr>
        <p:txBody>
          <a:bodyPr wrap="square">
            <a:spAutoFit/>
          </a:bodyPr>
          <a:lstStyle/>
          <a:p>
            <a:r>
              <a:rPr sz="1250" b="0" i="1">
                <a:solidFill>
                  <a:srgbClr val="2A251D"/>
                </a:solidFill>
                <a:latin typeface="Cambria"/>
              </a:rPr>
              <a:t>Cả hai bộ đề đều giảm liên tục qua 5 vòng, giảm mạnh hơn hẳn so với 0.5B — nhưng GSM8K (verifier gần như không lỗi) cũng giảm rất nặng, không chỉ MATH-500. Đây là manh mối dẫn tới phát hiện ở slide sau.</a:t>
            </a:r>
          </a:p>
        </p:txBody>
      </p:sp>
      <p:sp>
        <p:nvSpPr>
          <p:cNvPr id="45" name="TextBox 44"/>
          <p:cNvSpPr txBox="1"/>
          <p:nvPr/>
        </p:nvSpPr>
        <p:spPr>
          <a:xfrm>
            <a:off x="777240" y="6355080"/>
            <a:ext cx="10637215" cy="365760"/>
          </a:xfrm>
          <a:prstGeom prst="rect">
            <a:avLst/>
          </a:prstGeom>
          <a:noFill/>
        </p:spPr>
        <p:txBody>
          <a:bodyPr wrap="square">
            <a:spAutoFit/>
          </a:bodyPr>
          <a:lstStyle/>
          <a:p>
            <a:pPr algn="l"/>
            <a:r>
              <a:rPr sz="950" b="0" i="1">
                <a:solidFill>
                  <a:srgbClr val="5C5447"/>
                </a:solidFill>
                <a:latin typeface="Cambria"/>
              </a:rPr>
              <a:t>Qwen2.5-1.5B-Instruct, --dataset both, n=500/bộ, k=8, 5 vòng — Kaggle; tái tính từ generations.jsonl gốc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777240" y="320040"/>
            <a:ext cx="7315200" cy="274320"/>
          </a:xfrm>
          <a:prstGeom prst="rect">
            <a:avLst/>
          </a:prstGeom>
          <a:noFill/>
        </p:spPr>
        <p:txBody>
          <a:bodyPr wrap="square">
            <a:spAutoFit/>
          </a:bodyPr>
          <a:lstStyle/>
          <a:p>
            <a:pPr algn="l"/>
            <a:r>
              <a:rPr sz="950" b="0" i="0">
                <a:solidFill>
                  <a:srgbClr val="5C5447"/>
                </a:solidFill>
                <a:latin typeface="Cambria"/>
              </a:rPr>
              <a:t>TUẦN 2 — VERIFIER LỆCH VĂN PHONG TRONG SELF-TRAINING</a:t>
            </a:r>
          </a:p>
        </p:txBody>
      </p:sp>
      <p:sp>
        <p:nvSpPr>
          <p:cNvPr id="3" name="TextBox 2"/>
          <p:cNvSpPr txBox="1"/>
          <p:nvPr/>
        </p:nvSpPr>
        <p:spPr>
          <a:xfrm>
            <a:off x="10042855" y="320040"/>
            <a:ext cx="1371600" cy="274320"/>
          </a:xfrm>
          <a:prstGeom prst="rect">
            <a:avLst/>
          </a:prstGeom>
          <a:noFill/>
        </p:spPr>
        <p:txBody>
          <a:bodyPr wrap="square">
            <a:spAutoFit/>
          </a:bodyPr>
          <a:lstStyle/>
          <a:p>
            <a:pPr algn="r"/>
            <a:r>
              <a:rPr sz="950" b="0" i="0">
                <a:solidFill>
                  <a:srgbClr val="5C5447"/>
                </a:solidFill>
                <a:latin typeface="Cambria"/>
              </a:rPr>
              <a:t>05</a:t>
            </a:r>
          </a:p>
        </p:txBody>
      </p:sp>
      <p:cxnSp>
        <p:nvCxnSpPr>
          <p:cNvPr id="4" name="Connector 3"/>
          <p:cNvCxnSpPr/>
          <p:nvPr/>
        </p:nvCxnSpPr>
        <p:spPr>
          <a:xfrm>
            <a:off x="777240" y="621792"/>
            <a:ext cx="10637215" cy="0"/>
          </a:xfrm>
          <a:prstGeom prst="line">
            <a:avLst/>
          </a:prstGeom>
          <a:ln w="9525">
            <a:solidFill>
              <a:srgbClr val="C9BFA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77240" y="777240"/>
            <a:ext cx="10637215" cy="320040"/>
          </a:xfrm>
          <a:prstGeom prst="rect">
            <a:avLst/>
          </a:prstGeom>
          <a:noFill/>
        </p:spPr>
        <p:txBody>
          <a:bodyPr wrap="square">
            <a:spAutoFit/>
          </a:bodyPr>
          <a:lstStyle/>
          <a:p>
            <a:pPr algn="l"/>
            <a:r>
              <a:rPr sz="1300" b="1" i="0">
                <a:solidFill>
                  <a:srgbClr val="7A1F2B"/>
                </a:solidFill>
                <a:latin typeface="Cambria"/>
              </a:rPr>
              <a:t>BẰNG CHỨNG PHÁT HIỆN</a:t>
            </a:r>
          </a:p>
        </p:txBody>
      </p:sp>
      <p:sp>
        <p:nvSpPr>
          <p:cNvPr id="6" name="TextBox 5"/>
          <p:cNvSpPr txBox="1"/>
          <p:nvPr/>
        </p:nvSpPr>
        <p:spPr>
          <a:xfrm>
            <a:off x="777240" y="1078992"/>
            <a:ext cx="10637215" cy="868680"/>
          </a:xfrm>
          <a:prstGeom prst="rect">
            <a:avLst/>
          </a:prstGeom>
          <a:noFill/>
        </p:spPr>
        <p:txBody>
          <a:bodyPr wrap="square">
            <a:spAutoFit/>
          </a:bodyPr>
          <a:lstStyle/>
          <a:p>
            <a:r>
              <a:rPr sz="2700" b="1" i="0">
                <a:solidFill>
                  <a:srgbClr val="2A251D"/>
                </a:solidFill>
                <a:latin typeface="Cambria"/>
              </a:rPr>
              <a:t>Hai bộ đề đang bị trộn chung khi train</a:t>
            </a:r>
          </a:p>
        </p:txBody>
      </p:sp>
      <p:sp>
        <p:nvSpPr>
          <p:cNvPr id="7" name="TextBox 6"/>
          <p:cNvSpPr txBox="1"/>
          <p:nvPr/>
        </p:nvSpPr>
        <p:spPr>
          <a:xfrm>
            <a:off x="777240" y="1947672"/>
            <a:ext cx="10637215" cy="900000"/>
          </a:xfrm>
          <a:prstGeom prst="rect">
            <a:avLst/>
          </a:prstGeom>
          <a:noFill/>
        </p:spPr>
        <p:txBody>
          <a:bodyPr wrap="square">
            <a:spAutoFit/>
          </a:bodyPr>
          <a:lstStyle/>
          <a:p>
            <a:r>
              <a:rPr sz="1300" b="0" i="0">
                <a:solidFill>
                  <a:srgbClr val="2A251D"/>
                </a:solidFill>
                <a:latin typeface="Cambria"/>
              </a:rPr>
              <a:t>GSM8K gần như không bị verifier chấm sai (tỉ lệ chấm sai ước tính ≈0%), vậy tại sao pass@1 của GSM8K vẫn giảm từ 69,6% xuống 26,6%? Kiểm tra lại quy trình train: mỗi vòng, lời giải giữ được từ CẢ HAI bộ đề bị gộp vào một tập, rồi fine-tune một adapter LoRA duy nhất trên tập gộp đó.</a:t>
            </a:r>
          </a:p>
        </p:txBody>
      </p:sp>
      <p:sp>
        <p:nvSpPr>
          <p:cNvPr id="8" name="TextBox 7"/>
          <p:cNvSpPr txBox="1"/>
          <p:nvPr/>
        </p:nvSpPr>
        <p:spPr>
          <a:xfrm>
            <a:off x="777240" y="2950000"/>
            <a:ext cx="10637215" cy="300000"/>
          </a:xfrm>
          <a:prstGeom prst="rect">
            <a:avLst/>
          </a:prstGeom>
          <a:noFill/>
        </p:spPr>
        <p:txBody>
          <a:bodyPr wrap="square">
            <a:spAutoFit/>
          </a:bodyPr>
          <a:lstStyle/>
          <a:p>
            <a:pPr algn="l"/>
            <a:r>
              <a:rPr sz="1200" b="1" i="0">
                <a:solidFill>
                  <a:srgbClr val="5C5447"/>
                </a:solidFill>
                <a:latin typeface="Cambria"/>
              </a:rPr>
              <a:t>Tỉ lệ mỗi bộ đề trong tập train mỗi vòng (preset reward):</a:t>
            </a:r>
          </a:p>
        </p:txBody>
      </p:sp>
      <p:sp>
        <p:nvSpPr>
          <p:cNvPr id="9" name="TextBox 8"/>
          <p:cNvSpPr txBox="1"/>
          <p:nvPr/>
        </p:nvSpPr>
        <p:spPr>
          <a:xfrm>
            <a:off x="777240" y="3320000"/>
            <a:ext cx="3600000" cy="420000"/>
          </a:xfrm>
          <a:prstGeom prst="rect">
            <a:avLst/>
          </a:prstGeom>
          <a:noFill/>
        </p:spPr>
        <p:txBody>
          <a:bodyPr wrap="square">
            <a:spAutoFit/>
          </a:bodyPr>
          <a:lstStyle/>
          <a:p>
            <a:pPr algn="l"/>
            <a:r>
              <a:rPr sz="1150" b="1" i="0">
                <a:solidFill>
                  <a:srgbClr val="9C772B"/>
                </a:solidFill>
                <a:latin typeface="Cambria"/>
              </a:rPr>
              <a:t>Vòng</a:t>
            </a:r>
          </a:p>
        </p:txBody>
      </p:sp>
      <p:sp>
        <p:nvSpPr>
          <p:cNvPr id="10" name="TextBox 9"/>
          <p:cNvSpPr txBox="1"/>
          <p:nvPr/>
        </p:nvSpPr>
        <p:spPr>
          <a:xfrm>
            <a:off x="4377240" y="3320000"/>
            <a:ext cx="1407430" cy="420000"/>
          </a:xfrm>
          <a:prstGeom prst="rect">
            <a:avLst/>
          </a:prstGeom>
          <a:noFill/>
        </p:spPr>
        <p:txBody>
          <a:bodyPr wrap="square">
            <a:spAutoFit/>
          </a:bodyPr>
          <a:lstStyle/>
          <a:p>
            <a:pPr algn="l"/>
            <a:r>
              <a:rPr sz="1150" b="1" i="0">
                <a:solidFill>
                  <a:srgbClr val="9C772B"/>
                </a:solidFill>
                <a:latin typeface="Cambria"/>
              </a:rPr>
              <a:t>0</a:t>
            </a:r>
          </a:p>
        </p:txBody>
      </p:sp>
      <p:sp>
        <p:nvSpPr>
          <p:cNvPr id="11" name="TextBox 10"/>
          <p:cNvSpPr txBox="1"/>
          <p:nvPr/>
        </p:nvSpPr>
        <p:spPr>
          <a:xfrm>
            <a:off x="5784670" y="3320000"/>
            <a:ext cx="1407430" cy="420000"/>
          </a:xfrm>
          <a:prstGeom prst="rect">
            <a:avLst/>
          </a:prstGeom>
          <a:noFill/>
        </p:spPr>
        <p:txBody>
          <a:bodyPr wrap="square">
            <a:spAutoFit/>
          </a:bodyPr>
          <a:lstStyle/>
          <a:p>
            <a:pPr algn="l"/>
            <a:r>
              <a:rPr sz="1150" b="1" i="0">
                <a:solidFill>
                  <a:srgbClr val="9C772B"/>
                </a:solidFill>
                <a:latin typeface="Cambria"/>
              </a:rPr>
              <a:t>1</a:t>
            </a:r>
          </a:p>
        </p:txBody>
      </p:sp>
      <p:sp>
        <p:nvSpPr>
          <p:cNvPr id="12" name="TextBox 11"/>
          <p:cNvSpPr txBox="1"/>
          <p:nvPr/>
        </p:nvSpPr>
        <p:spPr>
          <a:xfrm>
            <a:off x="7192100" y="3320000"/>
            <a:ext cx="1407430" cy="420000"/>
          </a:xfrm>
          <a:prstGeom prst="rect">
            <a:avLst/>
          </a:prstGeom>
          <a:noFill/>
        </p:spPr>
        <p:txBody>
          <a:bodyPr wrap="square">
            <a:spAutoFit/>
          </a:bodyPr>
          <a:lstStyle/>
          <a:p>
            <a:pPr algn="l"/>
            <a:r>
              <a:rPr sz="1150" b="1" i="0">
                <a:solidFill>
                  <a:srgbClr val="9C772B"/>
                </a:solidFill>
                <a:latin typeface="Cambria"/>
              </a:rPr>
              <a:t>2</a:t>
            </a:r>
          </a:p>
        </p:txBody>
      </p:sp>
      <p:sp>
        <p:nvSpPr>
          <p:cNvPr id="13" name="TextBox 12"/>
          <p:cNvSpPr txBox="1"/>
          <p:nvPr/>
        </p:nvSpPr>
        <p:spPr>
          <a:xfrm>
            <a:off x="8599530" y="3320000"/>
            <a:ext cx="1407430" cy="420000"/>
          </a:xfrm>
          <a:prstGeom prst="rect">
            <a:avLst/>
          </a:prstGeom>
          <a:noFill/>
        </p:spPr>
        <p:txBody>
          <a:bodyPr wrap="square">
            <a:spAutoFit/>
          </a:bodyPr>
          <a:lstStyle/>
          <a:p>
            <a:pPr algn="l"/>
            <a:r>
              <a:rPr sz="1150" b="1" i="0">
                <a:solidFill>
                  <a:srgbClr val="9C772B"/>
                </a:solidFill>
                <a:latin typeface="Cambria"/>
              </a:rPr>
              <a:t>3</a:t>
            </a:r>
          </a:p>
        </p:txBody>
      </p:sp>
      <p:sp>
        <p:nvSpPr>
          <p:cNvPr id="14" name="TextBox 13"/>
          <p:cNvSpPr txBox="1"/>
          <p:nvPr/>
        </p:nvSpPr>
        <p:spPr>
          <a:xfrm>
            <a:off x="10006960" y="3320000"/>
            <a:ext cx="1407430" cy="420000"/>
          </a:xfrm>
          <a:prstGeom prst="rect">
            <a:avLst/>
          </a:prstGeom>
          <a:noFill/>
        </p:spPr>
        <p:txBody>
          <a:bodyPr wrap="square">
            <a:spAutoFit/>
          </a:bodyPr>
          <a:lstStyle/>
          <a:p>
            <a:pPr algn="l"/>
            <a:r>
              <a:rPr sz="1150" b="1" i="0">
                <a:solidFill>
                  <a:srgbClr val="9C772B"/>
                </a:solidFill>
                <a:latin typeface="Cambria"/>
              </a:rPr>
              <a:t>4</a:t>
            </a:r>
          </a:p>
        </p:txBody>
      </p:sp>
      <p:cxnSp>
        <p:nvCxnSpPr>
          <p:cNvPr id="15" name="Connector 14"/>
          <p:cNvCxnSpPr/>
          <p:nvPr/>
        </p:nvCxnSpPr>
        <p:spPr>
          <a:xfrm>
            <a:off x="777240" y="3740000"/>
            <a:ext cx="10637150" cy="0"/>
          </a:xfrm>
          <a:prstGeom prst="line">
            <a:avLst/>
          </a:prstGeom>
          <a:ln w="9525">
            <a:solidFill>
              <a:srgbClr val="C9BFA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77240" y="3740000"/>
            <a:ext cx="3600000" cy="420000"/>
          </a:xfrm>
          <a:prstGeom prst="rect">
            <a:avLst/>
          </a:prstGeom>
          <a:noFill/>
        </p:spPr>
        <p:txBody>
          <a:bodyPr wrap="square">
            <a:spAutoFit/>
          </a:bodyPr>
          <a:lstStyle/>
          <a:p>
            <a:pPr algn="l"/>
            <a:r>
              <a:rPr sz="1150" b="0" i="0">
                <a:solidFill>
                  <a:srgbClr val="2A251D"/>
                </a:solidFill>
                <a:latin typeface="Cambria"/>
              </a:rPr>
              <a:t>Số lời giải giữ — GSM8K</a:t>
            </a:r>
          </a:p>
        </p:txBody>
      </p:sp>
      <p:sp>
        <p:nvSpPr>
          <p:cNvPr id="17" name="TextBox 16"/>
          <p:cNvSpPr txBox="1"/>
          <p:nvPr/>
        </p:nvSpPr>
        <p:spPr>
          <a:xfrm>
            <a:off x="4377240" y="3740000"/>
            <a:ext cx="1407430" cy="420000"/>
          </a:xfrm>
          <a:prstGeom prst="rect">
            <a:avLst/>
          </a:prstGeom>
          <a:noFill/>
        </p:spPr>
        <p:txBody>
          <a:bodyPr wrap="square">
            <a:spAutoFit/>
          </a:bodyPr>
          <a:lstStyle/>
          <a:p>
            <a:pPr algn="l"/>
            <a:r>
              <a:rPr sz="1150" b="0" i="0">
                <a:solidFill>
                  <a:srgbClr val="2A251D"/>
                </a:solidFill>
                <a:latin typeface="Cambria"/>
              </a:rPr>
              <a:t>2725</a:t>
            </a:r>
          </a:p>
        </p:txBody>
      </p:sp>
      <p:sp>
        <p:nvSpPr>
          <p:cNvPr id="18" name="TextBox 17"/>
          <p:cNvSpPr txBox="1"/>
          <p:nvPr/>
        </p:nvSpPr>
        <p:spPr>
          <a:xfrm>
            <a:off x="5784670" y="3740000"/>
            <a:ext cx="1407430" cy="420000"/>
          </a:xfrm>
          <a:prstGeom prst="rect">
            <a:avLst/>
          </a:prstGeom>
          <a:noFill/>
        </p:spPr>
        <p:txBody>
          <a:bodyPr wrap="square">
            <a:spAutoFit/>
          </a:bodyPr>
          <a:lstStyle/>
          <a:p>
            <a:pPr algn="l"/>
            <a:r>
              <a:rPr sz="1150" b="0" i="0">
                <a:solidFill>
                  <a:srgbClr val="2A251D"/>
                </a:solidFill>
                <a:latin typeface="Cambria"/>
              </a:rPr>
              <a:t>2551</a:t>
            </a:r>
          </a:p>
        </p:txBody>
      </p:sp>
      <p:sp>
        <p:nvSpPr>
          <p:cNvPr id="19" name="TextBox 18"/>
          <p:cNvSpPr txBox="1"/>
          <p:nvPr/>
        </p:nvSpPr>
        <p:spPr>
          <a:xfrm>
            <a:off x="7192100" y="3740000"/>
            <a:ext cx="1407430" cy="420000"/>
          </a:xfrm>
          <a:prstGeom prst="rect">
            <a:avLst/>
          </a:prstGeom>
          <a:noFill/>
        </p:spPr>
        <p:txBody>
          <a:bodyPr wrap="square">
            <a:spAutoFit/>
          </a:bodyPr>
          <a:lstStyle/>
          <a:p>
            <a:pPr algn="l"/>
            <a:r>
              <a:rPr sz="1150" b="0" i="0">
                <a:solidFill>
                  <a:srgbClr val="2A251D"/>
                </a:solidFill>
                <a:latin typeface="Cambria"/>
              </a:rPr>
              <a:t>2356</a:t>
            </a:r>
          </a:p>
        </p:txBody>
      </p:sp>
      <p:sp>
        <p:nvSpPr>
          <p:cNvPr id="20" name="TextBox 19"/>
          <p:cNvSpPr txBox="1"/>
          <p:nvPr/>
        </p:nvSpPr>
        <p:spPr>
          <a:xfrm>
            <a:off x="8599530" y="3740000"/>
            <a:ext cx="1407430" cy="420000"/>
          </a:xfrm>
          <a:prstGeom prst="rect">
            <a:avLst/>
          </a:prstGeom>
          <a:noFill/>
        </p:spPr>
        <p:txBody>
          <a:bodyPr wrap="square">
            <a:spAutoFit/>
          </a:bodyPr>
          <a:lstStyle/>
          <a:p>
            <a:pPr algn="l"/>
            <a:r>
              <a:rPr sz="1150" b="0" i="0">
                <a:solidFill>
                  <a:srgbClr val="2A251D"/>
                </a:solidFill>
                <a:latin typeface="Cambria"/>
              </a:rPr>
              <a:t>1837</a:t>
            </a:r>
          </a:p>
        </p:txBody>
      </p:sp>
      <p:sp>
        <p:nvSpPr>
          <p:cNvPr id="21" name="TextBox 20"/>
          <p:cNvSpPr txBox="1"/>
          <p:nvPr/>
        </p:nvSpPr>
        <p:spPr>
          <a:xfrm>
            <a:off x="10006960" y="3740000"/>
            <a:ext cx="1407430" cy="420000"/>
          </a:xfrm>
          <a:prstGeom prst="rect">
            <a:avLst/>
          </a:prstGeom>
          <a:noFill/>
        </p:spPr>
        <p:txBody>
          <a:bodyPr wrap="square">
            <a:spAutoFit/>
          </a:bodyPr>
          <a:lstStyle/>
          <a:p>
            <a:pPr algn="l"/>
            <a:r>
              <a:rPr sz="1150" b="0" i="0">
                <a:solidFill>
                  <a:srgbClr val="2A251D"/>
                </a:solidFill>
                <a:latin typeface="Cambria"/>
              </a:rPr>
              <a:t>1100</a:t>
            </a:r>
          </a:p>
        </p:txBody>
      </p:sp>
      <p:cxnSp>
        <p:nvCxnSpPr>
          <p:cNvPr id="22" name="Connector 21"/>
          <p:cNvCxnSpPr/>
          <p:nvPr/>
        </p:nvCxnSpPr>
        <p:spPr>
          <a:xfrm>
            <a:off x="777240" y="4160000"/>
            <a:ext cx="10637150" cy="0"/>
          </a:xfrm>
          <a:prstGeom prst="line">
            <a:avLst/>
          </a:prstGeom>
          <a:ln w="9525">
            <a:solidFill>
              <a:srgbClr val="C9BFAB"/>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77240" y="4160000"/>
            <a:ext cx="3600000" cy="420000"/>
          </a:xfrm>
          <a:prstGeom prst="rect">
            <a:avLst/>
          </a:prstGeom>
          <a:noFill/>
        </p:spPr>
        <p:txBody>
          <a:bodyPr wrap="square">
            <a:spAutoFit/>
          </a:bodyPr>
          <a:lstStyle/>
          <a:p>
            <a:pPr algn="l"/>
            <a:r>
              <a:rPr sz="1150" b="0" i="0">
                <a:solidFill>
                  <a:srgbClr val="2A251D"/>
                </a:solidFill>
                <a:latin typeface="Cambria"/>
              </a:rPr>
              <a:t>Số lời giải giữ — MATH-500</a:t>
            </a:r>
          </a:p>
        </p:txBody>
      </p:sp>
      <p:sp>
        <p:nvSpPr>
          <p:cNvPr id="24" name="TextBox 23"/>
          <p:cNvSpPr txBox="1"/>
          <p:nvPr/>
        </p:nvSpPr>
        <p:spPr>
          <a:xfrm>
            <a:off x="4377240" y="4160000"/>
            <a:ext cx="1407430" cy="420000"/>
          </a:xfrm>
          <a:prstGeom prst="rect">
            <a:avLst/>
          </a:prstGeom>
          <a:noFill/>
        </p:spPr>
        <p:txBody>
          <a:bodyPr wrap="square">
            <a:spAutoFit/>
          </a:bodyPr>
          <a:lstStyle/>
          <a:p>
            <a:pPr algn="l"/>
            <a:r>
              <a:rPr sz="1150" b="0" i="0">
                <a:solidFill>
                  <a:srgbClr val="2A251D"/>
                </a:solidFill>
                <a:latin typeface="Cambria"/>
              </a:rPr>
              <a:t>1237</a:t>
            </a:r>
          </a:p>
        </p:txBody>
      </p:sp>
      <p:sp>
        <p:nvSpPr>
          <p:cNvPr id="25" name="TextBox 24"/>
          <p:cNvSpPr txBox="1"/>
          <p:nvPr/>
        </p:nvSpPr>
        <p:spPr>
          <a:xfrm>
            <a:off x="5784670" y="4160000"/>
            <a:ext cx="1407430" cy="420000"/>
          </a:xfrm>
          <a:prstGeom prst="rect">
            <a:avLst/>
          </a:prstGeom>
          <a:noFill/>
        </p:spPr>
        <p:txBody>
          <a:bodyPr wrap="square">
            <a:spAutoFit/>
          </a:bodyPr>
          <a:lstStyle/>
          <a:p>
            <a:pPr algn="l"/>
            <a:r>
              <a:rPr sz="1150" b="0" i="0">
                <a:solidFill>
                  <a:srgbClr val="2A251D"/>
                </a:solidFill>
                <a:latin typeface="Cambria"/>
              </a:rPr>
              <a:t>1179</a:t>
            </a:r>
          </a:p>
        </p:txBody>
      </p:sp>
      <p:sp>
        <p:nvSpPr>
          <p:cNvPr id="26" name="TextBox 25"/>
          <p:cNvSpPr txBox="1"/>
          <p:nvPr/>
        </p:nvSpPr>
        <p:spPr>
          <a:xfrm>
            <a:off x="7192100" y="4160000"/>
            <a:ext cx="1407430" cy="420000"/>
          </a:xfrm>
          <a:prstGeom prst="rect">
            <a:avLst/>
          </a:prstGeom>
          <a:noFill/>
        </p:spPr>
        <p:txBody>
          <a:bodyPr wrap="square">
            <a:spAutoFit/>
          </a:bodyPr>
          <a:lstStyle/>
          <a:p>
            <a:pPr algn="l"/>
            <a:r>
              <a:rPr sz="1150" b="0" i="0">
                <a:solidFill>
                  <a:srgbClr val="2A251D"/>
                </a:solidFill>
                <a:latin typeface="Cambria"/>
              </a:rPr>
              <a:t>1039</a:t>
            </a:r>
          </a:p>
        </p:txBody>
      </p:sp>
      <p:sp>
        <p:nvSpPr>
          <p:cNvPr id="27" name="TextBox 26"/>
          <p:cNvSpPr txBox="1"/>
          <p:nvPr/>
        </p:nvSpPr>
        <p:spPr>
          <a:xfrm>
            <a:off x="8599530" y="4160000"/>
            <a:ext cx="1407430" cy="420000"/>
          </a:xfrm>
          <a:prstGeom prst="rect">
            <a:avLst/>
          </a:prstGeom>
          <a:noFill/>
        </p:spPr>
        <p:txBody>
          <a:bodyPr wrap="square">
            <a:spAutoFit/>
          </a:bodyPr>
          <a:lstStyle/>
          <a:p>
            <a:pPr algn="l"/>
            <a:r>
              <a:rPr sz="1150" b="0" i="0">
                <a:solidFill>
                  <a:srgbClr val="2A251D"/>
                </a:solidFill>
                <a:latin typeface="Cambria"/>
              </a:rPr>
              <a:t>800</a:t>
            </a:r>
          </a:p>
        </p:txBody>
      </p:sp>
      <p:sp>
        <p:nvSpPr>
          <p:cNvPr id="28" name="TextBox 27"/>
          <p:cNvSpPr txBox="1"/>
          <p:nvPr/>
        </p:nvSpPr>
        <p:spPr>
          <a:xfrm>
            <a:off x="10006960" y="4160000"/>
            <a:ext cx="1407430" cy="420000"/>
          </a:xfrm>
          <a:prstGeom prst="rect">
            <a:avLst/>
          </a:prstGeom>
          <a:noFill/>
        </p:spPr>
        <p:txBody>
          <a:bodyPr wrap="square">
            <a:spAutoFit/>
          </a:bodyPr>
          <a:lstStyle/>
          <a:p>
            <a:pPr algn="l"/>
            <a:r>
              <a:rPr sz="1150" b="0" i="0">
                <a:solidFill>
                  <a:srgbClr val="2A251D"/>
                </a:solidFill>
                <a:latin typeface="Cambria"/>
              </a:rPr>
              <a:t>466</a:t>
            </a:r>
          </a:p>
        </p:txBody>
      </p:sp>
      <p:cxnSp>
        <p:nvCxnSpPr>
          <p:cNvPr id="29" name="Connector 28"/>
          <p:cNvCxnSpPr/>
          <p:nvPr/>
        </p:nvCxnSpPr>
        <p:spPr>
          <a:xfrm>
            <a:off x="777240" y="4580000"/>
            <a:ext cx="10637150" cy="0"/>
          </a:xfrm>
          <a:prstGeom prst="line">
            <a:avLst/>
          </a:prstGeom>
          <a:ln w="9525">
            <a:solidFill>
              <a:srgbClr val="C9BFAB"/>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777240" y="4580000"/>
            <a:ext cx="3600000" cy="420000"/>
          </a:xfrm>
          <a:prstGeom prst="rect">
            <a:avLst/>
          </a:prstGeom>
          <a:noFill/>
        </p:spPr>
        <p:txBody>
          <a:bodyPr wrap="square">
            <a:spAutoFit/>
          </a:bodyPr>
          <a:lstStyle/>
          <a:p>
            <a:pPr algn="l"/>
            <a:r>
              <a:rPr sz="1150" b="1" i="0">
                <a:solidFill>
                  <a:srgbClr val="2A251D"/>
                </a:solidFill>
                <a:latin typeface="Cambria"/>
              </a:rPr>
              <a:t>% GSM8K trong tập train</a:t>
            </a:r>
          </a:p>
        </p:txBody>
      </p:sp>
      <p:sp>
        <p:nvSpPr>
          <p:cNvPr id="31" name="TextBox 30"/>
          <p:cNvSpPr txBox="1"/>
          <p:nvPr/>
        </p:nvSpPr>
        <p:spPr>
          <a:xfrm>
            <a:off x="4377240" y="4580000"/>
            <a:ext cx="1407430" cy="420000"/>
          </a:xfrm>
          <a:prstGeom prst="rect">
            <a:avLst/>
          </a:prstGeom>
          <a:noFill/>
        </p:spPr>
        <p:txBody>
          <a:bodyPr wrap="square">
            <a:spAutoFit/>
          </a:bodyPr>
          <a:lstStyle/>
          <a:p>
            <a:pPr algn="l"/>
            <a:r>
              <a:rPr sz="1150" b="1" i="0">
                <a:solidFill>
                  <a:srgbClr val="2A251D"/>
                </a:solidFill>
                <a:latin typeface="Cambria"/>
              </a:rPr>
              <a:t>68,8%</a:t>
            </a:r>
          </a:p>
        </p:txBody>
      </p:sp>
      <p:sp>
        <p:nvSpPr>
          <p:cNvPr id="32" name="TextBox 31"/>
          <p:cNvSpPr txBox="1"/>
          <p:nvPr/>
        </p:nvSpPr>
        <p:spPr>
          <a:xfrm>
            <a:off x="5784670" y="4580000"/>
            <a:ext cx="1407430" cy="420000"/>
          </a:xfrm>
          <a:prstGeom prst="rect">
            <a:avLst/>
          </a:prstGeom>
          <a:noFill/>
        </p:spPr>
        <p:txBody>
          <a:bodyPr wrap="square">
            <a:spAutoFit/>
          </a:bodyPr>
          <a:lstStyle/>
          <a:p>
            <a:pPr algn="l"/>
            <a:r>
              <a:rPr sz="1150" b="1" i="0">
                <a:solidFill>
                  <a:srgbClr val="2A251D"/>
                </a:solidFill>
                <a:latin typeface="Cambria"/>
              </a:rPr>
              <a:t>68,4%</a:t>
            </a:r>
          </a:p>
        </p:txBody>
      </p:sp>
      <p:sp>
        <p:nvSpPr>
          <p:cNvPr id="33" name="TextBox 32"/>
          <p:cNvSpPr txBox="1"/>
          <p:nvPr/>
        </p:nvSpPr>
        <p:spPr>
          <a:xfrm>
            <a:off x="7192100" y="4580000"/>
            <a:ext cx="1407430" cy="420000"/>
          </a:xfrm>
          <a:prstGeom prst="rect">
            <a:avLst/>
          </a:prstGeom>
          <a:noFill/>
        </p:spPr>
        <p:txBody>
          <a:bodyPr wrap="square">
            <a:spAutoFit/>
          </a:bodyPr>
          <a:lstStyle/>
          <a:p>
            <a:pPr algn="l"/>
            <a:r>
              <a:rPr sz="1150" b="1" i="0">
                <a:solidFill>
                  <a:srgbClr val="2A251D"/>
                </a:solidFill>
                <a:latin typeface="Cambria"/>
              </a:rPr>
              <a:t>69,4%</a:t>
            </a:r>
          </a:p>
        </p:txBody>
      </p:sp>
      <p:sp>
        <p:nvSpPr>
          <p:cNvPr id="34" name="TextBox 33"/>
          <p:cNvSpPr txBox="1"/>
          <p:nvPr/>
        </p:nvSpPr>
        <p:spPr>
          <a:xfrm>
            <a:off x="8599530" y="4580000"/>
            <a:ext cx="1407430" cy="420000"/>
          </a:xfrm>
          <a:prstGeom prst="rect">
            <a:avLst/>
          </a:prstGeom>
          <a:noFill/>
        </p:spPr>
        <p:txBody>
          <a:bodyPr wrap="square">
            <a:spAutoFit/>
          </a:bodyPr>
          <a:lstStyle/>
          <a:p>
            <a:pPr algn="l"/>
            <a:r>
              <a:rPr sz="1150" b="1" i="0">
                <a:solidFill>
                  <a:srgbClr val="2A251D"/>
                </a:solidFill>
                <a:latin typeface="Cambria"/>
              </a:rPr>
              <a:t>69,7%</a:t>
            </a:r>
          </a:p>
        </p:txBody>
      </p:sp>
      <p:sp>
        <p:nvSpPr>
          <p:cNvPr id="35" name="TextBox 34"/>
          <p:cNvSpPr txBox="1"/>
          <p:nvPr/>
        </p:nvSpPr>
        <p:spPr>
          <a:xfrm>
            <a:off x="10006960" y="4580000"/>
            <a:ext cx="1407430" cy="420000"/>
          </a:xfrm>
          <a:prstGeom prst="rect">
            <a:avLst/>
          </a:prstGeom>
          <a:noFill/>
        </p:spPr>
        <p:txBody>
          <a:bodyPr wrap="square">
            <a:spAutoFit/>
          </a:bodyPr>
          <a:lstStyle/>
          <a:p>
            <a:pPr algn="l"/>
            <a:r>
              <a:rPr sz="1150" b="1" i="0">
                <a:solidFill>
                  <a:srgbClr val="2A251D"/>
                </a:solidFill>
                <a:latin typeface="Cambria"/>
              </a:rPr>
              <a:t>70,2%</a:t>
            </a:r>
          </a:p>
        </p:txBody>
      </p:sp>
      <p:cxnSp>
        <p:nvCxnSpPr>
          <p:cNvPr id="36" name="Connector 35"/>
          <p:cNvCxnSpPr/>
          <p:nvPr/>
        </p:nvCxnSpPr>
        <p:spPr>
          <a:xfrm>
            <a:off x="777240" y="5000000"/>
            <a:ext cx="10637150" cy="0"/>
          </a:xfrm>
          <a:prstGeom prst="line">
            <a:avLst/>
          </a:prstGeom>
          <a:ln w="9525">
            <a:solidFill>
              <a:srgbClr val="C9BFAB"/>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777240" y="5230000"/>
            <a:ext cx="10637215" cy="900000"/>
          </a:xfrm>
          <a:prstGeom prst="rect">
            <a:avLst/>
          </a:prstGeom>
          <a:noFill/>
        </p:spPr>
        <p:txBody>
          <a:bodyPr wrap="square">
            <a:spAutoFit/>
          </a:bodyPr>
          <a:lstStyle/>
          <a:p>
            <a:r>
              <a:rPr sz="1250" b="0" i="0">
                <a:solidFill>
                  <a:srgbClr val="5C5447"/>
                </a:solidFill>
                <a:latin typeface="Cambria"/>
              </a:rPr>
              <a:t>Tập train luôn nghiêng ~69% về GSM8K — một adapter chung học chủ yếu từ GSM8K rồi áp dụng cho cả MATH-500. Vì vậy chưa thể tách bạch "tại verifier lệch" khỏi "tại lây động lực train từ bộ đề kia" — đây là một điểm cần sửa trong thiết kế thí nghiệm, chưa phải kết luận cuối cùng của đề tài.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777240" y="320040"/>
            <a:ext cx="7315200" cy="274320"/>
          </a:xfrm>
          <a:prstGeom prst="rect">
            <a:avLst/>
          </a:prstGeom>
          <a:noFill/>
        </p:spPr>
        <p:txBody>
          <a:bodyPr wrap="square">
            <a:spAutoFit/>
          </a:bodyPr>
          <a:lstStyle/>
          <a:p>
            <a:pPr algn="l"/>
            <a:r>
              <a:rPr sz="950" b="0" i="0">
                <a:solidFill>
                  <a:srgbClr val="5C5447"/>
                </a:solidFill>
                <a:latin typeface="Cambria"/>
              </a:rPr>
              <a:t>TUẦN 2 — VERIFIER LỆCH VĂN PHONG TRONG SELF-TRAINING</a:t>
            </a:r>
          </a:p>
        </p:txBody>
      </p:sp>
      <p:sp>
        <p:nvSpPr>
          <p:cNvPr id="3" name="TextBox 2"/>
          <p:cNvSpPr txBox="1"/>
          <p:nvPr/>
        </p:nvSpPr>
        <p:spPr>
          <a:xfrm>
            <a:off x="10042855" y="320040"/>
            <a:ext cx="1371600" cy="274320"/>
          </a:xfrm>
          <a:prstGeom prst="rect">
            <a:avLst/>
          </a:prstGeom>
          <a:noFill/>
        </p:spPr>
        <p:txBody>
          <a:bodyPr wrap="square">
            <a:spAutoFit/>
          </a:bodyPr>
          <a:lstStyle/>
          <a:p>
            <a:pPr algn="r"/>
            <a:r>
              <a:rPr sz="950" b="0" i="0">
                <a:solidFill>
                  <a:srgbClr val="5C5447"/>
                </a:solidFill>
                <a:latin typeface="Cambria"/>
              </a:rPr>
              <a:t>06</a:t>
            </a:r>
          </a:p>
        </p:txBody>
      </p:sp>
      <p:cxnSp>
        <p:nvCxnSpPr>
          <p:cNvPr id="4" name="Connector 3"/>
          <p:cNvCxnSpPr/>
          <p:nvPr/>
        </p:nvCxnSpPr>
        <p:spPr>
          <a:xfrm>
            <a:off x="777240" y="621792"/>
            <a:ext cx="10637215" cy="0"/>
          </a:xfrm>
          <a:prstGeom prst="line">
            <a:avLst/>
          </a:prstGeom>
          <a:ln w="9525">
            <a:solidFill>
              <a:srgbClr val="C9BFA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77240" y="777240"/>
            <a:ext cx="10637215" cy="320040"/>
          </a:xfrm>
          <a:prstGeom prst="rect">
            <a:avLst/>
          </a:prstGeom>
          <a:noFill/>
        </p:spPr>
        <p:txBody>
          <a:bodyPr wrap="square">
            <a:spAutoFit/>
          </a:bodyPr>
          <a:lstStyle/>
          <a:p>
            <a:pPr algn="l"/>
            <a:r>
              <a:rPr sz="1300" b="1" i="0">
                <a:solidFill>
                  <a:srgbClr val="7A1F2B"/>
                </a:solidFill>
                <a:latin typeface="Cambria"/>
              </a:rPr>
              <a:t>VÌ SAO QUAN TRỌNG</a:t>
            </a:r>
          </a:p>
        </p:txBody>
      </p:sp>
      <p:sp>
        <p:nvSpPr>
          <p:cNvPr id="6" name="TextBox 5"/>
          <p:cNvSpPr txBox="1"/>
          <p:nvPr/>
        </p:nvSpPr>
        <p:spPr>
          <a:xfrm>
            <a:off x="777240" y="1078992"/>
            <a:ext cx="10637215" cy="868680"/>
          </a:xfrm>
          <a:prstGeom prst="rect">
            <a:avLst/>
          </a:prstGeom>
          <a:noFill/>
        </p:spPr>
        <p:txBody>
          <a:bodyPr wrap="square">
            <a:spAutoFit/>
          </a:bodyPr>
          <a:lstStyle/>
          <a:p>
            <a:r>
              <a:rPr sz="2700" b="1" i="0">
                <a:solidFill>
                  <a:srgbClr val="2A251D"/>
                </a:solidFill>
                <a:latin typeface="Cambria"/>
              </a:rPr>
              <a:t>Phát hiện này thay đổi cách đọc kết quả tuần 1 và 2</a:t>
            </a:r>
          </a:p>
        </p:txBody>
      </p:sp>
      <p:sp>
        <p:nvSpPr>
          <p:cNvPr id="7" name="TextBox 6"/>
          <p:cNvSpPr txBox="1"/>
          <p:nvPr/>
        </p:nvSpPr>
        <p:spPr>
          <a:xfrm>
            <a:off x="777240" y="1947672"/>
            <a:ext cx="10637215" cy="950000"/>
          </a:xfrm>
          <a:prstGeom prst="rect">
            <a:avLst/>
          </a:prstGeom>
          <a:noFill/>
        </p:spPr>
        <p:txBody>
          <a:bodyPr wrap="square">
            <a:spAutoFit/>
          </a:bodyPr>
          <a:lstStyle/>
          <a:p>
            <a:r>
              <a:rPr sz="1400" b="1" i="0">
                <a:solidFill>
                  <a:srgbClr val="2A251D"/>
                </a:solidFill>
                <a:latin typeface="Cambria"/>
              </a:rPr>
              <a:t>Không thể quy hết cho "verifier lệch văn phong" nữa</a:t>
            </a:r>
          </a:p>
          <a:p>
            <a:r>
              <a:rPr sz="1200" b="0" i="0">
                <a:solidFill>
                  <a:srgbClr val="5C5447"/>
                </a:solidFill>
                <a:latin typeface="Cambria"/>
              </a:rPr>
              <a:t>Số liệu tuần 1–2 cho thấy sụp giảm, nhưng thiết kế gộp khiến không chắc nguyên nhân chính là verifier hay là nhiễu chéo giữa hai domain khi train chung.</a:t>
            </a:r>
          </a:p>
        </p:txBody>
      </p:sp>
      <p:cxnSp>
        <p:nvCxnSpPr>
          <p:cNvPr id="8" name="Connector 7"/>
          <p:cNvCxnSpPr/>
          <p:nvPr/>
        </p:nvCxnSpPr>
        <p:spPr>
          <a:xfrm>
            <a:off x="777240" y="2947672"/>
            <a:ext cx="10637215" cy="0"/>
          </a:xfrm>
          <a:prstGeom prst="line">
            <a:avLst/>
          </a:prstGeom>
          <a:ln w="9525">
            <a:solidFill>
              <a:srgbClr val="C9BFA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777240" y="3097672"/>
            <a:ext cx="10637215" cy="950000"/>
          </a:xfrm>
          <a:prstGeom prst="rect">
            <a:avLst/>
          </a:prstGeom>
          <a:noFill/>
        </p:spPr>
        <p:txBody>
          <a:bodyPr wrap="square">
            <a:spAutoFit/>
          </a:bodyPr>
          <a:lstStyle/>
          <a:p>
            <a:r>
              <a:rPr sz="1400" b="1" i="0">
                <a:solidFill>
                  <a:srgbClr val="2A251D"/>
                </a:solidFill>
                <a:latin typeface="Cambria"/>
              </a:rPr>
              <a:t>Câu hỏi nghiên cứu cần một thí nghiệm sạch hơn để trả lời dứt khoát</a:t>
            </a:r>
          </a:p>
          <a:p>
            <a:r>
              <a:rPr sz="1200" b="0" i="0">
                <a:solidFill>
                  <a:srgbClr val="5C5447"/>
                </a:solidFill>
                <a:latin typeface="Cambria"/>
              </a:rPr>
              <a:t>Muốn khẳng định "verifier lệch gây ảo hoá tự cải thiện", phải cô lập từng bộ đề — tách được domain-mixing ra khỏi verifier bias mới kết luận được đúng nguyên nhân.</a:t>
            </a:r>
          </a:p>
        </p:txBody>
      </p:sp>
      <p:cxnSp>
        <p:nvCxnSpPr>
          <p:cNvPr id="10" name="Connector 9"/>
          <p:cNvCxnSpPr/>
          <p:nvPr/>
        </p:nvCxnSpPr>
        <p:spPr>
          <a:xfrm>
            <a:off x="777240" y="4097672"/>
            <a:ext cx="10637215" cy="0"/>
          </a:xfrm>
          <a:prstGeom prst="line">
            <a:avLst/>
          </a:prstGeom>
          <a:ln w="9525">
            <a:solidFill>
              <a:srgbClr val="C9BFAB"/>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77240" y="4247672"/>
            <a:ext cx="10637215" cy="950000"/>
          </a:xfrm>
          <a:prstGeom prst="rect">
            <a:avLst/>
          </a:prstGeom>
          <a:noFill/>
        </p:spPr>
        <p:txBody>
          <a:bodyPr wrap="square">
            <a:spAutoFit/>
          </a:bodyPr>
          <a:lstStyle/>
          <a:p>
            <a:r>
              <a:rPr sz="1400" b="1" i="0">
                <a:solidFill>
                  <a:srgbClr val="2A251D"/>
                </a:solidFill>
                <a:latin typeface="Cambria"/>
              </a:rPr>
              <a:t>Đây là lý do đề tài đổi hướng thiết kế thí nghiệm ở tuần tới</a:t>
            </a:r>
          </a:p>
          <a:p>
            <a:r>
              <a:rPr sz="1200" b="0" i="0">
                <a:solidFill>
                  <a:srgbClr val="5C5447"/>
                </a:solidFill>
                <a:latin typeface="Cambria"/>
              </a:rPr>
              <a:t>Không phải đổi vì kết quả tuần 1–2 sai, mà vì cách đọc kết quả cần một thiết kế có thể tách bạch được hai nguyên nhân đang trộn lẫn.</a:t>
            </a:r>
          </a:p>
        </p:txBody>
      </p:sp>
      <p:cxnSp>
        <p:nvCxnSpPr>
          <p:cNvPr id="12" name="Connector 11"/>
          <p:cNvCxnSpPr/>
          <p:nvPr/>
        </p:nvCxnSpPr>
        <p:spPr>
          <a:xfrm>
            <a:off x="777240" y="5247672"/>
            <a:ext cx="10637215" cy="0"/>
          </a:xfrm>
          <a:prstGeom prst="line">
            <a:avLst/>
          </a:prstGeom>
          <a:ln w="9525">
            <a:solidFill>
              <a:srgbClr val="C9BFAB"/>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777240" y="320040"/>
            <a:ext cx="7315200" cy="274320"/>
          </a:xfrm>
          <a:prstGeom prst="rect">
            <a:avLst/>
          </a:prstGeom>
          <a:noFill/>
        </p:spPr>
        <p:txBody>
          <a:bodyPr wrap="square">
            <a:spAutoFit/>
          </a:bodyPr>
          <a:lstStyle/>
          <a:p>
            <a:pPr algn="l"/>
            <a:r>
              <a:rPr sz="950" b="0" i="0">
                <a:solidFill>
                  <a:srgbClr val="5C5447"/>
                </a:solidFill>
                <a:latin typeface="Cambria"/>
              </a:rPr>
              <a:t>TUẦN 2 — VERIFIER LỆCH VĂN PHONG TRONG SELF-TRAINING</a:t>
            </a:r>
          </a:p>
        </p:txBody>
      </p:sp>
      <p:sp>
        <p:nvSpPr>
          <p:cNvPr id="3" name="TextBox 2"/>
          <p:cNvSpPr txBox="1"/>
          <p:nvPr/>
        </p:nvSpPr>
        <p:spPr>
          <a:xfrm>
            <a:off x="10042855" y="320040"/>
            <a:ext cx="1371600" cy="274320"/>
          </a:xfrm>
          <a:prstGeom prst="rect">
            <a:avLst/>
          </a:prstGeom>
          <a:noFill/>
        </p:spPr>
        <p:txBody>
          <a:bodyPr wrap="square">
            <a:spAutoFit/>
          </a:bodyPr>
          <a:lstStyle/>
          <a:p>
            <a:pPr algn="r"/>
            <a:r>
              <a:rPr sz="950" b="0" i="0">
                <a:solidFill>
                  <a:srgbClr val="5C5447"/>
                </a:solidFill>
                <a:latin typeface="Cambria"/>
              </a:rPr>
              <a:t>07</a:t>
            </a:r>
          </a:p>
        </p:txBody>
      </p:sp>
      <p:cxnSp>
        <p:nvCxnSpPr>
          <p:cNvPr id="4" name="Connector 3"/>
          <p:cNvCxnSpPr/>
          <p:nvPr/>
        </p:nvCxnSpPr>
        <p:spPr>
          <a:xfrm>
            <a:off x="777240" y="621792"/>
            <a:ext cx="10637215" cy="0"/>
          </a:xfrm>
          <a:prstGeom prst="line">
            <a:avLst/>
          </a:prstGeom>
          <a:ln w="9525">
            <a:solidFill>
              <a:srgbClr val="C9BFA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77240" y="777240"/>
            <a:ext cx="10637215" cy="320040"/>
          </a:xfrm>
          <a:prstGeom prst="rect">
            <a:avLst/>
          </a:prstGeom>
          <a:noFill/>
        </p:spPr>
        <p:txBody>
          <a:bodyPr wrap="square">
            <a:spAutoFit/>
          </a:bodyPr>
          <a:lstStyle/>
          <a:p>
            <a:pPr algn="l"/>
            <a:r>
              <a:rPr sz="1300" b="1" i="0">
                <a:solidFill>
                  <a:srgbClr val="7A1F2B"/>
                </a:solidFill>
                <a:latin typeface="Cambria"/>
              </a:rPr>
              <a:t>HƯỚNG KHẮC PHỤC — DỰ KIẾN</a:t>
            </a:r>
          </a:p>
        </p:txBody>
      </p:sp>
      <p:sp>
        <p:nvSpPr>
          <p:cNvPr id="6" name="TextBox 5"/>
          <p:cNvSpPr txBox="1"/>
          <p:nvPr/>
        </p:nvSpPr>
        <p:spPr>
          <a:xfrm>
            <a:off x="777240" y="1078992"/>
            <a:ext cx="10637215" cy="868680"/>
          </a:xfrm>
          <a:prstGeom prst="rect">
            <a:avLst/>
          </a:prstGeom>
          <a:noFill/>
        </p:spPr>
        <p:txBody>
          <a:bodyPr wrap="square">
            <a:spAutoFit/>
          </a:bodyPr>
          <a:lstStyle/>
          <a:p>
            <a:r>
              <a:rPr sz="2700" b="1" i="0">
                <a:solidFill>
                  <a:srgbClr val="2A251D"/>
                </a:solidFill>
                <a:latin typeface="Cambria"/>
              </a:rPr>
              <a:t>Tách riêng từng bộ đề khi train và đo lại</a:t>
            </a:r>
          </a:p>
        </p:txBody>
      </p:sp>
      <p:sp>
        <p:nvSpPr>
          <p:cNvPr id="7" name="TextBox 6"/>
          <p:cNvSpPr txBox="1"/>
          <p:nvPr/>
        </p:nvSpPr>
        <p:spPr>
          <a:xfrm>
            <a:off x="777240" y="1947672"/>
            <a:ext cx="548640" cy="700000"/>
          </a:xfrm>
          <a:prstGeom prst="rect">
            <a:avLst/>
          </a:prstGeom>
          <a:noFill/>
        </p:spPr>
        <p:txBody>
          <a:bodyPr wrap="square">
            <a:spAutoFit/>
          </a:bodyPr>
          <a:lstStyle/>
          <a:p>
            <a:pPr algn="l"/>
            <a:r>
              <a:rPr sz="1600" b="1" i="0">
                <a:solidFill>
                  <a:srgbClr val="9C772B"/>
                </a:solidFill>
                <a:latin typeface="Cambria"/>
              </a:rPr>
              <a:t>–</a:t>
            </a:r>
          </a:p>
        </p:txBody>
      </p:sp>
      <p:sp>
        <p:nvSpPr>
          <p:cNvPr id="8" name="TextBox 7"/>
          <p:cNvSpPr txBox="1"/>
          <p:nvPr/>
        </p:nvSpPr>
        <p:spPr>
          <a:xfrm>
            <a:off x="1417320" y="1947672"/>
            <a:ext cx="9997135" cy="700000"/>
          </a:xfrm>
          <a:prstGeom prst="rect">
            <a:avLst/>
          </a:prstGeom>
          <a:noFill/>
        </p:spPr>
        <p:txBody>
          <a:bodyPr wrap="square">
            <a:spAutoFit/>
          </a:bodyPr>
          <a:lstStyle/>
          <a:p>
            <a:pPr algn="l"/>
            <a:r>
              <a:rPr sz="1400" b="0" i="0">
                <a:solidFill>
                  <a:srgbClr val="2A251D"/>
                </a:solidFill>
                <a:latin typeface="Cambria"/>
              </a:rPr>
              <a:t>Chạy lại thí nghiệm cho từng bộ đề (GSM8K, MATH-500) riêng biệt, thay vì gộp chung một tập train.</a:t>
            </a:r>
          </a:p>
        </p:txBody>
      </p:sp>
      <p:sp>
        <p:nvSpPr>
          <p:cNvPr id="9" name="TextBox 8"/>
          <p:cNvSpPr txBox="1"/>
          <p:nvPr/>
        </p:nvSpPr>
        <p:spPr>
          <a:xfrm>
            <a:off x="777240" y="2797672"/>
            <a:ext cx="548640" cy="700000"/>
          </a:xfrm>
          <a:prstGeom prst="rect">
            <a:avLst/>
          </a:prstGeom>
          <a:noFill/>
        </p:spPr>
        <p:txBody>
          <a:bodyPr wrap="square">
            <a:spAutoFit/>
          </a:bodyPr>
          <a:lstStyle/>
          <a:p>
            <a:pPr algn="l"/>
            <a:r>
              <a:rPr sz="1600" b="1" i="0">
                <a:solidFill>
                  <a:srgbClr val="9C772B"/>
                </a:solidFill>
                <a:latin typeface="Cambria"/>
              </a:rPr>
              <a:t>–</a:t>
            </a:r>
          </a:p>
        </p:txBody>
      </p:sp>
      <p:sp>
        <p:nvSpPr>
          <p:cNvPr id="10" name="TextBox 9"/>
          <p:cNvSpPr txBox="1"/>
          <p:nvPr/>
        </p:nvSpPr>
        <p:spPr>
          <a:xfrm>
            <a:off x="1417320" y="2797672"/>
            <a:ext cx="9997135" cy="700000"/>
          </a:xfrm>
          <a:prstGeom prst="rect">
            <a:avLst/>
          </a:prstGeom>
          <a:noFill/>
        </p:spPr>
        <p:txBody>
          <a:bodyPr wrap="square">
            <a:spAutoFit/>
          </a:bodyPr>
          <a:lstStyle/>
          <a:p>
            <a:pPr algn="l"/>
            <a:r>
              <a:rPr sz="1400" b="0" i="0">
                <a:solidFill>
                  <a:srgbClr val="2A251D"/>
                </a:solidFill>
                <a:latin typeface="Cambria"/>
              </a:rPr>
              <a:t>So sánh thêm giữa verifier gốc và một phiên bản verifier đã sửa lỗi chấm sai văn phong, để biết verifier có phải nguyên nhân chính hay không.</a:t>
            </a:r>
          </a:p>
        </p:txBody>
      </p:sp>
      <p:sp>
        <p:nvSpPr>
          <p:cNvPr id="11" name="TextBox 10"/>
          <p:cNvSpPr txBox="1"/>
          <p:nvPr/>
        </p:nvSpPr>
        <p:spPr>
          <a:xfrm>
            <a:off x="777240" y="3647672"/>
            <a:ext cx="548640" cy="700000"/>
          </a:xfrm>
          <a:prstGeom prst="rect">
            <a:avLst/>
          </a:prstGeom>
          <a:noFill/>
        </p:spPr>
        <p:txBody>
          <a:bodyPr wrap="square">
            <a:spAutoFit/>
          </a:bodyPr>
          <a:lstStyle/>
          <a:p>
            <a:pPr algn="l"/>
            <a:r>
              <a:rPr sz="1600" b="1" i="0">
                <a:solidFill>
                  <a:srgbClr val="9C772B"/>
                </a:solidFill>
                <a:latin typeface="Cambria"/>
              </a:rPr>
              <a:t>–</a:t>
            </a:r>
          </a:p>
        </p:txBody>
      </p:sp>
      <p:sp>
        <p:nvSpPr>
          <p:cNvPr id="12" name="TextBox 11"/>
          <p:cNvSpPr txBox="1"/>
          <p:nvPr/>
        </p:nvSpPr>
        <p:spPr>
          <a:xfrm>
            <a:off x="1417320" y="3647672"/>
            <a:ext cx="9997135" cy="700000"/>
          </a:xfrm>
          <a:prstGeom prst="rect">
            <a:avLst/>
          </a:prstGeom>
          <a:noFill/>
        </p:spPr>
        <p:txBody>
          <a:bodyPr wrap="square">
            <a:spAutoFit/>
          </a:bodyPr>
          <a:lstStyle/>
          <a:p>
            <a:pPr algn="l"/>
            <a:r>
              <a:rPr sz="1400" b="0" i="0">
                <a:solidFill>
                  <a:srgbClr val="2A251D"/>
                </a:solidFill>
                <a:latin typeface="Cambria"/>
              </a:rPr>
              <a:t>Cần thời gian chạy GPU trên Kaggle cho các lần chạy này — dự kiến báo cáo kết quả trong 1–2 tuần tới.</a:t>
            </a:r>
          </a:p>
        </p:txBody>
      </p:sp>
      <p:sp>
        <p:nvSpPr>
          <p:cNvPr id="13" name="TextBox 12"/>
          <p:cNvSpPr txBox="1"/>
          <p:nvPr/>
        </p:nvSpPr>
        <p:spPr>
          <a:xfrm>
            <a:off x="777240" y="6355080"/>
            <a:ext cx="10637215" cy="365760"/>
          </a:xfrm>
          <a:prstGeom prst="rect">
            <a:avLst/>
          </a:prstGeom>
          <a:noFill/>
        </p:spPr>
        <p:txBody>
          <a:bodyPr wrap="square">
            <a:spAutoFit/>
          </a:bodyPr>
          <a:lstStyle/>
          <a:p>
            <a:pPr algn="l"/>
            <a:r>
              <a:rPr sz="950" b="0" i="1">
                <a:solidFill>
                  <a:srgbClr val="5C5447"/>
                </a:solidFill>
                <a:latin typeface="Cambria"/>
              </a:rPr>
              <a:t>Chi tiết cách chạy và số liệu cụ thể sẽ trình bày khi có kết quả</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777240" y="320040"/>
            <a:ext cx="7315200" cy="274320"/>
          </a:xfrm>
          <a:prstGeom prst="rect">
            <a:avLst/>
          </a:prstGeom>
          <a:noFill/>
        </p:spPr>
        <p:txBody>
          <a:bodyPr wrap="square">
            <a:spAutoFit/>
          </a:bodyPr>
          <a:lstStyle/>
          <a:p>
            <a:pPr algn="l"/>
            <a:r>
              <a:rPr sz="950" b="0" i="0">
                <a:solidFill>
                  <a:srgbClr val="5C5447"/>
                </a:solidFill>
                <a:latin typeface="Cambria"/>
              </a:rPr>
              <a:t>TUẦN 2 — VERIFIER LỆCH VĂN PHONG TRONG SELF-TRAINING</a:t>
            </a:r>
          </a:p>
        </p:txBody>
      </p:sp>
      <p:sp>
        <p:nvSpPr>
          <p:cNvPr id="3" name="TextBox 2"/>
          <p:cNvSpPr txBox="1"/>
          <p:nvPr/>
        </p:nvSpPr>
        <p:spPr>
          <a:xfrm>
            <a:off x="10042855" y="320040"/>
            <a:ext cx="1371600" cy="274320"/>
          </a:xfrm>
          <a:prstGeom prst="rect">
            <a:avLst/>
          </a:prstGeom>
          <a:noFill/>
        </p:spPr>
        <p:txBody>
          <a:bodyPr wrap="square">
            <a:spAutoFit/>
          </a:bodyPr>
          <a:lstStyle/>
          <a:p>
            <a:pPr algn="r"/>
            <a:r>
              <a:rPr sz="950" b="0" i="0">
                <a:solidFill>
                  <a:srgbClr val="5C5447"/>
                </a:solidFill>
                <a:latin typeface="Cambria"/>
              </a:rPr>
              <a:t>08</a:t>
            </a:r>
          </a:p>
        </p:txBody>
      </p:sp>
      <p:cxnSp>
        <p:nvCxnSpPr>
          <p:cNvPr id="4" name="Connector 3"/>
          <p:cNvCxnSpPr/>
          <p:nvPr/>
        </p:nvCxnSpPr>
        <p:spPr>
          <a:xfrm>
            <a:off x="777240" y="621792"/>
            <a:ext cx="10637215" cy="0"/>
          </a:xfrm>
          <a:prstGeom prst="line">
            <a:avLst/>
          </a:prstGeom>
          <a:ln w="9525">
            <a:solidFill>
              <a:srgbClr val="C9BFA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77240" y="777240"/>
            <a:ext cx="10637215" cy="320040"/>
          </a:xfrm>
          <a:prstGeom prst="rect">
            <a:avLst/>
          </a:prstGeom>
          <a:noFill/>
        </p:spPr>
        <p:txBody>
          <a:bodyPr wrap="square">
            <a:spAutoFit/>
          </a:bodyPr>
          <a:lstStyle/>
          <a:p>
            <a:pPr algn="l"/>
            <a:r>
              <a:rPr sz="1300" b="1" i="0">
                <a:solidFill>
                  <a:srgbClr val="7A1F2B"/>
                </a:solidFill>
                <a:latin typeface="Cambria"/>
              </a:rPr>
              <a:t>THẢO LUẬN</a:t>
            </a:r>
          </a:p>
        </p:txBody>
      </p:sp>
      <p:sp>
        <p:nvSpPr>
          <p:cNvPr id="6" name="TextBox 5"/>
          <p:cNvSpPr txBox="1"/>
          <p:nvPr/>
        </p:nvSpPr>
        <p:spPr>
          <a:xfrm>
            <a:off x="777240" y="1078992"/>
            <a:ext cx="10637215" cy="868680"/>
          </a:xfrm>
          <a:prstGeom prst="rect">
            <a:avLst/>
          </a:prstGeom>
          <a:noFill/>
        </p:spPr>
        <p:txBody>
          <a:bodyPr wrap="square">
            <a:spAutoFit/>
          </a:bodyPr>
          <a:lstStyle/>
          <a:p>
            <a:r>
              <a:rPr sz="2700" b="1" i="0">
                <a:solidFill>
                  <a:srgbClr val="2A251D"/>
                </a:solidFill>
                <a:latin typeface="Cambria"/>
              </a:rPr>
              <a:t>Giới hạn hiện tại</a:t>
            </a:r>
          </a:p>
        </p:txBody>
      </p:sp>
      <p:sp>
        <p:nvSpPr>
          <p:cNvPr id="7" name="TextBox 6"/>
          <p:cNvSpPr txBox="1"/>
          <p:nvPr/>
        </p:nvSpPr>
        <p:spPr>
          <a:xfrm>
            <a:off x="777240" y="1947672"/>
            <a:ext cx="10637215" cy="850000"/>
          </a:xfrm>
          <a:prstGeom prst="rect">
            <a:avLst/>
          </a:prstGeom>
          <a:noFill/>
        </p:spPr>
        <p:txBody>
          <a:bodyPr wrap="square">
            <a:spAutoFit/>
          </a:bodyPr>
          <a:lstStyle/>
          <a:p>
            <a:r>
              <a:rPr sz="1400" b="1" i="0">
                <a:solidFill>
                  <a:srgbClr val="2A251D"/>
                </a:solidFill>
                <a:latin typeface="Cambria"/>
              </a:rPr>
              <a:t>Kết quả tuần này chưa dùng để kết luận nguyên nhân</a:t>
            </a:r>
          </a:p>
          <a:p>
            <a:r>
              <a:rPr sz="1200" b="0" i="0">
                <a:solidFill>
                  <a:srgbClr val="5C5447"/>
                </a:solidFill>
                <a:latin typeface="Cambria"/>
              </a:rPr>
              <a:t>Vì hai bộ đề đang bị trộn khi train — chỉ mới cho thấy cần tách riêng ra để đo lại, không phải bằng chứng cuối cùng cho "verifier lệch gây sụp".</a:t>
            </a:r>
          </a:p>
        </p:txBody>
      </p:sp>
      <p:cxnSp>
        <p:nvCxnSpPr>
          <p:cNvPr id="8" name="Connector 7"/>
          <p:cNvCxnSpPr/>
          <p:nvPr/>
        </p:nvCxnSpPr>
        <p:spPr>
          <a:xfrm>
            <a:off x="777240" y="2847672"/>
            <a:ext cx="10637215" cy="0"/>
          </a:xfrm>
          <a:prstGeom prst="line">
            <a:avLst/>
          </a:prstGeom>
          <a:ln w="9525">
            <a:solidFill>
              <a:srgbClr val="C9BFA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777240" y="2997672"/>
            <a:ext cx="10637215" cy="850000"/>
          </a:xfrm>
          <a:prstGeom prst="rect">
            <a:avLst/>
          </a:prstGeom>
          <a:noFill/>
        </p:spPr>
        <p:txBody>
          <a:bodyPr wrap="square">
            <a:spAutoFit/>
          </a:bodyPr>
          <a:lstStyle/>
          <a:p>
            <a:r>
              <a:rPr sz="1400" b="1" i="0">
                <a:solidFill>
                  <a:srgbClr val="2A251D"/>
                </a:solidFill>
                <a:latin typeface="Cambria"/>
              </a:rPr>
              <a:t>Vẫn đang ở một lần chạy cho mỗi cấu hình</a:t>
            </a:r>
          </a:p>
          <a:p>
            <a:r>
              <a:rPr sz="1200" b="0" i="0">
                <a:solidFill>
                  <a:srgbClr val="5C5447"/>
                </a:solidFill>
                <a:latin typeface="Cambria"/>
              </a:rPr>
              <a:t>Chưa lặp lại nhiều lần (nhiều seed) để chắc chắn xu hướng giảm không phải nhiễu ngẫu nhiên của một lần sampling.</a:t>
            </a:r>
          </a:p>
        </p:txBody>
      </p:sp>
      <p:cxnSp>
        <p:nvCxnSpPr>
          <p:cNvPr id="10" name="Connector 9"/>
          <p:cNvCxnSpPr/>
          <p:nvPr/>
        </p:nvCxnSpPr>
        <p:spPr>
          <a:xfrm>
            <a:off x="777240" y="3897672"/>
            <a:ext cx="10637215" cy="0"/>
          </a:xfrm>
          <a:prstGeom prst="line">
            <a:avLst/>
          </a:prstGeom>
          <a:ln w="9525">
            <a:solidFill>
              <a:srgbClr val="C9BFAB"/>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77240" y="4047672"/>
            <a:ext cx="10637215" cy="850000"/>
          </a:xfrm>
          <a:prstGeom prst="rect">
            <a:avLst/>
          </a:prstGeom>
          <a:noFill/>
        </p:spPr>
        <p:txBody>
          <a:bodyPr wrap="square">
            <a:spAutoFit/>
          </a:bodyPr>
          <a:lstStyle/>
          <a:p>
            <a:r>
              <a:rPr sz="1400" b="1" i="0">
                <a:solidFill>
                  <a:srgbClr val="2A251D"/>
                </a:solidFill>
                <a:latin typeface="Cambria"/>
              </a:rPr>
              <a:t>GSM8K và MATH-500 khác nhau về độ khó</a:t>
            </a:r>
          </a:p>
          <a:p>
            <a:r>
              <a:rPr sz="1200" b="0" i="0">
                <a:solidFill>
                  <a:srgbClr val="5C5447"/>
                </a:solidFill>
                <a:latin typeface="Cambria"/>
              </a:rPr>
              <a:t>Ngay cả khi tách riêng từng bộ đề, so sánh mức độ sụp giữa hai bộ vẫn chỉ là bằng chứng gợi ý, chưa phải thí nghiệm có kiểm soát biến hoàn toàn.</a:t>
            </a:r>
          </a:p>
        </p:txBody>
      </p:sp>
      <p:cxnSp>
        <p:nvCxnSpPr>
          <p:cNvPr id="12" name="Connector 11"/>
          <p:cNvCxnSpPr/>
          <p:nvPr/>
        </p:nvCxnSpPr>
        <p:spPr>
          <a:xfrm>
            <a:off x="777240" y="4947672"/>
            <a:ext cx="10637215" cy="0"/>
          </a:xfrm>
          <a:prstGeom prst="line">
            <a:avLst/>
          </a:prstGeom>
          <a:ln w="9525">
            <a:solidFill>
              <a:srgbClr val="C9BFAB"/>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777240" y="320040"/>
            <a:ext cx="7315200" cy="274320"/>
          </a:xfrm>
          <a:prstGeom prst="rect">
            <a:avLst/>
          </a:prstGeom>
          <a:noFill/>
        </p:spPr>
        <p:txBody>
          <a:bodyPr wrap="square">
            <a:spAutoFit/>
          </a:bodyPr>
          <a:lstStyle/>
          <a:p>
            <a:pPr algn="l"/>
            <a:r>
              <a:rPr sz="950" b="0" i="0">
                <a:solidFill>
                  <a:srgbClr val="5C5447"/>
                </a:solidFill>
                <a:latin typeface="Cambria"/>
              </a:rPr>
              <a:t>TUẦN 2 — VERIFIER LỆCH VĂN PHONG TRONG SELF-TRAINING</a:t>
            </a:r>
          </a:p>
        </p:txBody>
      </p:sp>
      <p:sp>
        <p:nvSpPr>
          <p:cNvPr id="3" name="TextBox 2"/>
          <p:cNvSpPr txBox="1"/>
          <p:nvPr/>
        </p:nvSpPr>
        <p:spPr>
          <a:xfrm>
            <a:off x="10042855" y="320040"/>
            <a:ext cx="1371600" cy="274320"/>
          </a:xfrm>
          <a:prstGeom prst="rect">
            <a:avLst/>
          </a:prstGeom>
          <a:noFill/>
        </p:spPr>
        <p:txBody>
          <a:bodyPr wrap="square">
            <a:spAutoFit/>
          </a:bodyPr>
          <a:lstStyle/>
          <a:p>
            <a:pPr algn="r"/>
            <a:r>
              <a:rPr sz="950" b="0" i="0">
                <a:solidFill>
                  <a:srgbClr val="5C5447"/>
                </a:solidFill>
                <a:latin typeface="Cambria"/>
              </a:rPr>
              <a:t>09</a:t>
            </a:r>
          </a:p>
        </p:txBody>
      </p:sp>
      <p:cxnSp>
        <p:nvCxnSpPr>
          <p:cNvPr id="4" name="Connector 3"/>
          <p:cNvCxnSpPr/>
          <p:nvPr/>
        </p:nvCxnSpPr>
        <p:spPr>
          <a:xfrm>
            <a:off x="777240" y="621792"/>
            <a:ext cx="10637215" cy="0"/>
          </a:xfrm>
          <a:prstGeom prst="line">
            <a:avLst/>
          </a:prstGeom>
          <a:ln w="9525">
            <a:solidFill>
              <a:srgbClr val="C9BFA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77240" y="777240"/>
            <a:ext cx="10637215" cy="320040"/>
          </a:xfrm>
          <a:prstGeom prst="rect">
            <a:avLst/>
          </a:prstGeom>
          <a:noFill/>
        </p:spPr>
        <p:txBody>
          <a:bodyPr wrap="square">
            <a:spAutoFit/>
          </a:bodyPr>
          <a:lstStyle/>
          <a:p>
            <a:pPr algn="l"/>
            <a:r>
              <a:rPr sz="1300" b="1" i="0">
                <a:solidFill>
                  <a:srgbClr val="7A1F2B"/>
                </a:solidFill>
                <a:latin typeface="Cambria"/>
              </a:rPr>
              <a:t>TÓM TẮT</a:t>
            </a:r>
          </a:p>
        </p:txBody>
      </p:sp>
      <p:sp>
        <p:nvSpPr>
          <p:cNvPr id="6" name="TextBox 5"/>
          <p:cNvSpPr txBox="1"/>
          <p:nvPr/>
        </p:nvSpPr>
        <p:spPr>
          <a:xfrm>
            <a:off x="777240" y="1078992"/>
            <a:ext cx="10637215" cy="868680"/>
          </a:xfrm>
          <a:prstGeom prst="rect">
            <a:avLst/>
          </a:prstGeom>
          <a:noFill/>
        </p:spPr>
        <p:txBody>
          <a:bodyPr wrap="square">
            <a:spAutoFit/>
          </a:bodyPr>
          <a:lstStyle/>
          <a:p>
            <a:r>
              <a:rPr sz="2700" b="1" i="0">
                <a:solidFill>
                  <a:srgbClr val="2A251D"/>
                </a:solidFill>
                <a:latin typeface="Cambria"/>
              </a:rPr>
              <a:t>Kết quả tuần 2 và việc tiếp theo</a:t>
            </a:r>
          </a:p>
        </p:txBody>
      </p:sp>
      <p:cxnSp>
        <p:nvCxnSpPr>
          <p:cNvPr id="7" name="Connector 6"/>
          <p:cNvCxnSpPr/>
          <p:nvPr/>
        </p:nvCxnSpPr>
        <p:spPr>
          <a:xfrm>
            <a:off x="777240" y="1920000"/>
            <a:ext cx="0" cy="1180000"/>
          </a:xfrm>
          <a:prstGeom prst="line">
            <a:avLst/>
          </a:prstGeom>
          <a:ln w="28575">
            <a:solidFill>
              <a:srgbClr val="9C772B"/>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033272" y="1900000"/>
            <a:ext cx="10381183" cy="1200000"/>
          </a:xfrm>
          <a:prstGeom prst="rect">
            <a:avLst/>
          </a:prstGeom>
          <a:noFill/>
        </p:spPr>
        <p:txBody>
          <a:bodyPr wrap="square">
            <a:spAutoFit/>
          </a:bodyPr>
          <a:lstStyle/>
          <a:p>
            <a:r>
              <a:rPr sz="1500" b="0" i="0">
                <a:solidFill>
                  <a:srgbClr val="2A251D"/>
                </a:solidFill>
                <a:latin typeface="Cambria"/>
              </a:rPr>
              <a:t>“Chạy thêm model 1.5B cho thấy hiện tượng giảm vẫn xảy ra, nhưng khi soát lại số liệu, phát hiện thiết kế thí nghiệm đang trộn chung hai bộ đề — cần tách riêng ra trước khi kết luận được gì chắc chắn.”</a:t>
            </a:r>
          </a:p>
        </p:txBody>
      </p:sp>
      <p:sp>
        <p:nvSpPr>
          <p:cNvPr id="9" name="TextBox 8"/>
          <p:cNvSpPr txBox="1"/>
          <p:nvPr/>
        </p:nvSpPr>
        <p:spPr>
          <a:xfrm>
            <a:off x="777240" y="3350000"/>
            <a:ext cx="10637215" cy="650000"/>
          </a:xfrm>
          <a:prstGeom prst="rect">
            <a:avLst/>
          </a:prstGeom>
          <a:noFill/>
        </p:spPr>
        <p:txBody>
          <a:bodyPr wrap="square">
            <a:spAutoFit/>
          </a:bodyPr>
          <a:lstStyle/>
          <a:p>
            <a:r>
              <a:rPr sz="1250" b="1" i="0">
                <a:solidFill>
                  <a:srgbClr val="9C772B"/>
                </a:solidFill>
                <a:latin typeface="Cambria"/>
              </a:rPr>
              <a:t>—  </a:t>
            </a:r>
            <a:r>
              <a:rPr sz="1250" b="0" i="0">
                <a:solidFill>
                  <a:srgbClr val="2A251D"/>
                </a:solidFill>
                <a:latin typeface="Cambria"/>
              </a:rPr>
              <a:t>Đã làm: chạy thêm Qwen 1.5B đủ 5 vòng, tách lại số liệu theo từng bộ đề.</a:t>
            </a:r>
          </a:p>
        </p:txBody>
      </p:sp>
      <p:sp>
        <p:nvSpPr>
          <p:cNvPr id="10" name="TextBox 9"/>
          <p:cNvSpPr txBox="1"/>
          <p:nvPr/>
        </p:nvSpPr>
        <p:spPr>
          <a:xfrm>
            <a:off x="777240" y="4050000"/>
            <a:ext cx="10637215" cy="650000"/>
          </a:xfrm>
          <a:prstGeom prst="rect">
            <a:avLst/>
          </a:prstGeom>
          <a:noFill/>
        </p:spPr>
        <p:txBody>
          <a:bodyPr wrap="square">
            <a:spAutoFit/>
          </a:bodyPr>
          <a:lstStyle/>
          <a:p>
            <a:r>
              <a:rPr sz="1250" b="1" i="0">
                <a:solidFill>
                  <a:srgbClr val="9C772B"/>
                </a:solidFill>
                <a:latin typeface="Cambria"/>
              </a:rPr>
              <a:t>—  </a:t>
            </a:r>
            <a:r>
              <a:rPr sz="1250" b="0" i="0">
                <a:solidFill>
                  <a:srgbClr val="2A251D"/>
                </a:solidFill>
                <a:latin typeface="Cambria"/>
              </a:rPr>
              <a:t>Phát hiện: tập train mỗi vòng nghiêng ~69% về GSM8K — nhiễm chéo giữa hai bộ đề, chưa tách bạch được với verifier lệch.</a:t>
            </a:r>
          </a:p>
        </p:txBody>
      </p:sp>
      <p:sp>
        <p:nvSpPr>
          <p:cNvPr id="11" name="TextBox 10"/>
          <p:cNvSpPr txBox="1"/>
          <p:nvPr/>
        </p:nvSpPr>
        <p:spPr>
          <a:xfrm>
            <a:off x="777240" y="4750000"/>
            <a:ext cx="10637215" cy="650000"/>
          </a:xfrm>
          <a:prstGeom prst="rect">
            <a:avLst/>
          </a:prstGeom>
          <a:noFill/>
        </p:spPr>
        <p:txBody>
          <a:bodyPr wrap="square">
            <a:spAutoFit/>
          </a:bodyPr>
          <a:lstStyle/>
          <a:p>
            <a:r>
              <a:rPr sz="1250" b="1" i="0">
                <a:solidFill>
                  <a:srgbClr val="9C772B"/>
                </a:solidFill>
                <a:latin typeface="Cambria"/>
              </a:rPr>
              <a:t>—  </a:t>
            </a:r>
            <a:r>
              <a:rPr sz="1250" b="0" i="0">
                <a:solidFill>
                  <a:srgbClr val="2A251D"/>
                </a:solidFill>
                <a:latin typeface="Cambria"/>
              </a:rPr>
              <a:t>Việc tiếp theo: tách từng bộ đề ra chạy riêng, so sánh có/không sửa verifier.</a:t>
            </a:r>
          </a:p>
        </p:txBody>
      </p:sp>
      <p:sp>
        <p:nvSpPr>
          <p:cNvPr id="12" name="TextBox 11"/>
          <p:cNvSpPr txBox="1"/>
          <p:nvPr/>
        </p:nvSpPr>
        <p:spPr>
          <a:xfrm>
            <a:off x="777240" y="5700000"/>
            <a:ext cx="10637215" cy="400000"/>
          </a:xfrm>
          <a:prstGeom prst="rect">
            <a:avLst/>
          </a:prstGeom>
          <a:noFill/>
        </p:spPr>
        <p:txBody>
          <a:bodyPr wrap="square">
            <a:spAutoFit/>
          </a:bodyPr>
          <a:lstStyle/>
          <a:p>
            <a:pPr algn="l"/>
            <a:r>
              <a:rPr sz="1300" b="0" i="1">
                <a:solidFill>
                  <a:srgbClr val="5C5447"/>
                </a:solidFill>
                <a:latin typeface="Cambria"/>
              </a:rPr>
              <a:t>Cảm ơn thầy đã theo dõi — rất mong nhận góp ý.</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