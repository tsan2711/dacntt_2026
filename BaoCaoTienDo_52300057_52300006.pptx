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pass@1</c:v>
                </c:pt>
              </c:strCache>
            </c:strRef>
          </c:tx>
          <c:spPr>
            <a:ln w="31750">
              <a:solidFill>
                <a:srgbClr val="7A1F2B"/>
              </a:solidFill>
            </a:ln>
          </c:spPr>
          <c:marker>
            <c:spPr>
              <a:solidFill>
                <a:srgbClr val="7A1F2B"/>
              </a:solidFill>
              <a:ln>
                <a:solidFill>
                  <a:srgbClr val="7A1F2B"/>
                </a:solidFill>
              </a:ln>
            </c:spPr>
          </c:marker>
          <c:cat>
            <c:strRef>
              <c:f>Sheet1!$A$2:$A$6</c:f>
              <c:strCache>
                <c:ptCount val="5"/>
                <c:pt idx="0">
                  <c:v>Vòng 0</c:v>
                </c:pt>
                <c:pt idx="1">
                  <c:v>Vòng 1</c:v>
                </c:pt>
                <c:pt idx="2">
                  <c:v>Vòng 2</c:v>
                </c:pt>
                <c:pt idx="3">
                  <c:v>Vòng 3</c:v>
                </c:pt>
                <c:pt idx="4">
                  <c:v>Vòng 4</c:v>
                </c:pt>
              </c:strCache>
            </c:strRef>
          </c:cat>
          <c:val>
            <c:numRef>
              <c:f>Sheet1!$B$2:$B$6</c:f>
              <c:numCache>
                <c:formatCode>General</c:formatCode>
                <c:ptCount val="5"/>
                <c:pt idx="0">
                  <c:v>31.1</c:v>
                </c:pt>
                <c:pt idx="1">
                  <c:v>31.9</c:v>
                </c:pt>
                <c:pt idx="2">
                  <c:v>29.9</c:v>
                </c:pt>
                <c:pt idx="3">
                  <c:v>28.9</c:v>
                </c:pt>
                <c:pt idx="4">
                  <c:v>27.4</c:v>
                </c:pt>
              </c:numCache>
            </c:numRef>
          </c:val>
          <c:smooth val="0"/>
        </c:ser>
        <c:ser>
          <c:idx val="1"/>
          <c:order val="1"/>
          <c:tx>
            <c:strRef>
              <c:f>Sheet1!$C$1</c:f>
              <c:strCache>
                <c:ptCount val="1"/>
                <c:pt idx="0">
                  <c:v>pass@8</c:v>
                </c:pt>
              </c:strCache>
            </c:strRef>
          </c:tx>
          <c:spPr>
            <a:ln w="31750">
              <a:solidFill>
                <a:srgbClr val="2F4B39"/>
              </a:solidFill>
            </a:ln>
          </c:spPr>
          <c:marker>
            <c:spPr>
              <a:solidFill>
                <a:srgbClr val="2F4B39"/>
              </a:solidFill>
              <a:ln>
                <a:solidFill>
                  <a:srgbClr val="2F4B39"/>
                </a:solidFill>
              </a:ln>
            </c:spPr>
          </c:marker>
          <c:cat>
            <c:strRef>
              <c:f>Sheet1!$A$2:$A$6</c:f>
              <c:strCache>
                <c:ptCount val="5"/>
                <c:pt idx="0">
                  <c:v>Vòng 0</c:v>
                </c:pt>
                <c:pt idx="1">
                  <c:v>Vòng 1</c:v>
                </c:pt>
                <c:pt idx="2">
                  <c:v>Vòng 2</c:v>
                </c:pt>
                <c:pt idx="3">
                  <c:v>Vòng 3</c:v>
                </c:pt>
                <c:pt idx="4">
                  <c:v>Vòng 4</c:v>
                </c:pt>
              </c:strCache>
            </c:strRef>
          </c:cat>
          <c:val>
            <c:numRef>
              <c:f>Sheet1!$C$2:$C$6</c:f>
              <c:numCache>
                <c:formatCode>General</c:formatCode>
                <c:ptCount val="5"/>
                <c:pt idx="0">
                  <c:v>60.5</c:v>
                </c:pt>
                <c:pt idx="1">
                  <c:v>58.9</c:v>
                </c:pt>
                <c:pt idx="2">
                  <c:v>56.1</c:v>
                </c:pt>
                <c:pt idx="3">
                  <c:v>55.5</c:v>
                </c:pt>
                <c:pt idx="4">
                  <c:v>54.9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9BFAB"/>
            </a:solidFill>
          </a:ln>
        </c:spPr>
        <c:txPr>
          <a:bodyPr/>
          <a:lstStyle/>
          <a:p>
            <a:pPr>
              <a:defRPr sz="1200">
                <a:latin typeface="Cambria"/>
              </a:defRPr>
            </a:pPr>
          </a:p>
        </c:txPr>
        <c:crossAx val="2140495176"/>
        <c:crosses val="autoZero"/>
        <c:auto val="1"/>
        <c:lblAlgn val="ctr"/>
        <c:lblOffset val="100"/>
        <c:noMultiLvlLbl val="0"/>
      </c:catAx>
      <c:valAx>
        <c:axId val="2140495176"/>
        <c:scaling>
          <c:max val="65.0"/>
          <c:min val="20.0"/>
        </c:scaling>
        <c:delete val="0"/>
        <c:axPos val="l"/>
        <c:majorGridlines>
          <c:spPr>
            <a:ln w="6350">
              <a:solidFill>
                <a:srgbClr val="C9BFAB"/>
              </a:solidFill>
            </a:ln>
          </c:spPr>
        </c:majorGridlines>
        <c:majorTickMark val="out"/>
        <c:minorTickMark val="none"/>
        <c:tickLblPos val="nextTo"/>
        <c:txPr>
          <a:bodyPr/>
          <a:lstStyle/>
          <a:p>
            <a:pPr>
              <a:defRPr sz="1100">
                <a:latin typeface="Cambria"/>
              </a:defRPr>
            </a:pPr>
          </a:p>
        </c:txPr>
        <c:crossAx val="2118791784"/>
        <c:crosses val="autoZero"/>
      </c:valAx>
    </c:plotArea>
    <c:legend>
      <c:legendPos val="b"/>
      <c:layout/>
      <c:overlay val="0"/>
      <c:txPr>
        <a:bodyPr/>
        <a:lstStyle/>
        <a:p>
          <a:pPr>
            <a:defRPr sz="1200">
              <a:latin typeface="Cambria"/>
            </a:defRPr>
          </a:pPr>
        </a:p>
      </c:txPr>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cxnSp>
        <p:nvCxnSpPr>
          <p:cNvPr id="2" name="Connector 1"/>
          <p:cNvCxnSpPr/>
          <p:nvPr/>
        </p:nvCxnSpPr>
        <p:spPr>
          <a:xfrm>
            <a:off x="777240" y="822960"/>
            <a:ext cx="1005840" cy="0"/>
          </a:xfrm>
          <a:prstGeom prst="line">
            <a:avLst/>
          </a:prstGeom>
          <a:ln w="31750">
            <a:solidFill>
              <a:srgbClr val="7A1F2B"/>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777240" y="960120"/>
            <a:ext cx="10058400" cy="365760"/>
          </a:xfrm>
          <a:prstGeom prst="rect">
            <a:avLst/>
          </a:prstGeom>
          <a:noFill/>
        </p:spPr>
        <p:txBody>
          <a:bodyPr wrap="square">
            <a:spAutoFit/>
          </a:bodyPr>
          <a:lstStyle/>
          <a:p>
            <a:pPr algn="l">
              <a:spcBef>
                <a:spcPts val="0"/>
              </a:spcBef>
              <a:spcAft>
                <a:spcPts val="600"/>
              </a:spcAft>
            </a:pPr>
            <a:r>
              <a:rPr sz="1400" b="1" i="0">
                <a:solidFill>
                  <a:srgbClr val="7A1F2B"/>
                </a:solidFill>
                <a:latin typeface="Cambria"/>
              </a:rPr>
              <a:t>BÁO CÁO TIẾN ĐỘ TUẦN 1</a:t>
            </a:r>
          </a:p>
        </p:txBody>
      </p:sp>
      <p:sp>
        <p:nvSpPr>
          <p:cNvPr id="4" name="TextBox 3"/>
          <p:cNvSpPr txBox="1"/>
          <p:nvPr/>
        </p:nvSpPr>
        <p:spPr>
          <a:xfrm>
            <a:off x="777240" y="1554480"/>
            <a:ext cx="10515600" cy="2194560"/>
          </a:xfrm>
          <a:prstGeom prst="rect">
            <a:avLst/>
          </a:prstGeom>
          <a:noFill/>
        </p:spPr>
        <p:txBody>
          <a:bodyPr wrap="square">
            <a:spAutoFit/>
          </a:bodyPr>
          <a:lstStyle/>
          <a:p>
            <a:pPr algn="l">
              <a:spcBef>
                <a:spcPts val="0"/>
              </a:spcBef>
              <a:spcAft>
                <a:spcPts val="200"/>
              </a:spcAft>
            </a:pPr>
            <a:r>
              <a:rPr sz="3200" b="1" i="0">
                <a:solidFill>
                  <a:srgbClr val="2A251D"/>
                </a:solidFill>
                <a:latin typeface="Cambria"/>
              </a:rPr>
              <a:t>Verifier lệch vì văn phong có làm ảo hoá</a:t>
            </a:r>
          </a:p>
          <a:p>
            <a:pPr algn="l">
              <a:spcBef>
                <a:spcPts val="0"/>
              </a:spcBef>
              <a:spcAft>
                <a:spcPts val="600"/>
              </a:spcAft>
            </a:pPr>
            <a:r>
              <a:rPr sz="3200" b="1" i="0">
                <a:solidFill>
                  <a:srgbClr val="2A251D"/>
                </a:solidFill>
                <a:latin typeface="Cambria"/>
              </a:rPr>
              <a:t>khả năng “tự cải thiện” của self-training toán học?</a:t>
            </a:r>
          </a:p>
        </p:txBody>
      </p:sp>
      <p:cxnSp>
        <p:nvCxnSpPr>
          <p:cNvPr id="5" name="Connector 4"/>
          <p:cNvCxnSpPr/>
          <p:nvPr/>
        </p:nvCxnSpPr>
        <p:spPr>
          <a:xfrm>
            <a:off x="777240" y="3246120"/>
            <a:ext cx="10607040"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3474720"/>
            <a:ext cx="10515600" cy="640080"/>
          </a:xfrm>
          <a:prstGeom prst="rect">
            <a:avLst/>
          </a:prstGeom>
          <a:noFill/>
        </p:spPr>
        <p:txBody>
          <a:bodyPr wrap="square">
            <a:spAutoFit/>
          </a:bodyPr>
          <a:lstStyle/>
          <a:p>
            <a:pPr algn="l">
              <a:spcBef>
                <a:spcPts val="0"/>
              </a:spcBef>
              <a:spcAft>
                <a:spcPts val="600"/>
              </a:spcAft>
            </a:pPr>
            <a:r>
              <a:rPr sz="1600" b="0" i="1">
                <a:solidFill>
                  <a:srgbClr val="5C5447"/>
                </a:solidFill>
                <a:latin typeface="Cambria"/>
              </a:rPr>
              <a:t>Đo pass@1, pass@k, và độ hội tụ văn phong đầu ra qua nhiều vòng Generate → Verify → Select → Train (GVT)</a:t>
            </a:r>
          </a:p>
        </p:txBody>
      </p:sp>
      <p:sp>
        <p:nvSpPr>
          <p:cNvPr id="7" name="TextBox 6"/>
          <p:cNvSpPr txBox="1"/>
          <p:nvPr/>
        </p:nvSpPr>
        <p:spPr>
          <a:xfrm>
            <a:off x="777240" y="5806440"/>
            <a:ext cx="8229600" cy="548640"/>
          </a:xfrm>
          <a:prstGeom prst="rect">
            <a:avLst/>
          </a:prstGeom>
          <a:noFill/>
        </p:spPr>
        <p:txBody>
          <a:bodyPr wrap="square">
            <a:spAutoFit/>
          </a:bodyPr>
          <a:lstStyle/>
          <a:p>
            <a:pPr algn="l">
              <a:spcBef>
                <a:spcPts val="0"/>
              </a:spcBef>
              <a:spcAft>
                <a:spcPts val="100"/>
              </a:spcAft>
            </a:pPr>
            <a:r>
              <a:rPr sz="1300" b="1" i="0">
                <a:solidFill>
                  <a:srgbClr val="2A251D"/>
                </a:solidFill>
                <a:latin typeface="Cambria"/>
              </a:rPr>
              <a:t>Nguyễn Tấn Sang</a:t>
            </a:r>
          </a:p>
          <a:p>
            <a:pPr algn="l">
              <a:spcBef>
                <a:spcPts val="0"/>
              </a:spcBef>
              <a:spcAft>
                <a:spcPts val="600"/>
              </a:spcAft>
            </a:pPr>
            <a:r>
              <a:rPr sz="1200" b="0" i="0">
                <a:solidFill>
                  <a:srgbClr val="5C5447"/>
                </a:solidFill>
                <a:latin typeface="Cambria"/>
              </a:rPr>
              <a:t>30 tháng 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777240" y="320040"/>
            <a:ext cx="7315200" cy="274320"/>
          </a:xfrm>
          <a:prstGeom prst="rect">
            <a:avLst/>
          </a:prstGeom>
          <a:noFill/>
        </p:spPr>
        <p:txBody>
          <a:bodyPr wrap="square">
            <a:spAutoFit/>
          </a:bodyPr>
          <a:lstStyle/>
          <a:p>
            <a:pPr algn="l">
              <a:spcBef>
                <a:spcPts val="0"/>
              </a:spcBef>
              <a:spcAft>
                <a:spcPts val="600"/>
              </a:spcAft>
            </a:pPr>
            <a:r>
              <a:rPr sz="950" b="0" i="0">
                <a:solidFill>
                  <a:srgbClr val="5C5447"/>
                </a:solidFill>
                <a:latin typeface="Cambria"/>
              </a:rPr>
              <a:t>VERIFIER LỆCH VĂN PHONG TRONG SELF-TRAINING</a:t>
            </a:r>
          </a:p>
        </p:txBody>
      </p:sp>
      <p:sp>
        <p:nvSpPr>
          <p:cNvPr id="3" name="TextBox 2"/>
          <p:cNvSpPr txBox="1"/>
          <p:nvPr/>
        </p:nvSpPr>
        <p:spPr>
          <a:xfrm>
            <a:off x="10042855" y="320040"/>
            <a:ext cx="1371600" cy="274320"/>
          </a:xfrm>
          <a:prstGeom prst="rect">
            <a:avLst/>
          </a:prstGeom>
          <a:noFill/>
        </p:spPr>
        <p:txBody>
          <a:bodyPr wrap="square">
            <a:spAutoFit/>
          </a:bodyPr>
          <a:lstStyle/>
          <a:p>
            <a:pPr algn="r">
              <a:spcBef>
                <a:spcPts val="0"/>
              </a:spcBef>
              <a:spcAft>
                <a:spcPts val="600"/>
              </a:spcAft>
            </a:pPr>
            <a:r>
              <a:rPr sz="950" b="0" i="0">
                <a:solidFill>
                  <a:srgbClr val="5C5447"/>
                </a:solidFill>
                <a:latin typeface="Cambria"/>
              </a:rPr>
              <a:t>01</a:t>
            </a:r>
          </a:p>
        </p:txBody>
      </p:sp>
      <p:cxnSp>
        <p:nvCxnSpPr>
          <p:cNvPr id="4" name="Connector 3"/>
          <p:cNvCxnSpPr/>
          <p:nvPr/>
        </p:nvCxnSpPr>
        <p:spPr>
          <a:xfrm>
            <a:off x="777240" y="62179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777240"/>
            <a:ext cx="10637215" cy="320040"/>
          </a:xfrm>
          <a:prstGeom prst="rect">
            <a:avLst/>
          </a:prstGeom>
          <a:noFill/>
        </p:spPr>
        <p:txBody>
          <a:bodyPr wrap="square">
            <a:spAutoFit/>
          </a:bodyPr>
          <a:lstStyle/>
          <a:p>
            <a:pPr algn="l">
              <a:spcBef>
                <a:spcPts val="0"/>
              </a:spcBef>
              <a:spcAft>
                <a:spcPts val="0"/>
              </a:spcAft>
            </a:pPr>
            <a:r>
              <a:rPr sz="1300" b="1" i="0">
                <a:solidFill>
                  <a:srgbClr val="7A1F2B"/>
                </a:solidFill>
                <a:latin typeface="Cambria"/>
              </a:rPr>
              <a:t>NỘI DUNG</a:t>
            </a:r>
          </a:p>
        </p:txBody>
      </p:sp>
      <p:sp>
        <p:nvSpPr>
          <p:cNvPr id="6" name="TextBox 5"/>
          <p:cNvSpPr txBox="1"/>
          <p:nvPr/>
        </p:nvSpPr>
        <p:spPr>
          <a:xfrm>
            <a:off x="777240" y="1078992"/>
            <a:ext cx="10637215" cy="868680"/>
          </a:xfrm>
          <a:prstGeom prst="rect">
            <a:avLst/>
          </a:prstGeom>
          <a:noFill/>
        </p:spPr>
        <p:txBody>
          <a:bodyPr wrap="square">
            <a:spAutoFit/>
          </a:bodyPr>
          <a:lstStyle/>
          <a:p>
            <a:pPr algn="l">
              <a:spcBef>
                <a:spcPts val="0"/>
              </a:spcBef>
              <a:spcAft>
                <a:spcPts val="0"/>
              </a:spcAft>
            </a:pPr>
            <a:r>
              <a:rPr sz="2700" b="1" i="0">
                <a:solidFill>
                  <a:srgbClr val="2A251D"/>
                </a:solidFill>
                <a:latin typeface="Cambria"/>
              </a:rPr>
              <a:t>Những gì trình bày hôm nay</a:t>
            </a:r>
          </a:p>
        </p:txBody>
      </p:sp>
      <p:sp>
        <p:nvSpPr>
          <p:cNvPr id="7" name="TextBox 6"/>
          <p:cNvSpPr txBox="1"/>
          <p:nvPr/>
        </p:nvSpPr>
        <p:spPr>
          <a:xfrm>
            <a:off x="777240" y="2057399"/>
            <a:ext cx="548640" cy="457200"/>
          </a:xfrm>
          <a:prstGeom prst="rect">
            <a:avLst/>
          </a:prstGeom>
          <a:noFill/>
        </p:spPr>
        <p:txBody>
          <a:bodyPr wrap="square">
            <a:spAutoFit/>
          </a:bodyPr>
          <a:lstStyle/>
          <a:p>
            <a:pPr algn="l">
              <a:spcBef>
                <a:spcPts val="0"/>
              </a:spcBef>
              <a:spcAft>
                <a:spcPts val="600"/>
              </a:spcAft>
            </a:pPr>
            <a:r>
              <a:rPr sz="1500" b="1" i="0">
                <a:solidFill>
                  <a:srgbClr val="9C772B"/>
                </a:solidFill>
                <a:latin typeface="Cambria"/>
              </a:rPr>
              <a:t>01</a:t>
            </a:r>
          </a:p>
        </p:txBody>
      </p:sp>
      <p:sp>
        <p:nvSpPr>
          <p:cNvPr id="8" name="TextBox 7"/>
          <p:cNvSpPr txBox="1"/>
          <p:nvPr/>
        </p:nvSpPr>
        <p:spPr>
          <a:xfrm>
            <a:off x="1417320" y="2057399"/>
            <a:ext cx="9997135" cy="457200"/>
          </a:xfrm>
          <a:prstGeom prst="rect">
            <a:avLst/>
          </a:prstGeom>
          <a:noFill/>
        </p:spPr>
        <p:txBody>
          <a:bodyPr wrap="square">
            <a:spAutoFit/>
          </a:bodyPr>
          <a:lstStyle/>
          <a:p>
            <a:pPr algn="l">
              <a:spcBef>
                <a:spcPts val="0"/>
              </a:spcBef>
              <a:spcAft>
                <a:spcPts val="600"/>
              </a:spcAft>
            </a:pPr>
            <a:r>
              <a:rPr sz="1600" b="0" i="0">
                <a:solidFill>
                  <a:srgbClr val="2A251D"/>
                </a:solidFill>
                <a:latin typeface="Cambria"/>
              </a:rPr>
              <a:t>Câu hỏi nghiên cứu và kỹ thuật nền tảng</a:t>
            </a:r>
          </a:p>
        </p:txBody>
      </p:sp>
      <p:cxnSp>
        <p:nvCxnSpPr>
          <p:cNvPr id="9" name="Connector 8"/>
          <p:cNvCxnSpPr/>
          <p:nvPr/>
        </p:nvCxnSpPr>
        <p:spPr>
          <a:xfrm>
            <a:off x="1417320" y="2606039"/>
            <a:ext cx="9997135" cy="0"/>
          </a:xfrm>
          <a:prstGeom prst="line">
            <a:avLst/>
          </a:prstGeom>
          <a:ln w="6350">
            <a:solidFill>
              <a:srgbClr val="C9BFA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77240" y="2770631"/>
            <a:ext cx="548640" cy="457200"/>
          </a:xfrm>
          <a:prstGeom prst="rect">
            <a:avLst/>
          </a:prstGeom>
          <a:noFill/>
        </p:spPr>
        <p:txBody>
          <a:bodyPr wrap="square">
            <a:spAutoFit/>
          </a:bodyPr>
          <a:lstStyle/>
          <a:p>
            <a:pPr algn="l">
              <a:spcBef>
                <a:spcPts val="0"/>
              </a:spcBef>
              <a:spcAft>
                <a:spcPts val="600"/>
              </a:spcAft>
            </a:pPr>
            <a:r>
              <a:rPr sz="1500" b="1" i="0">
                <a:solidFill>
                  <a:srgbClr val="9C772B"/>
                </a:solidFill>
                <a:latin typeface="Cambria"/>
              </a:rPr>
              <a:t>02</a:t>
            </a:r>
          </a:p>
        </p:txBody>
      </p:sp>
      <p:sp>
        <p:nvSpPr>
          <p:cNvPr id="11" name="TextBox 10"/>
          <p:cNvSpPr txBox="1"/>
          <p:nvPr/>
        </p:nvSpPr>
        <p:spPr>
          <a:xfrm>
            <a:off x="1417320" y="2770631"/>
            <a:ext cx="9997135" cy="457200"/>
          </a:xfrm>
          <a:prstGeom prst="rect">
            <a:avLst/>
          </a:prstGeom>
          <a:noFill/>
        </p:spPr>
        <p:txBody>
          <a:bodyPr wrap="square">
            <a:spAutoFit/>
          </a:bodyPr>
          <a:lstStyle/>
          <a:p>
            <a:pPr algn="l">
              <a:spcBef>
                <a:spcPts val="0"/>
              </a:spcBef>
              <a:spcAft>
                <a:spcPts val="600"/>
              </a:spcAft>
            </a:pPr>
            <a:r>
              <a:rPr sz="1600" b="0" i="0">
                <a:solidFill>
                  <a:srgbClr val="2A251D"/>
                </a:solidFill>
                <a:latin typeface="Cambria"/>
              </a:rPr>
              <a:t>Bằng chứng cụ thể: verifier chấm sai có quy luật, không ngẫu nhiên</a:t>
            </a:r>
          </a:p>
        </p:txBody>
      </p:sp>
      <p:cxnSp>
        <p:nvCxnSpPr>
          <p:cNvPr id="12" name="Connector 11"/>
          <p:cNvCxnSpPr/>
          <p:nvPr/>
        </p:nvCxnSpPr>
        <p:spPr>
          <a:xfrm>
            <a:off x="1417320" y="3319271"/>
            <a:ext cx="9997135" cy="0"/>
          </a:xfrm>
          <a:prstGeom prst="line">
            <a:avLst/>
          </a:prstGeom>
          <a:ln w="6350">
            <a:solidFill>
              <a:srgbClr val="C9BFA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77240" y="3483863"/>
            <a:ext cx="548640" cy="457200"/>
          </a:xfrm>
          <a:prstGeom prst="rect">
            <a:avLst/>
          </a:prstGeom>
          <a:noFill/>
        </p:spPr>
        <p:txBody>
          <a:bodyPr wrap="square">
            <a:spAutoFit/>
          </a:bodyPr>
          <a:lstStyle/>
          <a:p>
            <a:pPr algn="l">
              <a:spcBef>
                <a:spcPts val="0"/>
              </a:spcBef>
              <a:spcAft>
                <a:spcPts val="600"/>
              </a:spcAft>
            </a:pPr>
            <a:r>
              <a:rPr sz="1500" b="1" i="0">
                <a:solidFill>
                  <a:srgbClr val="9C772B"/>
                </a:solidFill>
                <a:latin typeface="Cambria"/>
              </a:rPr>
              <a:t>03</a:t>
            </a:r>
          </a:p>
        </p:txBody>
      </p:sp>
      <p:sp>
        <p:nvSpPr>
          <p:cNvPr id="14" name="TextBox 13"/>
          <p:cNvSpPr txBox="1"/>
          <p:nvPr/>
        </p:nvSpPr>
        <p:spPr>
          <a:xfrm>
            <a:off x="1417320" y="3483863"/>
            <a:ext cx="9997135" cy="457200"/>
          </a:xfrm>
          <a:prstGeom prst="rect">
            <a:avLst/>
          </a:prstGeom>
          <a:noFill/>
        </p:spPr>
        <p:txBody>
          <a:bodyPr wrap="square">
            <a:spAutoFit/>
          </a:bodyPr>
          <a:lstStyle/>
          <a:p>
            <a:pPr algn="l">
              <a:spcBef>
                <a:spcPts val="0"/>
              </a:spcBef>
              <a:spcAft>
                <a:spcPts val="600"/>
              </a:spcAft>
            </a:pPr>
            <a:r>
              <a:rPr sz="1600" b="0" i="0">
                <a:solidFill>
                  <a:srgbClr val="2A251D"/>
                </a:solidFill>
                <a:latin typeface="Cambria"/>
              </a:rPr>
              <a:t>Ba bài báo gần nhất — trích dẫn nguyên văn phần chưa được thực hiện</a:t>
            </a:r>
          </a:p>
        </p:txBody>
      </p:sp>
      <p:cxnSp>
        <p:nvCxnSpPr>
          <p:cNvPr id="15" name="Connector 14"/>
          <p:cNvCxnSpPr/>
          <p:nvPr/>
        </p:nvCxnSpPr>
        <p:spPr>
          <a:xfrm>
            <a:off x="1417320" y="4032503"/>
            <a:ext cx="9997135" cy="0"/>
          </a:xfrm>
          <a:prstGeom prst="line">
            <a:avLst/>
          </a:prstGeom>
          <a:ln w="6350">
            <a:solidFill>
              <a:srgbClr val="C9BFA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77240" y="4197095"/>
            <a:ext cx="548640" cy="457200"/>
          </a:xfrm>
          <a:prstGeom prst="rect">
            <a:avLst/>
          </a:prstGeom>
          <a:noFill/>
        </p:spPr>
        <p:txBody>
          <a:bodyPr wrap="square">
            <a:spAutoFit/>
          </a:bodyPr>
          <a:lstStyle/>
          <a:p>
            <a:pPr algn="l">
              <a:spcBef>
                <a:spcPts val="0"/>
              </a:spcBef>
              <a:spcAft>
                <a:spcPts val="600"/>
              </a:spcAft>
            </a:pPr>
            <a:r>
              <a:rPr sz="1500" b="1" i="0">
                <a:solidFill>
                  <a:srgbClr val="9C772B"/>
                </a:solidFill>
                <a:latin typeface="Cambria"/>
              </a:rPr>
              <a:t>04</a:t>
            </a:r>
          </a:p>
        </p:txBody>
      </p:sp>
      <p:sp>
        <p:nvSpPr>
          <p:cNvPr id="17" name="TextBox 16"/>
          <p:cNvSpPr txBox="1"/>
          <p:nvPr/>
        </p:nvSpPr>
        <p:spPr>
          <a:xfrm>
            <a:off x="1417320" y="4197095"/>
            <a:ext cx="9997135" cy="457200"/>
          </a:xfrm>
          <a:prstGeom prst="rect">
            <a:avLst/>
          </a:prstGeom>
          <a:noFill/>
        </p:spPr>
        <p:txBody>
          <a:bodyPr wrap="square">
            <a:spAutoFit/>
          </a:bodyPr>
          <a:lstStyle/>
          <a:p>
            <a:pPr algn="l">
              <a:spcBef>
                <a:spcPts val="0"/>
              </a:spcBef>
              <a:spcAft>
                <a:spcPts val="600"/>
              </a:spcAft>
            </a:pPr>
            <a:r>
              <a:rPr sz="1600" b="0" i="0">
                <a:solidFill>
                  <a:srgbClr val="2A251D"/>
                </a:solidFill>
                <a:latin typeface="Cambria"/>
              </a:rPr>
              <a:t>Khoảng trống còn lại, ghép từ ba điều còn thiếu ở trên</a:t>
            </a:r>
          </a:p>
        </p:txBody>
      </p:sp>
      <p:cxnSp>
        <p:nvCxnSpPr>
          <p:cNvPr id="18" name="Connector 17"/>
          <p:cNvCxnSpPr/>
          <p:nvPr/>
        </p:nvCxnSpPr>
        <p:spPr>
          <a:xfrm>
            <a:off x="1417320" y="4745735"/>
            <a:ext cx="9997135" cy="0"/>
          </a:xfrm>
          <a:prstGeom prst="line">
            <a:avLst/>
          </a:prstGeom>
          <a:ln w="6350">
            <a:solidFill>
              <a:srgbClr val="C9BFA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77240" y="4910327"/>
            <a:ext cx="548640" cy="457200"/>
          </a:xfrm>
          <a:prstGeom prst="rect">
            <a:avLst/>
          </a:prstGeom>
          <a:noFill/>
        </p:spPr>
        <p:txBody>
          <a:bodyPr wrap="square">
            <a:spAutoFit/>
          </a:bodyPr>
          <a:lstStyle/>
          <a:p>
            <a:pPr algn="l">
              <a:spcBef>
                <a:spcPts val="0"/>
              </a:spcBef>
              <a:spcAft>
                <a:spcPts val="600"/>
              </a:spcAft>
            </a:pPr>
            <a:r>
              <a:rPr sz="1500" b="1" i="0">
                <a:solidFill>
                  <a:srgbClr val="9C772B"/>
                </a:solidFill>
                <a:latin typeface="Cambria"/>
              </a:rPr>
              <a:t>05</a:t>
            </a:r>
          </a:p>
        </p:txBody>
      </p:sp>
      <p:sp>
        <p:nvSpPr>
          <p:cNvPr id="20" name="TextBox 19"/>
          <p:cNvSpPr txBox="1"/>
          <p:nvPr/>
        </p:nvSpPr>
        <p:spPr>
          <a:xfrm>
            <a:off x="1417320" y="4910327"/>
            <a:ext cx="9997135" cy="457200"/>
          </a:xfrm>
          <a:prstGeom prst="rect">
            <a:avLst/>
          </a:prstGeom>
          <a:noFill/>
        </p:spPr>
        <p:txBody>
          <a:bodyPr wrap="square">
            <a:spAutoFit/>
          </a:bodyPr>
          <a:lstStyle/>
          <a:p>
            <a:pPr algn="l">
              <a:spcBef>
                <a:spcPts val="0"/>
              </a:spcBef>
              <a:spcAft>
                <a:spcPts val="600"/>
              </a:spcAft>
            </a:pPr>
            <a:r>
              <a:rPr sz="1600" b="0" i="0">
                <a:solidFill>
                  <a:srgbClr val="2A251D"/>
                </a:solidFill>
                <a:latin typeface="Cambria"/>
              </a:rPr>
              <a:t>Phương pháp đo, kết quả thực nghiệm tuần 1 và hướng đi tiếp theo</a:t>
            </a:r>
          </a:p>
        </p:txBody>
      </p:sp>
      <p:sp>
        <p:nvSpPr>
          <p:cNvPr id="21" name="TextBox 20"/>
          <p:cNvSpPr txBox="1"/>
          <p:nvPr/>
        </p:nvSpPr>
        <p:spPr>
          <a:xfrm>
            <a:off x="777240" y="6355080"/>
            <a:ext cx="10637215" cy="365760"/>
          </a:xfrm>
          <a:prstGeom prst="rect">
            <a:avLst/>
          </a:prstGeom>
          <a:noFill/>
        </p:spPr>
        <p:txBody>
          <a:bodyPr wrap="square">
            <a:spAutoFit/>
          </a:bodyPr>
          <a:lstStyle/>
          <a:p>
            <a:pPr algn="l">
              <a:spcBef>
                <a:spcPts val="0"/>
              </a:spcBef>
              <a:spcAft>
                <a:spcPts val="600"/>
              </a:spcAft>
            </a:pPr>
            <a:r>
              <a:rPr sz="950" b="0" i="1">
                <a:solidFill>
                  <a:srgbClr val="5C5447"/>
                </a:solidFill>
                <a:latin typeface="Cambria"/>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777240" y="320040"/>
            <a:ext cx="7315200" cy="274320"/>
          </a:xfrm>
          <a:prstGeom prst="rect">
            <a:avLst/>
          </a:prstGeom>
          <a:noFill/>
        </p:spPr>
        <p:txBody>
          <a:bodyPr wrap="square">
            <a:spAutoFit/>
          </a:bodyPr>
          <a:lstStyle/>
          <a:p>
            <a:pPr algn="l">
              <a:spcBef>
                <a:spcPts val="0"/>
              </a:spcBef>
              <a:spcAft>
                <a:spcPts val="600"/>
              </a:spcAft>
            </a:pPr>
            <a:r>
              <a:rPr sz="950" b="0" i="0">
                <a:solidFill>
                  <a:srgbClr val="5C5447"/>
                </a:solidFill>
                <a:latin typeface="Cambria"/>
              </a:rPr>
              <a:t>VERIFIER LỆCH VĂN PHONG TRONG SELF-TRAINING</a:t>
            </a:r>
          </a:p>
        </p:txBody>
      </p:sp>
      <p:sp>
        <p:nvSpPr>
          <p:cNvPr id="3" name="TextBox 2"/>
          <p:cNvSpPr txBox="1"/>
          <p:nvPr/>
        </p:nvSpPr>
        <p:spPr>
          <a:xfrm>
            <a:off x="10042855" y="320040"/>
            <a:ext cx="1371600" cy="274320"/>
          </a:xfrm>
          <a:prstGeom prst="rect">
            <a:avLst/>
          </a:prstGeom>
          <a:noFill/>
        </p:spPr>
        <p:txBody>
          <a:bodyPr wrap="square">
            <a:spAutoFit/>
          </a:bodyPr>
          <a:lstStyle/>
          <a:p>
            <a:pPr algn="r">
              <a:spcBef>
                <a:spcPts val="0"/>
              </a:spcBef>
              <a:spcAft>
                <a:spcPts val="600"/>
              </a:spcAft>
            </a:pPr>
            <a:r>
              <a:rPr sz="950" b="0" i="0">
                <a:solidFill>
                  <a:srgbClr val="5C5447"/>
                </a:solidFill>
                <a:latin typeface="Cambria"/>
              </a:rPr>
              <a:t>02</a:t>
            </a:r>
          </a:p>
        </p:txBody>
      </p:sp>
      <p:cxnSp>
        <p:nvCxnSpPr>
          <p:cNvPr id="4" name="Connector 3"/>
          <p:cNvCxnSpPr/>
          <p:nvPr/>
        </p:nvCxnSpPr>
        <p:spPr>
          <a:xfrm>
            <a:off x="777240" y="62179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777240"/>
            <a:ext cx="10637215" cy="320040"/>
          </a:xfrm>
          <a:prstGeom prst="rect">
            <a:avLst/>
          </a:prstGeom>
          <a:noFill/>
        </p:spPr>
        <p:txBody>
          <a:bodyPr wrap="square">
            <a:spAutoFit/>
          </a:bodyPr>
          <a:lstStyle/>
          <a:p>
            <a:pPr algn="l">
              <a:spcBef>
                <a:spcPts val="0"/>
              </a:spcBef>
              <a:spcAft>
                <a:spcPts val="0"/>
              </a:spcAft>
            </a:pPr>
            <a:r>
              <a:rPr sz="1300" b="1" i="0">
                <a:solidFill>
                  <a:srgbClr val="7A1F2B"/>
                </a:solidFill>
                <a:latin typeface="Cambria"/>
              </a:rPr>
              <a:t>CÂU HỎI NGHIÊN CỨU</a:t>
            </a:r>
          </a:p>
        </p:txBody>
      </p:sp>
      <p:sp>
        <p:nvSpPr>
          <p:cNvPr id="6" name="TextBox 5"/>
          <p:cNvSpPr txBox="1"/>
          <p:nvPr/>
        </p:nvSpPr>
        <p:spPr>
          <a:xfrm>
            <a:off x="777240" y="1078992"/>
            <a:ext cx="10637215" cy="868680"/>
          </a:xfrm>
          <a:prstGeom prst="rect">
            <a:avLst/>
          </a:prstGeom>
          <a:noFill/>
        </p:spPr>
        <p:txBody>
          <a:bodyPr wrap="square">
            <a:spAutoFit/>
          </a:bodyPr>
          <a:lstStyle/>
          <a:p>
            <a:pPr algn="l">
              <a:spcBef>
                <a:spcPts val="0"/>
              </a:spcBef>
              <a:spcAft>
                <a:spcPts val="0"/>
              </a:spcAft>
            </a:pPr>
            <a:r>
              <a:rPr sz="2700" b="1" i="0">
                <a:solidFill>
                  <a:srgbClr val="2A251D"/>
                </a:solidFill>
                <a:latin typeface="Cambria"/>
              </a:rPr>
              <a:t>Một câu hỏi, đứng trên một kỹ thuật đã biết</a:t>
            </a:r>
          </a:p>
        </p:txBody>
      </p:sp>
      <p:cxnSp>
        <p:nvCxnSpPr>
          <p:cNvPr id="7" name="Connector 6"/>
          <p:cNvCxnSpPr/>
          <p:nvPr/>
        </p:nvCxnSpPr>
        <p:spPr>
          <a:xfrm>
            <a:off x="777240" y="1920239"/>
            <a:ext cx="0" cy="1325880"/>
          </a:xfrm>
          <a:prstGeom prst="line">
            <a:avLst/>
          </a:prstGeom>
          <a:ln w="31750">
            <a:solidFill>
              <a:srgbClr val="7A1F2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33272" y="1874519"/>
            <a:ext cx="10381183" cy="1554480"/>
          </a:xfrm>
          <a:prstGeom prst="rect">
            <a:avLst/>
          </a:prstGeom>
          <a:noFill/>
        </p:spPr>
        <p:txBody>
          <a:bodyPr wrap="square">
            <a:spAutoFit/>
          </a:bodyPr>
          <a:lstStyle/>
          <a:p>
            <a:pPr algn="l">
              <a:spcAft>
                <a:spcPts val="800"/>
              </a:spcAft>
            </a:pPr>
            <a:r>
              <a:rPr sz="1900" b="0" i="1">
                <a:solidFill>
                  <a:srgbClr val="2A251D"/>
                </a:solidFill>
                <a:latin typeface="Cambria"/>
              </a:rPr>
              <a:t>“Sau nhiều vòng Generate → Verify → Train, model đang thật sự giỏi giải toán hơn, hay chỉ đang học viết đáp án theo đúng định dạng mà verifier chấp nhận?”</a:t>
            </a:r>
          </a:p>
          <a:p>
            <a:pPr>
              <a:spcBef>
                <a:spcPts val="600"/>
              </a:spcBef>
            </a:pPr>
            <a:r>
              <a:rPr sz="1200" b="1" i="0">
                <a:solidFill>
                  <a:srgbClr val="5C5447"/>
                </a:solidFill>
                <a:latin typeface="Cambria"/>
              </a:rPr>
              <a:t>— Câu hỏi trung tâm của đề tài</a:t>
            </a:r>
          </a:p>
        </p:txBody>
      </p:sp>
      <p:cxnSp>
        <p:nvCxnSpPr>
          <p:cNvPr id="9" name="Connector 8"/>
          <p:cNvCxnSpPr/>
          <p:nvPr/>
        </p:nvCxnSpPr>
        <p:spPr>
          <a:xfrm>
            <a:off x="777240" y="3749038"/>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77240" y="4023358"/>
            <a:ext cx="3301898" cy="365760"/>
          </a:xfrm>
          <a:prstGeom prst="rect">
            <a:avLst/>
          </a:prstGeom>
          <a:noFill/>
        </p:spPr>
        <p:txBody>
          <a:bodyPr wrap="square">
            <a:spAutoFit/>
          </a:bodyPr>
          <a:lstStyle/>
          <a:p>
            <a:pPr algn="l">
              <a:spcBef>
                <a:spcPts val="0"/>
              </a:spcBef>
              <a:spcAft>
                <a:spcPts val="600"/>
              </a:spcAft>
            </a:pPr>
            <a:r>
              <a:rPr sz="1250" b="1" i="0">
                <a:solidFill>
                  <a:srgbClr val="9C772B"/>
                </a:solidFill>
                <a:latin typeface="Cambria"/>
              </a:rPr>
              <a:t>KỸ THUẬT NỀN</a:t>
            </a:r>
          </a:p>
        </p:txBody>
      </p:sp>
      <p:sp>
        <p:nvSpPr>
          <p:cNvPr id="11" name="TextBox 10"/>
          <p:cNvSpPr txBox="1"/>
          <p:nvPr/>
        </p:nvSpPr>
        <p:spPr>
          <a:xfrm>
            <a:off x="777240" y="4434838"/>
            <a:ext cx="3301898" cy="1371600"/>
          </a:xfrm>
          <a:prstGeom prst="rect">
            <a:avLst/>
          </a:prstGeom>
          <a:noFill/>
        </p:spPr>
        <p:txBody>
          <a:bodyPr wrap="square">
            <a:spAutoFit/>
          </a:bodyPr>
          <a:lstStyle/>
          <a:p>
            <a:pPr algn="l">
              <a:lnSpc>
                <a:spcPct val="115000"/>
              </a:lnSpc>
              <a:spcBef>
                <a:spcPts val="0"/>
              </a:spcBef>
              <a:spcAft>
                <a:spcPts val="0"/>
              </a:spcAft>
            </a:pPr>
            <a:r>
              <a:rPr sz="1250" b="0" i="0">
                <a:solidFill>
                  <a:srgbClr val="2A251D"/>
                </a:solidFill>
                <a:latin typeface="Cambria"/>
              </a:rPr>
              <a:t>GVT / self-training: model tự sinh lời giải, verifier tự động giữ bài đúng, model tự học lại từ đó — lặp nhiều vòng, không cần người chấm tay.</a:t>
            </a:r>
          </a:p>
        </p:txBody>
      </p:sp>
      <p:cxnSp>
        <p:nvCxnSpPr>
          <p:cNvPr id="12" name="Connector 11"/>
          <p:cNvCxnSpPr/>
          <p:nvPr/>
        </p:nvCxnSpPr>
        <p:spPr>
          <a:xfrm>
            <a:off x="4262018.333333334" y="4023358"/>
            <a:ext cx="0.0" cy="173736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444898" y="4023358"/>
            <a:ext cx="3301898" cy="365760"/>
          </a:xfrm>
          <a:prstGeom prst="rect">
            <a:avLst/>
          </a:prstGeom>
          <a:noFill/>
        </p:spPr>
        <p:txBody>
          <a:bodyPr wrap="square">
            <a:spAutoFit/>
          </a:bodyPr>
          <a:lstStyle/>
          <a:p>
            <a:pPr algn="l">
              <a:spcBef>
                <a:spcPts val="0"/>
              </a:spcBef>
              <a:spcAft>
                <a:spcPts val="600"/>
              </a:spcAft>
            </a:pPr>
            <a:r>
              <a:rPr sz="1250" b="1" i="0">
                <a:solidFill>
                  <a:srgbClr val="9C772B"/>
                </a:solidFill>
                <a:latin typeface="Cambria"/>
              </a:rPr>
              <a:t>NGHI VẤN CỤ THỂ</a:t>
            </a:r>
          </a:p>
        </p:txBody>
      </p:sp>
      <p:sp>
        <p:nvSpPr>
          <p:cNvPr id="14" name="TextBox 13"/>
          <p:cNvSpPr txBox="1"/>
          <p:nvPr/>
        </p:nvSpPr>
        <p:spPr>
          <a:xfrm>
            <a:off x="4444898" y="4434838"/>
            <a:ext cx="3301898" cy="1371600"/>
          </a:xfrm>
          <a:prstGeom prst="rect">
            <a:avLst/>
          </a:prstGeom>
          <a:noFill/>
        </p:spPr>
        <p:txBody>
          <a:bodyPr wrap="square">
            <a:spAutoFit/>
          </a:bodyPr>
          <a:lstStyle/>
          <a:p>
            <a:pPr algn="l">
              <a:lnSpc>
                <a:spcPct val="115000"/>
              </a:lnSpc>
              <a:spcBef>
                <a:spcPts val="0"/>
              </a:spcBef>
              <a:spcAft>
                <a:spcPts val="0"/>
              </a:spcAft>
            </a:pPr>
            <a:r>
              <a:rPr sz="1250" b="0" i="0">
                <a:solidFill>
                  <a:srgbClr val="2A251D"/>
                </a:solidFill>
                <a:latin typeface="Cambria"/>
              </a:rPr>
              <a:t>Verifier luật (math-verify) không hoàn hảo: bỏ sót bài đúng chỉ vì viết khác văn phong sách — sai âm tính có quy luật, không ngẫu nhiên.</a:t>
            </a:r>
          </a:p>
        </p:txBody>
      </p:sp>
      <p:cxnSp>
        <p:nvCxnSpPr>
          <p:cNvPr id="15" name="Connector 14"/>
          <p:cNvCxnSpPr/>
          <p:nvPr/>
        </p:nvCxnSpPr>
        <p:spPr>
          <a:xfrm>
            <a:off x="7929676.666666667" y="4023358"/>
            <a:ext cx="0.0" cy="173736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112556" y="4023358"/>
            <a:ext cx="3301898" cy="365760"/>
          </a:xfrm>
          <a:prstGeom prst="rect">
            <a:avLst/>
          </a:prstGeom>
          <a:noFill/>
        </p:spPr>
        <p:txBody>
          <a:bodyPr wrap="square">
            <a:spAutoFit/>
          </a:bodyPr>
          <a:lstStyle/>
          <a:p>
            <a:pPr algn="l">
              <a:spcBef>
                <a:spcPts val="0"/>
              </a:spcBef>
              <a:spcAft>
                <a:spcPts val="600"/>
              </a:spcAft>
            </a:pPr>
            <a:r>
              <a:rPr sz="1250" b="1" i="0">
                <a:solidFill>
                  <a:srgbClr val="9C772B"/>
                </a:solidFill>
                <a:latin typeface="Cambria"/>
              </a:rPr>
              <a:t>ĐIỀU CẦN ĐO</a:t>
            </a:r>
          </a:p>
        </p:txBody>
      </p:sp>
      <p:sp>
        <p:nvSpPr>
          <p:cNvPr id="17" name="TextBox 16"/>
          <p:cNvSpPr txBox="1"/>
          <p:nvPr/>
        </p:nvSpPr>
        <p:spPr>
          <a:xfrm>
            <a:off x="8112556" y="4434838"/>
            <a:ext cx="3301898" cy="1371600"/>
          </a:xfrm>
          <a:prstGeom prst="rect">
            <a:avLst/>
          </a:prstGeom>
          <a:noFill/>
        </p:spPr>
        <p:txBody>
          <a:bodyPr wrap="square">
            <a:spAutoFit/>
          </a:bodyPr>
          <a:lstStyle/>
          <a:p>
            <a:pPr algn="l">
              <a:lnSpc>
                <a:spcPct val="115000"/>
              </a:lnSpc>
              <a:spcBef>
                <a:spcPts val="0"/>
              </a:spcBef>
              <a:spcAft>
                <a:spcPts val="0"/>
              </a:spcAft>
            </a:pPr>
            <a:r>
              <a:rPr sz="1250" b="0" i="0">
                <a:solidFill>
                  <a:srgbClr val="2A251D"/>
                </a:solidFill>
                <a:latin typeface="Cambria"/>
              </a:rPr>
              <a:t>Sai lệch đó tích luỹ qua nhiều vòng có khiến model chỉ hội tụ về một kiểu viết — chứ không giỏi toán hơn — hay không? Đo bằng pass@1, pass@k, văn phong.</a:t>
            </a:r>
          </a:p>
        </p:txBody>
      </p:sp>
      <p:sp>
        <p:nvSpPr>
          <p:cNvPr id="18" name="TextBox 17"/>
          <p:cNvSpPr txBox="1"/>
          <p:nvPr/>
        </p:nvSpPr>
        <p:spPr>
          <a:xfrm>
            <a:off x="777240" y="6355080"/>
            <a:ext cx="10637215" cy="365760"/>
          </a:xfrm>
          <a:prstGeom prst="rect">
            <a:avLst/>
          </a:prstGeom>
          <a:noFill/>
        </p:spPr>
        <p:txBody>
          <a:bodyPr wrap="square">
            <a:spAutoFit/>
          </a:bodyPr>
          <a:lstStyle/>
          <a:p>
            <a:pPr algn="l">
              <a:spcBef>
                <a:spcPts val="0"/>
              </a:spcBef>
              <a:spcAft>
                <a:spcPts val="600"/>
              </a:spcAft>
            </a:pPr>
            <a:r>
              <a:rPr sz="950" b="0" i="1">
                <a:solidFill>
                  <a:srgbClr val="5C5447"/>
                </a:solidFill>
                <a:latin typeface="Cambria"/>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777240" y="320040"/>
            <a:ext cx="7315200" cy="274320"/>
          </a:xfrm>
          <a:prstGeom prst="rect">
            <a:avLst/>
          </a:prstGeom>
          <a:noFill/>
        </p:spPr>
        <p:txBody>
          <a:bodyPr wrap="square">
            <a:spAutoFit/>
          </a:bodyPr>
          <a:lstStyle/>
          <a:p>
            <a:pPr algn="l">
              <a:spcBef>
                <a:spcPts val="0"/>
              </a:spcBef>
              <a:spcAft>
                <a:spcPts val="600"/>
              </a:spcAft>
            </a:pPr>
            <a:r>
              <a:rPr sz="950" b="0" i="0">
                <a:solidFill>
                  <a:srgbClr val="5C5447"/>
                </a:solidFill>
                <a:latin typeface="Cambria"/>
              </a:rPr>
              <a:t>VERIFIER LỆCH VĂN PHONG TRONG SELF-TRAINING</a:t>
            </a:r>
          </a:p>
        </p:txBody>
      </p:sp>
      <p:sp>
        <p:nvSpPr>
          <p:cNvPr id="3" name="TextBox 2"/>
          <p:cNvSpPr txBox="1"/>
          <p:nvPr/>
        </p:nvSpPr>
        <p:spPr>
          <a:xfrm>
            <a:off x="10042855" y="320040"/>
            <a:ext cx="1371600" cy="274320"/>
          </a:xfrm>
          <a:prstGeom prst="rect">
            <a:avLst/>
          </a:prstGeom>
          <a:noFill/>
        </p:spPr>
        <p:txBody>
          <a:bodyPr wrap="square">
            <a:spAutoFit/>
          </a:bodyPr>
          <a:lstStyle/>
          <a:p>
            <a:pPr algn="r">
              <a:spcBef>
                <a:spcPts val="0"/>
              </a:spcBef>
              <a:spcAft>
                <a:spcPts val="600"/>
              </a:spcAft>
            </a:pPr>
            <a:r>
              <a:rPr sz="950" b="0" i="0">
                <a:solidFill>
                  <a:srgbClr val="5C5447"/>
                </a:solidFill>
                <a:latin typeface="Cambria"/>
              </a:rPr>
              <a:t>03</a:t>
            </a:r>
          </a:p>
        </p:txBody>
      </p:sp>
      <p:cxnSp>
        <p:nvCxnSpPr>
          <p:cNvPr id="4" name="Connector 3"/>
          <p:cNvCxnSpPr/>
          <p:nvPr/>
        </p:nvCxnSpPr>
        <p:spPr>
          <a:xfrm>
            <a:off x="777240" y="62179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777240"/>
            <a:ext cx="10637215" cy="320040"/>
          </a:xfrm>
          <a:prstGeom prst="rect">
            <a:avLst/>
          </a:prstGeom>
          <a:noFill/>
        </p:spPr>
        <p:txBody>
          <a:bodyPr wrap="square">
            <a:spAutoFit/>
          </a:bodyPr>
          <a:lstStyle/>
          <a:p>
            <a:pPr algn="l">
              <a:spcBef>
                <a:spcPts val="0"/>
              </a:spcBef>
              <a:spcAft>
                <a:spcPts val="0"/>
              </a:spcAft>
            </a:pPr>
            <a:r>
              <a:rPr sz="1300" b="1" i="0">
                <a:solidFill>
                  <a:srgbClr val="7A1F2B"/>
                </a:solidFill>
                <a:latin typeface="Cambria"/>
              </a:rPr>
              <a:t>CƠ CHẾ NỀN</a:t>
            </a:r>
          </a:p>
        </p:txBody>
      </p:sp>
      <p:sp>
        <p:nvSpPr>
          <p:cNvPr id="6" name="TextBox 5"/>
          <p:cNvSpPr txBox="1"/>
          <p:nvPr/>
        </p:nvSpPr>
        <p:spPr>
          <a:xfrm>
            <a:off x="777240" y="1078992"/>
            <a:ext cx="10637215" cy="868680"/>
          </a:xfrm>
          <a:prstGeom prst="rect">
            <a:avLst/>
          </a:prstGeom>
          <a:noFill/>
        </p:spPr>
        <p:txBody>
          <a:bodyPr wrap="square">
            <a:spAutoFit/>
          </a:bodyPr>
          <a:lstStyle/>
          <a:p>
            <a:pPr algn="l">
              <a:spcBef>
                <a:spcPts val="0"/>
              </a:spcBef>
              <a:spcAft>
                <a:spcPts val="0"/>
              </a:spcAft>
            </a:pPr>
            <a:r>
              <a:rPr sz="2700" b="1" i="0">
                <a:solidFill>
                  <a:srgbClr val="2A251D"/>
                </a:solidFill>
                <a:latin typeface="Cambria"/>
              </a:rPr>
              <a:t>Một vòng (round) trong pipeline Generate–Verify–Train</a:t>
            </a:r>
          </a:p>
        </p:txBody>
      </p:sp>
      <p:sp>
        <p:nvSpPr>
          <p:cNvPr id="7" name="TextBox 6"/>
          <p:cNvSpPr txBox="1"/>
          <p:nvPr/>
        </p:nvSpPr>
        <p:spPr>
          <a:xfrm>
            <a:off x="777240" y="1874519"/>
            <a:ext cx="2384983" cy="365760"/>
          </a:xfrm>
          <a:prstGeom prst="rect">
            <a:avLst/>
          </a:prstGeom>
          <a:noFill/>
        </p:spPr>
        <p:txBody>
          <a:bodyPr wrap="square">
            <a:spAutoFit/>
          </a:bodyPr>
          <a:lstStyle/>
          <a:p>
            <a:pPr algn="l">
              <a:spcBef>
                <a:spcPts val="0"/>
              </a:spcBef>
              <a:spcAft>
                <a:spcPts val="600"/>
              </a:spcAft>
            </a:pPr>
            <a:r>
              <a:rPr sz="2000" b="1" i="0">
                <a:solidFill>
                  <a:srgbClr val="C9BFAB"/>
                </a:solidFill>
                <a:latin typeface="Cambria"/>
              </a:rPr>
              <a:t>01</a:t>
            </a:r>
          </a:p>
        </p:txBody>
      </p:sp>
      <p:cxnSp>
        <p:nvCxnSpPr>
          <p:cNvPr id="8" name="Connector 7"/>
          <p:cNvCxnSpPr/>
          <p:nvPr/>
        </p:nvCxnSpPr>
        <p:spPr>
          <a:xfrm>
            <a:off x="777240.0" y="2377439"/>
            <a:ext cx="457200.0" cy="0"/>
          </a:xfrm>
          <a:prstGeom prst="line">
            <a:avLst/>
          </a:prstGeom>
          <a:ln w="25400">
            <a:solidFill>
              <a:srgbClr val="7A1F2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77240" y="2514599"/>
            <a:ext cx="2384983" cy="365760"/>
          </a:xfrm>
          <a:prstGeom prst="rect">
            <a:avLst/>
          </a:prstGeom>
          <a:noFill/>
        </p:spPr>
        <p:txBody>
          <a:bodyPr wrap="square">
            <a:spAutoFit/>
          </a:bodyPr>
          <a:lstStyle/>
          <a:p>
            <a:pPr algn="l">
              <a:spcBef>
                <a:spcPts val="0"/>
              </a:spcBef>
              <a:spcAft>
                <a:spcPts val="600"/>
              </a:spcAft>
            </a:pPr>
            <a:r>
              <a:rPr sz="1600" b="1" i="0">
                <a:solidFill>
                  <a:srgbClr val="2A251D"/>
                </a:solidFill>
                <a:latin typeface="Cambria"/>
              </a:rPr>
              <a:t>GENERATE</a:t>
            </a:r>
          </a:p>
        </p:txBody>
      </p:sp>
      <p:sp>
        <p:nvSpPr>
          <p:cNvPr id="10" name="TextBox 9"/>
          <p:cNvSpPr txBox="1"/>
          <p:nvPr/>
        </p:nvSpPr>
        <p:spPr>
          <a:xfrm>
            <a:off x="777240" y="2926079"/>
            <a:ext cx="2384983" cy="1737360"/>
          </a:xfrm>
          <a:prstGeom prst="rect">
            <a:avLst/>
          </a:prstGeom>
          <a:noFill/>
        </p:spPr>
        <p:txBody>
          <a:bodyPr wrap="square">
            <a:spAutoFit/>
          </a:bodyPr>
          <a:lstStyle/>
          <a:p>
            <a:pPr algn="l">
              <a:lnSpc>
                <a:spcPct val="115000"/>
              </a:lnSpc>
              <a:spcBef>
                <a:spcPts val="0"/>
              </a:spcBef>
              <a:spcAft>
                <a:spcPts val="0"/>
              </a:spcAft>
            </a:pPr>
            <a:r>
              <a:rPr sz="1200" b="0" i="0">
                <a:solidFill>
                  <a:srgbClr val="5C5447"/>
                </a:solidFill>
                <a:latin typeface="Cambria"/>
              </a:rPr>
              <a:t>Model sinh k lời giải khác nhau cho mỗi bài toán (sampling ngẫu nhiên có trọng số)</a:t>
            </a:r>
          </a:p>
        </p:txBody>
      </p:sp>
      <p:sp>
        <p:nvSpPr>
          <p:cNvPr id="11" name="TextBox 10"/>
          <p:cNvSpPr txBox="1"/>
          <p:nvPr/>
        </p:nvSpPr>
        <p:spPr>
          <a:xfrm>
            <a:off x="3143935" y="2103119"/>
            <a:ext cx="384048" cy="365760"/>
          </a:xfrm>
          <a:prstGeom prst="rect">
            <a:avLst/>
          </a:prstGeom>
          <a:noFill/>
        </p:spPr>
        <p:txBody>
          <a:bodyPr wrap="square">
            <a:spAutoFit/>
          </a:bodyPr>
          <a:lstStyle/>
          <a:p>
            <a:pPr algn="ctr">
              <a:spcBef>
                <a:spcPts val="0"/>
              </a:spcBef>
              <a:spcAft>
                <a:spcPts val="600"/>
              </a:spcAft>
            </a:pPr>
            <a:r>
              <a:rPr sz="2000" b="1" i="0">
                <a:solidFill>
                  <a:srgbClr val="9C772B"/>
                </a:solidFill>
                <a:latin typeface="Cambria"/>
              </a:rPr>
              <a:t>→</a:t>
            </a:r>
          </a:p>
        </p:txBody>
      </p:sp>
      <p:sp>
        <p:nvSpPr>
          <p:cNvPr id="12" name="TextBox 11"/>
          <p:cNvSpPr txBox="1"/>
          <p:nvPr/>
        </p:nvSpPr>
        <p:spPr>
          <a:xfrm>
            <a:off x="3527983" y="1874519"/>
            <a:ext cx="2384983" cy="365760"/>
          </a:xfrm>
          <a:prstGeom prst="rect">
            <a:avLst/>
          </a:prstGeom>
          <a:noFill/>
        </p:spPr>
        <p:txBody>
          <a:bodyPr wrap="square">
            <a:spAutoFit/>
          </a:bodyPr>
          <a:lstStyle/>
          <a:p>
            <a:pPr algn="l">
              <a:spcBef>
                <a:spcPts val="0"/>
              </a:spcBef>
              <a:spcAft>
                <a:spcPts val="600"/>
              </a:spcAft>
            </a:pPr>
            <a:r>
              <a:rPr sz="2000" b="1" i="0">
                <a:solidFill>
                  <a:srgbClr val="C9BFAB"/>
                </a:solidFill>
                <a:latin typeface="Cambria"/>
              </a:rPr>
              <a:t>02</a:t>
            </a:r>
          </a:p>
        </p:txBody>
      </p:sp>
      <p:cxnSp>
        <p:nvCxnSpPr>
          <p:cNvPr id="13" name="Connector 12"/>
          <p:cNvCxnSpPr/>
          <p:nvPr/>
        </p:nvCxnSpPr>
        <p:spPr>
          <a:xfrm>
            <a:off x="3527983.75" y="2377439"/>
            <a:ext cx="457200.0" cy="0"/>
          </a:xfrm>
          <a:prstGeom prst="line">
            <a:avLst/>
          </a:prstGeom>
          <a:ln w="25400">
            <a:solidFill>
              <a:srgbClr val="7A1F2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527983" y="2514599"/>
            <a:ext cx="2384983" cy="365760"/>
          </a:xfrm>
          <a:prstGeom prst="rect">
            <a:avLst/>
          </a:prstGeom>
          <a:noFill/>
        </p:spPr>
        <p:txBody>
          <a:bodyPr wrap="square">
            <a:spAutoFit/>
          </a:bodyPr>
          <a:lstStyle/>
          <a:p>
            <a:pPr algn="l">
              <a:spcBef>
                <a:spcPts val="0"/>
              </a:spcBef>
              <a:spcAft>
                <a:spcPts val="600"/>
              </a:spcAft>
            </a:pPr>
            <a:r>
              <a:rPr sz="1600" b="1" i="0">
                <a:solidFill>
                  <a:srgbClr val="2A251D"/>
                </a:solidFill>
                <a:latin typeface="Cambria"/>
              </a:rPr>
              <a:t>VERIFY</a:t>
            </a:r>
          </a:p>
        </p:txBody>
      </p:sp>
      <p:sp>
        <p:nvSpPr>
          <p:cNvPr id="15" name="TextBox 14"/>
          <p:cNvSpPr txBox="1"/>
          <p:nvPr/>
        </p:nvSpPr>
        <p:spPr>
          <a:xfrm>
            <a:off x="3527983" y="2926079"/>
            <a:ext cx="2384983" cy="1737360"/>
          </a:xfrm>
          <a:prstGeom prst="rect">
            <a:avLst/>
          </a:prstGeom>
          <a:noFill/>
        </p:spPr>
        <p:txBody>
          <a:bodyPr wrap="square">
            <a:spAutoFit/>
          </a:bodyPr>
          <a:lstStyle/>
          <a:p>
            <a:pPr algn="l">
              <a:lnSpc>
                <a:spcPct val="115000"/>
              </a:lnSpc>
              <a:spcBef>
                <a:spcPts val="0"/>
              </a:spcBef>
              <a:spcAft>
                <a:spcPts val="0"/>
              </a:spcAft>
            </a:pPr>
            <a:r>
              <a:rPr sz="1200" b="0" i="0">
                <a:solidFill>
                  <a:srgbClr val="5C5447"/>
                </a:solidFill>
                <a:latin typeface="Cambria"/>
              </a:rPr>
              <a:t>math-verify: Parse → Normalize → Compare với đáp án gold</a:t>
            </a:r>
          </a:p>
        </p:txBody>
      </p:sp>
      <p:sp>
        <p:nvSpPr>
          <p:cNvPr id="16" name="TextBox 15"/>
          <p:cNvSpPr txBox="1"/>
          <p:nvPr/>
        </p:nvSpPr>
        <p:spPr>
          <a:xfrm>
            <a:off x="5894679" y="2103119"/>
            <a:ext cx="384048" cy="365760"/>
          </a:xfrm>
          <a:prstGeom prst="rect">
            <a:avLst/>
          </a:prstGeom>
          <a:noFill/>
        </p:spPr>
        <p:txBody>
          <a:bodyPr wrap="square">
            <a:spAutoFit/>
          </a:bodyPr>
          <a:lstStyle/>
          <a:p>
            <a:pPr algn="ctr">
              <a:spcBef>
                <a:spcPts val="0"/>
              </a:spcBef>
              <a:spcAft>
                <a:spcPts val="600"/>
              </a:spcAft>
            </a:pPr>
            <a:r>
              <a:rPr sz="2000" b="1" i="0">
                <a:solidFill>
                  <a:srgbClr val="9C772B"/>
                </a:solidFill>
                <a:latin typeface="Cambria"/>
              </a:rPr>
              <a:t>→</a:t>
            </a:r>
          </a:p>
        </p:txBody>
      </p:sp>
      <p:sp>
        <p:nvSpPr>
          <p:cNvPr id="17" name="TextBox 16"/>
          <p:cNvSpPr txBox="1"/>
          <p:nvPr/>
        </p:nvSpPr>
        <p:spPr>
          <a:xfrm>
            <a:off x="6278727" y="1874519"/>
            <a:ext cx="2384983" cy="365760"/>
          </a:xfrm>
          <a:prstGeom prst="rect">
            <a:avLst/>
          </a:prstGeom>
          <a:noFill/>
        </p:spPr>
        <p:txBody>
          <a:bodyPr wrap="square">
            <a:spAutoFit/>
          </a:bodyPr>
          <a:lstStyle/>
          <a:p>
            <a:pPr algn="l">
              <a:spcBef>
                <a:spcPts val="0"/>
              </a:spcBef>
              <a:spcAft>
                <a:spcPts val="600"/>
              </a:spcAft>
            </a:pPr>
            <a:r>
              <a:rPr sz="2000" b="1" i="0">
                <a:solidFill>
                  <a:srgbClr val="C9BFAB"/>
                </a:solidFill>
                <a:latin typeface="Cambria"/>
              </a:rPr>
              <a:t>03</a:t>
            </a:r>
          </a:p>
        </p:txBody>
      </p:sp>
      <p:cxnSp>
        <p:nvCxnSpPr>
          <p:cNvPr id="18" name="Connector 17"/>
          <p:cNvCxnSpPr/>
          <p:nvPr/>
        </p:nvCxnSpPr>
        <p:spPr>
          <a:xfrm>
            <a:off x="6278727.5" y="2377439"/>
            <a:ext cx="457200.0" cy="0"/>
          </a:xfrm>
          <a:prstGeom prst="line">
            <a:avLst/>
          </a:prstGeom>
          <a:ln w="25400">
            <a:solidFill>
              <a:srgbClr val="7A1F2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278727" y="2514599"/>
            <a:ext cx="2384983" cy="365760"/>
          </a:xfrm>
          <a:prstGeom prst="rect">
            <a:avLst/>
          </a:prstGeom>
          <a:noFill/>
        </p:spPr>
        <p:txBody>
          <a:bodyPr wrap="square">
            <a:spAutoFit/>
          </a:bodyPr>
          <a:lstStyle/>
          <a:p>
            <a:pPr algn="l">
              <a:spcBef>
                <a:spcPts val="0"/>
              </a:spcBef>
              <a:spcAft>
                <a:spcPts val="600"/>
              </a:spcAft>
            </a:pPr>
            <a:r>
              <a:rPr sz="1600" b="1" i="0">
                <a:solidFill>
                  <a:srgbClr val="2A251D"/>
                </a:solidFill>
                <a:latin typeface="Cambria"/>
              </a:rPr>
              <a:t>SELECT</a:t>
            </a:r>
          </a:p>
        </p:txBody>
      </p:sp>
      <p:sp>
        <p:nvSpPr>
          <p:cNvPr id="20" name="TextBox 19"/>
          <p:cNvSpPr txBox="1"/>
          <p:nvPr/>
        </p:nvSpPr>
        <p:spPr>
          <a:xfrm>
            <a:off x="6278727" y="2926079"/>
            <a:ext cx="2384983" cy="1737360"/>
          </a:xfrm>
          <a:prstGeom prst="rect">
            <a:avLst/>
          </a:prstGeom>
          <a:noFill/>
        </p:spPr>
        <p:txBody>
          <a:bodyPr wrap="square">
            <a:spAutoFit/>
          </a:bodyPr>
          <a:lstStyle/>
          <a:p>
            <a:pPr algn="l">
              <a:lnSpc>
                <a:spcPct val="115000"/>
              </a:lnSpc>
              <a:spcBef>
                <a:spcPts val="0"/>
              </a:spcBef>
              <a:spcAft>
                <a:spcPts val="0"/>
              </a:spcAft>
            </a:pPr>
            <a:r>
              <a:rPr sz="1200" b="0" i="0">
                <a:solidFill>
                  <a:srgbClr val="5C5447"/>
                </a:solidFill>
                <a:latin typeface="Cambria"/>
              </a:rPr>
              <a:t>Giữ lại các cặp (đề, lời giải) mà verifier chấm đúng</a:t>
            </a:r>
          </a:p>
        </p:txBody>
      </p:sp>
      <p:sp>
        <p:nvSpPr>
          <p:cNvPr id="21" name="TextBox 20"/>
          <p:cNvSpPr txBox="1"/>
          <p:nvPr/>
        </p:nvSpPr>
        <p:spPr>
          <a:xfrm>
            <a:off x="8645423" y="2103119"/>
            <a:ext cx="384048" cy="365760"/>
          </a:xfrm>
          <a:prstGeom prst="rect">
            <a:avLst/>
          </a:prstGeom>
          <a:noFill/>
        </p:spPr>
        <p:txBody>
          <a:bodyPr wrap="square">
            <a:spAutoFit/>
          </a:bodyPr>
          <a:lstStyle/>
          <a:p>
            <a:pPr algn="ctr">
              <a:spcBef>
                <a:spcPts val="0"/>
              </a:spcBef>
              <a:spcAft>
                <a:spcPts val="600"/>
              </a:spcAft>
            </a:pPr>
            <a:r>
              <a:rPr sz="2000" b="1" i="0">
                <a:solidFill>
                  <a:srgbClr val="9C772B"/>
                </a:solidFill>
                <a:latin typeface="Cambria"/>
              </a:rPr>
              <a:t>→</a:t>
            </a:r>
          </a:p>
        </p:txBody>
      </p:sp>
      <p:sp>
        <p:nvSpPr>
          <p:cNvPr id="22" name="TextBox 21"/>
          <p:cNvSpPr txBox="1"/>
          <p:nvPr/>
        </p:nvSpPr>
        <p:spPr>
          <a:xfrm>
            <a:off x="9029471" y="1874519"/>
            <a:ext cx="2384983" cy="365760"/>
          </a:xfrm>
          <a:prstGeom prst="rect">
            <a:avLst/>
          </a:prstGeom>
          <a:noFill/>
        </p:spPr>
        <p:txBody>
          <a:bodyPr wrap="square">
            <a:spAutoFit/>
          </a:bodyPr>
          <a:lstStyle/>
          <a:p>
            <a:pPr algn="l">
              <a:spcBef>
                <a:spcPts val="0"/>
              </a:spcBef>
              <a:spcAft>
                <a:spcPts val="600"/>
              </a:spcAft>
            </a:pPr>
            <a:r>
              <a:rPr sz="2000" b="1" i="0">
                <a:solidFill>
                  <a:srgbClr val="C9BFAB"/>
                </a:solidFill>
                <a:latin typeface="Cambria"/>
              </a:rPr>
              <a:t>04</a:t>
            </a:r>
          </a:p>
        </p:txBody>
      </p:sp>
      <p:cxnSp>
        <p:nvCxnSpPr>
          <p:cNvPr id="23" name="Connector 22"/>
          <p:cNvCxnSpPr/>
          <p:nvPr/>
        </p:nvCxnSpPr>
        <p:spPr>
          <a:xfrm>
            <a:off x="9029471.25" y="2377439"/>
            <a:ext cx="457200.0" cy="0"/>
          </a:xfrm>
          <a:prstGeom prst="line">
            <a:avLst/>
          </a:prstGeom>
          <a:ln w="25400">
            <a:solidFill>
              <a:srgbClr val="7A1F2B"/>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029471" y="2514599"/>
            <a:ext cx="2384983" cy="365760"/>
          </a:xfrm>
          <a:prstGeom prst="rect">
            <a:avLst/>
          </a:prstGeom>
          <a:noFill/>
        </p:spPr>
        <p:txBody>
          <a:bodyPr wrap="square">
            <a:spAutoFit/>
          </a:bodyPr>
          <a:lstStyle/>
          <a:p>
            <a:pPr algn="l">
              <a:spcBef>
                <a:spcPts val="0"/>
              </a:spcBef>
              <a:spcAft>
                <a:spcPts val="600"/>
              </a:spcAft>
            </a:pPr>
            <a:r>
              <a:rPr sz="1600" b="1" i="0">
                <a:solidFill>
                  <a:srgbClr val="2A251D"/>
                </a:solidFill>
                <a:latin typeface="Cambria"/>
              </a:rPr>
              <a:t>TRAIN</a:t>
            </a:r>
          </a:p>
        </p:txBody>
      </p:sp>
      <p:sp>
        <p:nvSpPr>
          <p:cNvPr id="25" name="TextBox 24"/>
          <p:cNvSpPr txBox="1"/>
          <p:nvPr/>
        </p:nvSpPr>
        <p:spPr>
          <a:xfrm>
            <a:off x="9029471" y="2926079"/>
            <a:ext cx="2384983" cy="1737360"/>
          </a:xfrm>
          <a:prstGeom prst="rect">
            <a:avLst/>
          </a:prstGeom>
          <a:noFill/>
        </p:spPr>
        <p:txBody>
          <a:bodyPr wrap="square">
            <a:spAutoFit/>
          </a:bodyPr>
          <a:lstStyle/>
          <a:p>
            <a:pPr algn="l">
              <a:lnSpc>
                <a:spcPct val="115000"/>
              </a:lnSpc>
              <a:spcBef>
                <a:spcPts val="0"/>
              </a:spcBef>
              <a:spcAft>
                <a:spcPts val="0"/>
              </a:spcAft>
            </a:pPr>
            <a:r>
              <a:rPr sz="1200" b="0" i="0">
                <a:solidFill>
                  <a:srgbClr val="5C5447"/>
                </a:solidFill>
                <a:latin typeface="Cambria"/>
              </a:rPr>
              <a:t>Fine-tune (LoRA) mới từ base model trên đúng các cặp vừa giữ</a:t>
            </a:r>
          </a:p>
        </p:txBody>
      </p:sp>
      <p:cxnSp>
        <p:nvCxnSpPr>
          <p:cNvPr id="26" name="Connector 25"/>
          <p:cNvCxnSpPr/>
          <p:nvPr/>
        </p:nvCxnSpPr>
        <p:spPr>
          <a:xfrm>
            <a:off x="777240" y="4800599"/>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029199"/>
            <a:ext cx="10637215" cy="548640"/>
          </a:xfrm>
          <a:prstGeom prst="rect">
            <a:avLst/>
          </a:prstGeom>
          <a:noFill/>
        </p:spPr>
        <p:txBody>
          <a:bodyPr wrap="square">
            <a:spAutoFit/>
          </a:bodyPr>
          <a:lstStyle/>
          <a:p>
            <a:pPr algn="l">
              <a:spcBef>
                <a:spcPts val="0"/>
              </a:spcBef>
              <a:spcAft>
                <a:spcPts val="600"/>
              </a:spcAft>
            </a:pPr>
            <a:r>
              <a:rPr sz="1300" b="0" i="1">
                <a:solidFill>
                  <a:srgbClr val="5C5447"/>
                </a:solidFill>
                <a:latin typeface="Cambria"/>
              </a:rPr>
              <a:t>Vòng N+1 dùng adapter LoRA train ở vòng N để generate lại — lặp lại toàn bộ 4 bước, mỗi vòng luôn fine-tune lại từ base model (không cộng dồn adapter qua các vòng).</a:t>
            </a:r>
          </a:p>
        </p:txBody>
      </p:sp>
      <p:sp>
        <p:nvSpPr>
          <p:cNvPr id="28" name="TextBox 27"/>
          <p:cNvSpPr txBox="1"/>
          <p:nvPr/>
        </p:nvSpPr>
        <p:spPr>
          <a:xfrm>
            <a:off x="777240" y="6355080"/>
            <a:ext cx="10637215" cy="365760"/>
          </a:xfrm>
          <a:prstGeom prst="rect">
            <a:avLst/>
          </a:prstGeom>
          <a:noFill/>
        </p:spPr>
        <p:txBody>
          <a:bodyPr wrap="square">
            <a:spAutoFit/>
          </a:bodyPr>
          <a:lstStyle/>
          <a:p>
            <a:pPr algn="l">
              <a:spcBef>
                <a:spcPts val="0"/>
              </a:spcBef>
              <a:spcAft>
                <a:spcPts val="600"/>
              </a:spcAft>
            </a:pPr>
            <a:r>
              <a:rPr sz="950" b="0" i="1">
                <a:solidFill>
                  <a:srgbClr val="5C5447"/>
                </a:solidFill>
                <a:latin typeface="Cambria"/>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777240" y="320040"/>
            <a:ext cx="7315200" cy="274320"/>
          </a:xfrm>
          <a:prstGeom prst="rect">
            <a:avLst/>
          </a:prstGeom>
          <a:noFill/>
        </p:spPr>
        <p:txBody>
          <a:bodyPr wrap="square">
            <a:spAutoFit/>
          </a:bodyPr>
          <a:lstStyle/>
          <a:p>
            <a:pPr algn="l">
              <a:spcBef>
                <a:spcPts val="0"/>
              </a:spcBef>
              <a:spcAft>
                <a:spcPts val="600"/>
              </a:spcAft>
            </a:pPr>
            <a:r>
              <a:rPr sz="950" b="0" i="0">
                <a:solidFill>
                  <a:srgbClr val="5C5447"/>
                </a:solidFill>
                <a:latin typeface="Cambria"/>
              </a:rPr>
              <a:t>VERIFIER LỆCH VĂN PHONG TRONG SELF-TRAINING</a:t>
            </a:r>
          </a:p>
        </p:txBody>
      </p:sp>
      <p:sp>
        <p:nvSpPr>
          <p:cNvPr id="3" name="TextBox 2"/>
          <p:cNvSpPr txBox="1"/>
          <p:nvPr/>
        </p:nvSpPr>
        <p:spPr>
          <a:xfrm>
            <a:off x="10042855" y="320040"/>
            <a:ext cx="1371600" cy="274320"/>
          </a:xfrm>
          <a:prstGeom prst="rect">
            <a:avLst/>
          </a:prstGeom>
          <a:noFill/>
        </p:spPr>
        <p:txBody>
          <a:bodyPr wrap="square">
            <a:spAutoFit/>
          </a:bodyPr>
          <a:lstStyle/>
          <a:p>
            <a:pPr algn="r">
              <a:spcBef>
                <a:spcPts val="0"/>
              </a:spcBef>
              <a:spcAft>
                <a:spcPts val="600"/>
              </a:spcAft>
            </a:pPr>
            <a:r>
              <a:rPr sz="950" b="0" i="0">
                <a:solidFill>
                  <a:srgbClr val="5C5447"/>
                </a:solidFill>
                <a:latin typeface="Cambria"/>
              </a:rPr>
              <a:t>04</a:t>
            </a:r>
          </a:p>
        </p:txBody>
      </p:sp>
      <p:cxnSp>
        <p:nvCxnSpPr>
          <p:cNvPr id="4" name="Connector 3"/>
          <p:cNvCxnSpPr/>
          <p:nvPr/>
        </p:nvCxnSpPr>
        <p:spPr>
          <a:xfrm>
            <a:off x="777240" y="62179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777240"/>
            <a:ext cx="10637215" cy="320040"/>
          </a:xfrm>
          <a:prstGeom prst="rect">
            <a:avLst/>
          </a:prstGeom>
          <a:noFill/>
        </p:spPr>
        <p:txBody>
          <a:bodyPr wrap="square">
            <a:spAutoFit/>
          </a:bodyPr>
          <a:lstStyle/>
          <a:p>
            <a:pPr algn="l">
              <a:spcBef>
                <a:spcPts val="0"/>
              </a:spcBef>
              <a:spcAft>
                <a:spcPts val="0"/>
              </a:spcAft>
            </a:pPr>
            <a:r>
              <a:rPr sz="1300" b="1" i="0">
                <a:solidFill>
                  <a:srgbClr val="7A1F2B"/>
                </a:solidFill>
                <a:latin typeface="Cambria"/>
              </a:rPr>
              <a:t>BẰNG CHỨNG CỤ THỂ</a:t>
            </a:r>
          </a:p>
        </p:txBody>
      </p:sp>
      <p:sp>
        <p:nvSpPr>
          <p:cNvPr id="6" name="TextBox 5"/>
          <p:cNvSpPr txBox="1"/>
          <p:nvPr/>
        </p:nvSpPr>
        <p:spPr>
          <a:xfrm>
            <a:off x="777240" y="1078992"/>
            <a:ext cx="10637215" cy="868680"/>
          </a:xfrm>
          <a:prstGeom prst="rect">
            <a:avLst/>
          </a:prstGeom>
          <a:noFill/>
        </p:spPr>
        <p:txBody>
          <a:bodyPr wrap="square">
            <a:spAutoFit/>
          </a:bodyPr>
          <a:lstStyle/>
          <a:p>
            <a:pPr algn="l">
              <a:spcBef>
                <a:spcPts val="0"/>
              </a:spcBef>
              <a:spcAft>
                <a:spcPts val="0"/>
              </a:spcAft>
            </a:pPr>
            <a:r>
              <a:rPr sz="2700" b="1" i="0">
                <a:solidFill>
                  <a:srgbClr val="2A251D"/>
                </a:solidFill>
                <a:latin typeface="Cambria"/>
              </a:rPr>
              <a:t>Verifier chấm sai — nhưng sai có quy luật, không ngẫu nhiên</a:t>
            </a:r>
          </a:p>
        </p:txBody>
      </p:sp>
      <p:sp>
        <p:nvSpPr>
          <p:cNvPr id="7" name="TextBox 6"/>
          <p:cNvSpPr txBox="1"/>
          <p:nvPr/>
        </p:nvSpPr>
        <p:spPr>
          <a:xfrm>
            <a:off x="777240" y="1874519"/>
            <a:ext cx="10637215" cy="365760"/>
          </a:xfrm>
          <a:prstGeom prst="rect">
            <a:avLst/>
          </a:prstGeom>
          <a:noFill/>
        </p:spPr>
        <p:txBody>
          <a:bodyPr wrap="square">
            <a:spAutoFit/>
          </a:bodyPr>
          <a:lstStyle/>
          <a:p>
            <a:pPr algn="l">
              <a:spcBef>
                <a:spcPts val="0"/>
              </a:spcBef>
              <a:spcAft>
                <a:spcPts val="600"/>
              </a:spcAft>
            </a:pPr>
            <a:r>
              <a:rPr sz="1350" b="0" i="1">
                <a:solidFill>
                  <a:srgbClr val="5C5447"/>
                </a:solidFill>
                <a:latin typeface="Cambria"/>
              </a:rPr>
              <a:t>Đề: “Lan có 3 túi kẹo, mỗi túi 4 viên, cho bạn 2 viên. Còn bao nhiêu viên?” — đáp án gold = 10</a:t>
            </a:r>
          </a:p>
        </p:txBody>
      </p:sp>
      <p:graphicFrame>
        <p:nvGraphicFramePr>
          <p:cNvPr id="8" name="Table 7"/>
          <p:cNvGraphicFramePr>
            <a:graphicFrameLocks noGrp="1"/>
          </p:cNvGraphicFramePr>
          <p:nvPr/>
        </p:nvGraphicFramePr>
        <p:xfrm>
          <a:off x="777240" y="2423159"/>
          <a:ext cx="10607040" cy="2377440"/>
        </p:xfrm>
        <a:graphic>
          <a:graphicData uri="http://schemas.openxmlformats.org/drawingml/2006/table">
            <a:tbl>
              <a:tblPr firstRow="1" bandRow="1">
                <a:tableStyleId>{5C22544A-7EE6-4342-B048-85BDC9FD1C3A}</a:tableStyleId>
              </a:tblPr>
              <a:tblGrid>
                <a:gridCol w="548640"/>
                <a:gridCol w="4754880"/>
                <a:gridCol w="2560320"/>
                <a:gridCol w="2743200"/>
              </a:tblGrid>
              <a:tr h="475488">
                <a:tc>
                  <a:txBody>
                    <a:bodyPr/>
                    <a:lstStyle/>
                    <a:p>
                      <a:r>
                        <a:rPr sz="1250" b="1" i="0">
                          <a:solidFill>
                            <a:srgbClr val="FFFFFF"/>
                          </a:solidFill>
                          <a:latin typeface="Cambria"/>
                        </a:rPr>
                        <a:t>#</a:t>
                      </a:r>
                    </a:p>
                  </a:txBody>
                  <a:tcPr marT="63500" marB="63500" marL="101600">
                    <a:solidFill>
                      <a:srgbClr val="2A251D"/>
                    </a:solidFill>
                  </a:tcPr>
                </a:tc>
                <a:tc>
                  <a:txBody>
                    <a:bodyPr/>
                    <a:lstStyle/>
                    <a:p>
                      <a:r>
                        <a:rPr sz="1250" b="1" i="0">
                          <a:solidFill>
                            <a:srgbClr val="FFFFFF"/>
                          </a:solidFill>
                          <a:latin typeface="Cambria"/>
                        </a:rPr>
                        <a:t>Model viết</a:t>
                      </a:r>
                    </a:p>
                  </a:txBody>
                  <a:tcPr marT="63500" marB="63500" marL="101600">
                    <a:solidFill>
                      <a:srgbClr val="2A251D"/>
                    </a:solidFill>
                  </a:tcPr>
                </a:tc>
                <a:tc>
                  <a:txBody>
                    <a:bodyPr/>
                    <a:lstStyle/>
                    <a:p>
                      <a:r>
                        <a:rPr sz="1250" b="1" i="0">
                          <a:solidFill>
                            <a:srgbClr val="FFFFFF"/>
                          </a:solidFill>
                          <a:latin typeface="Cambria"/>
                        </a:rPr>
                        <a:t>Đáp án parse</a:t>
                      </a:r>
                    </a:p>
                  </a:txBody>
                  <a:tcPr marT="63500" marB="63500" marL="101600">
                    <a:solidFill>
                      <a:srgbClr val="2A251D"/>
                    </a:solidFill>
                  </a:tcPr>
                </a:tc>
                <a:tc>
                  <a:txBody>
                    <a:bodyPr/>
                    <a:lstStyle/>
                    <a:p>
                      <a:r>
                        <a:rPr sz="1250" b="1" i="0">
                          <a:solidFill>
                            <a:srgbClr val="FFFFFF"/>
                          </a:solidFill>
                          <a:latin typeface="Cambria"/>
                        </a:rPr>
                        <a:t>Kết quả verifier</a:t>
                      </a:r>
                    </a:p>
                  </a:txBody>
                  <a:tcPr marT="63500" marB="63500" marL="101600">
                    <a:solidFill>
                      <a:srgbClr val="2A251D"/>
                    </a:solidFill>
                  </a:tcPr>
                </a:tc>
              </a:tr>
              <a:tr h="475488">
                <a:tc>
                  <a:txBody>
                    <a:bodyPr/>
                    <a:lstStyle/>
                    <a:p>
                      <a:r>
                        <a:rPr sz="1300" b="0" i="0">
                          <a:solidFill>
                            <a:srgbClr val="2A251D"/>
                          </a:solidFill>
                          <a:latin typeface="Cambria"/>
                        </a:rPr>
                        <a:t>1</a:t>
                      </a:r>
                    </a:p>
                  </a:txBody>
                  <a:tcPr marT="63500" marB="63500" marL="101600">
                    <a:solidFill>
                      <a:srgbClr val="FAF7F0"/>
                    </a:solidFill>
                  </a:tcPr>
                </a:tc>
                <a:tc>
                  <a:txBody>
                    <a:bodyPr/>
                    <a:lstStyle/>
                    <a:p>
                      <a:r>
                        <a:rPr sz="1300" b="0" i="0">
                          <a:solidFill>
                            <a:srgbClr val="2A251D"/>
                          </a:solidFill>
                          <a:latin typeface="Cambria"/>
                        </a:rPr>
                        <a:t>“3×4=12, 12−12=10. \boxed{10}”</a:t>
                      </a:r>
                    </a:p>
                  </a:txBody>
                  <a:tcPr marT="63500" marB="63500" marL="101600">
                    <a:solidFill>
                      <a:srgbClr val="FAF7F0"/>
                    </a:solidFill>
                  </a:tcPr>
                </a:tc>
                <a:tc>
                  <a:txBody>
                    <a:bodyPr/>
                    <a:lstStyle/>
                    <a:p>
                      <a:r>
                        <a:rPr sz="1300" b="0" i="0">
                          <a:solidFill>
                            <a:srgbClr val="2A251D"/>
                          </a:solidFill>
                          <a:latin typeface="Cambria"/>
                        </a:rPr>
                        <a:t>10</a:t>
                      </a:r>
                    </a:p>
                  </a:txBody>
                  <a:tcPr marT="63500" marB="63500" marL="101600">
                    <a:solidFill>
                      <a:srgbClr val="FAF7F0"/>
                    </a:solidFill>
                  </a:tcPr>
                </a:tc>
                <a:tc>
                  <a:txBody>
                    <a:bodyPr/>
                    <a:lstStyle/>
                    <a:p>
                      <a:r>
                        <a:rPr sz="1300" b="0" i="0">
                          <a:solidFill>
                            <a:srgbClr val="2A251D"/>
                          </a:solidFill>
                          <a:latin typeface="Cambria"/>
                        </a:rPr>
                        <a:t>Đúng</a:t>
                      </a:r>
                    </a:p>
                  </a:txBody>
                  <a:tcPr marT="63500" marB="63500" marL="101600">
                    <a:solidFill>
                      <a:srgbClr val="FAF7F0"/>
                    </a:solidFill>
                  </a:tcPr>
                </a:tc>
              </a:tr>
              <a:tr h="475488">
                <a:tc>
                  <a:txBody>
                    <a:bodyPr/>
                    <a:lstStyle/>
                    <a:p>
                      <a:r>
                        <a:rPr sz="1300" b="0" i="0">
                          <a:solidFill>
                            <a:srgbClr val="2A251D"/>
                          </a:solidFill>
                          <a:latin typeface="Cambria"/>
                        </a:rPr>
                        <a:t>2</a:t>
                      </a:r>
                    </a:p>
                  </a:txBody>
                  <a:tcPr marT="63500" marB="63500" marL="101600">
                    <a:solidFill>
                      <a:srgbClr val="F2EDE1"/>
                    </a:solidFill>
                  </a:tcPr>
                </a:tc>
                <a:tc>
                  <a:txBody>
                    <a:bodyPr/>
                    <a:lstStyle/>
                    <a:p>
                      <a:r>
                        <a:rPr sz="1300" b="0" i="0">
                          <a:solidFill>
                            <a:srgbClr val="2A251D"/>
                          </a:solidFill>
                          <a:latin typeface="Cambria"/>
                        </a:rPr>
                        <a:t>“...còn lại mười viên.”</a:t>
                      </a:r>
                    </a:p>
                  </a:txBody>
                  <a:tcPr marT="63500" marB="63500" marL="101600">
                    <a:solidFill>
                      <a:srgbClr val="F2EDE1"/>
                    </a:solidFill>
                  </a:tcPr>
                </a:tc>
                <a:tc>
                  <a:txBody>
                    <a:bodyPr/>
                    <a:lstStyle/>
                    <a:p>
                      <a:r>
                        <a:rPr sz="1300" b="0" i="0">
                          <a:solidFill>
                            <a:srgbClr val="2A251D"/>
                          </a:solidFill>
                          <a:latin typeface="Cambria"/>
                        </a:rPr>
                        <a:t>“mười” (chữ, không phải số)</a:t>
                      </a:r>
                    </a:p>
                  </a:txBody>
                  <a:tcPr marT="63500" marB="63500" marL="101600">
                    <a:solidFill>
                      <a:srgbClr val="F2EDE1"/>
                    </a:solidFill>
                  </a:tcPr>
                </a:tc>
                <a:tc>
                  <a:txBody>
                    <a:bodyPr/>
                    <a:lstStyle/>
                    <a:p>
                      <a:r>
                        <a:rPr sz="1300" b="1" i="0">
                          <a:solidFill>
                            <a:srgbClr val="7A1F2B"/>
                          </a:solidFill>
                          <a:latin typeface="Cambria"/>
                        </a:rPr>
                        <a:t>Sai — false negative</a:t>
                      </a:r>
                    </a:p>
                  </a:txBody>
                  <a:tcPr marT="63500" marB="63500" marL="101600">
                    <a:solidFill>
                      <a:srgbClr val="F2EDE1"/>
                    </a:solidFill>
                  </a:tcPr>
                </a:tc>
              </a:tr>
              <a:tr h="475488">
                <a:tc>
                  <a:txBody>
                    <a:bodyPr/>
                    <a:lstStyle/>
                    <a:p>
                      <a:r>
                        <a:rPr sz="1300" b="0" i="0">
                          <a:solidFill>
                            <a:srgbClr val="2A251D"/>
                          </a:solidFill>
                          <a:latin typeface="Cambria"/>
                        </a:rPr>
                        <a:t>3</a:t>
                      </a:r>
                    </a:p>
                  </a:txBody>
                  <a:tcPr marT="63500" marB="63500" marL="101600">
                    <a:solidFill>
                      <a:srgbClr val="FAF7F0"/>
                    </a:solidFill>
                  </a:tcPr>
                </a:tc>
                <a:tc>
                  <a:txBody>
                    <a:bodyPr/>
                    <a:lstStyle/>
                    <a:p>
                      <a:r>
                        <a:rPr sz="1300" b="0" i="0">
                          <a:solidFill>
                            <a:srgbClr val="2A251D"/>
                          </a:solidFill>
                          <a:latin typeface="Cambria"/>
                        </a:rPr>
                        <a:t>“3×4−12=10.0”</a:t>
                      </a:r>
                    </a:p>
                  </a:txBody>
                  <a:tcPr marT="63500" marB="63500" marL="101600">
                    <a:solidFill>
                      <a:srgbClr val="FAF7F0"/>
                    </a:solidFill>
                  </a:tcPr>
                </a:tc>
                <a:tc>
                  <a:txBody>
                    <a:bodyPr/>
                    <a:lstStyle/>
                    <a:p>
                      <a:r>
                        <a:rPr sz="1300" b="0" i="0">
                          <a:solidFill>
                            <a:srgbClr val="2A251D"/>
                          </a:solidFill>
                          <a:latin typeface="Cambria"/>
                        </a:rPr>
                        <a:t>10.0 → chuẩn hoá còn 10</a:t>
                      </a:r>
                    </a:p>
                  </a:txBody>
                  <a:tcPr marT="63500" marB="63500" marL="101600">
                    <a:solidFill>
                      <a:srgbClr val="FAF7F0"/>
                    </a:solidFill>
                  </a:tcPr>
                </a:tc>
                <a:tc>
                  <a:txBody>
                    <a:bodyPr/>
                    <a:lstStyle/>
                    <a:p>
                      <a:r>
                        <a:rPr sz="1300" b="0" i="0">
                          <a:solidFill>
                            <a:srgbClr val="2A251D"/>
                          </a:solidFill>
                          <a:latin typeface="Cambria"/>
                        </a:rPr>
                        <a:t>Đúng</a:t>
                      </a:r>
                    </a:p>
                  </a:txBody>
                  <a:tcPr marT="63500" marB="63500" marL="101600">
                    <a:solidFill>
                      <a:srgbClr val="FAF7F0"/>
                    </a:solidFill>
                  </a:tcPr>
                </a:tc>
              </a:tr>
              <a:tr h="475488">
                <a:tc>
                  <a:txBody>
                    <a:bodyPr/>
                    <a:lstStyle/>
                    <a:p>
                      <a:r>
                        <a:rPr sz="1300" b="0" i="0">
                          <a:solidFill>
                            <a:srgbClr val="2A251D"/>
                          </a:solidFill>
                          <a:latin typeface="Cambria"/>
                        </a:rPr>
                        <a:t>4</a:t>
                      </a:r>
                    </a:p>
                  </a:txBody>
                  <a:tcPr marT="63500" marB="63500" marL="101600">
                    <a:solidFill>
                      <a:srgbClr val="F2EDE1"/>
                    </a:solidFill>
                  </a:tcPr>
                </a:tc>
                <a:tc>
                  <a:txBody>
                    <a:bodyPr/>
                    <a:lstStyle/>
                    <a:p>
                      <a:r>
                        <a:rPr sz="1300" b="0" i="0">
                          <a:solidFill>
                            <a:srgbClr val="2A251D"/>
                          </a:solidFill>
                          <a:latin typeface="Cambria"/>
                        </a:rPr>
                        <a:t>“3×4=12, 12+2=14. \boxed{14}”</a:t>
                      </a:r>
                    </a:p>
                  </a:txBody>
                  <a:tcPr marT="63500" marB="63500" marL="101600">
                    <a:solidFill>
                      <a:srgbClr val="F2EDE1"/>
                    </a:solidFill>
                  </a:tcPr>
                </a:tc>
                <a:tc>
                  <a:txBody>
                    <a:bodyPr/>
                    <a:lstStyle/>
                    <a:p>
                      <a:r>
                        <a:rPr sz="1300" b="0" i="0">
                          <a:solidFill>
                            <a:srgbClr val="2A251D"/>
                          </a:solidFill>
                          <a:latin typeface="Cambria"/>
                        </a:rPr>
                        <a:t>14</a:t>
                      </a:r>
                    </a:p>
                  </a:txBody>
                  <a:tcPr marT="63500" marB="63500" marL="101600">
                    <a:solidFill>
                      <a:srgbClr val="F2EDE1"/>
                    </a:solidFill>
                  </a:tcPr>
                </a:tc>
                <a:tc>
                  <a:txBody>
                    <a:bodyPr/>
                    <a:lstStyle/>
                    <a:p>
                      <a:r>
                        <a:rPr sz="1300" b="0" i="0">
                          <a:solidFill>
                            <a:srgbClr val="5C5447"/>
                          </a:solidFill>
                          <a:latin typeface="Cambria"/>
                        </a:rPr>
                        <a:t>Sai (đúng là sai thật)</a:t>
                      </a:r>
                    </a:p>
                  </a:txBody>
                  <a:tcPr marT="63500" marB="63500" marL="101600">
                    <a:solidFill>
                      <a:srgbClr val="F2EDE1"/>
                    </a:solidFill>
                  </a:tcPr>
                </a:tc>
              </a:tr>
            </a:tbl>
          </a:graphicData>
        </a:graphic>
      </p:graphicFrame>
      <p:cxnSp>
        <p:nvCxnSpPr>
          <p:cNvPr id="9" name="Connector 8"/>
          <p:cNvCxnSpPr/>
          <p:nvPr/>
        </p:nvCxnSpPr>
        <p:spPr>
          <a:xfrm>
            <a:off x="777240" y="5074919"/>
            <a:ext cx="0" cy="777240"/>
          </a:xfrm>
          <a:prstGeom prst="line">
            <a:avLst/>
          </a:prstGeom>
          <a:ln w="31750">
            <a:solidFill>
              <a:srgbClr val="7A1F2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33272" y="5029199"/>
            <a:ext cx="10381183" cy="1005840"/>
          </a:xfrm>
          <a:prstGeom prst="rect">
            <a:avLst/>
          </a:prstGeom>
          <a:noFill/>
        </p:spPr>
        <p:txBody>
          <a:bodyPr wrap="square">
            <a:spAutoFit/>
          </a:bodyPr>
          <a:lstStyle/>
          <a:p>
            <a:pPr algn="l">
              <a:spcAft>
                <a:spcPts val="800"/>
              </a:spcAft>
            </a:pPr>
            <a:r>
              <a:rPr sz="1350" b="0" i="1">
                <a:solidFill>
                  <a:srgbClr val="2A251D"/>
                </a:solidFill>
                <a:latin typeface="Cambria"/>
              </a:rPr>
              <a:t>“Lời giải #2 bị loại khỏi dữ liệu train vòng sau, dù giá trị đúng. Không ví dụ nào dạy model rằng viết “mười” cũng được chấp nhận.”</a:t>
            </a:r>
          </a:p>
          <a:p>
            <a:pPr>
              <a:spcBef>
                <a:spcPts val="600"/>
              </a:spcBef>
            </a:pPr>
            <a:r>
              <a:rPr sz="1050" b="1" i="0">
                <a:solidFill>
                  <a:srgbClr val="5C5447"/>
                </a:solidFill>
                <a:latin typeface="Cambria"/>
              </a:rPr>
              <a:t>— Hệ quả trực tiếp của bước SELECT ở Slide 4</a:t>
            </a:r>
          </a:p>
        </p:txBody>
      </p:sp>
      <p:sp>
        <p:nvSpPr>
          <p:cNvPr id="11" name="TextBox 10"/>
          <p:cNvSpPr txBox="1"/>
          <p:nvPr/>
        </p:nvSpPr>
        <p:spPr>
          <a:xfrm>
            <a:off x="777240" y="6355080"/>
            <a:ext cx="10637215" cy="365760"/>
          </a:xfrm>
          <a:prstGeom prst="rect">
            <a:avLst/>
          </a:prstGeom>
          <a:noFill/>
        </p:spPr>
        <p:txBody>
          <a:bodyPr wrap="square">
            <a:spAutoFit/>
          </a:bodyPr>
          <a:lstStyle/>
          <a:p>
            <a:pPr algn="l">
              <a:spcBef>
                <a:spcPts val="0"/>
              </a:spcBef>
              <a:spcAft>
                <a:spcPts val="600"/>
              </a:spcAft>
            </a:pPr>
            <a:r>
              <a:rPr sz="950" b="0" i="1">
                <a:solidFill>
                  <a:srgbClr val="5C5447"/>
                </a:solidFill>
                <a:latin typeface="Cambria"/>
              </a:rPr>
              <a:t>Ví dụ minh hoạ, dựng theo đúng cơ chế 3 bước Parse→Normalize→Compare của math-verify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777240" y="320040"/>
            <a:ext cx="7315200" cy="274320"/>
          </a:xfrm>
          <a:prstGeom prst="rect">
            <a:avLst/>
          </a:prstGeom>
          <a:noFill/>
        </p:spPr>
        <p:txBody>
          <a:bodyPr wrap="square">
            <a:spAutoFit/>
          </a:bodyPr>
          <a:lstStyle/>
          <a:p>
            <a:pPr algn="l">
              <a:spcBef>
                <a:spcPts val="0"/>
              </a:spcBef>
              <a:spcAft>
                <a:spcPts val="600"/>
              </a:spcAft>
            </a:pPr>
            <a:r>
              <a:rPr sz="950" b="0" i="0">
                <a:solidFill>
                  <a:srgbClr val="5C5447"/>
                </a:solidFill>
                <a:latin typeface="Cambria"/>
              </a:rPr>
              <a:t>VERIFIER LỆCH VĂN PHONG TRONG SELF-TRAINING</a:t>
            </a:r>
          </a:p>
        </p:txBody>
      </p:sp>
      <p:sp>
        <p:nvSpPr>
          <p:cNvPr id="3" name="TextBox 2"/>
          <p:cNvSpPr txBox="1"/>
          <p:nvPr/>
        </p:nvSpPr>
        <p:spPr>
          <a:xfrm>
            <a:off x="10042855" y="320040"/>
            <a:ext cx="1371600" cy="274320"/>
          </a:xfrm>
          <a:prstGeom prst="rect">
            <a:avLst/>
          </a:prstGeom>
          <a:noFill/>
        </p:spPr>
        <p:txBody>
          <a:bodyPr wrap="square">
            <a:spAutoFit/>
          </a:bodyPr>
          <a:lstStyle/>
          <a:p>
            <a:pPr algn="r">
              <a:spcBef>
                <a:spcPts val="0"/>
              </a:spcBef>
              <a:spcAft>
                <a:spcPts val="600"/>
              </a:spcAft>
            </a:pPr>
            <a:r>
              <a:rPr sz="950" b="0" i="0">
                <a:solidFill>
                  <a:srgbClr val="5C5447"/>
                </a:solidFill>
                <a:latin typeface="Cambria"/>
              </a:rPr>
              <a:t>05</a:t>
            </a:r>
          </a:p>
        </p:txBody>
      </p:sp>
      <p:cxnSp>
        <p:nvCxnSpPr>
          <p:cNvPr id="4" name="Connector 3"/>
          <p:cNvCxnSpPr/>
          <p:nvPr/>
        </p:nvCxnSpPr>
        <p:spPr>
          <a:xfrm>
            <a:off x="777240" y="62179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777240"/>
            <a:ext cx="10637215" cy="320040"/>
          </a:xfrm>
          <a:prstGeom prst="rect">
            <a:avLst/>
          </a:prstGeom>
          <a:noFill/>
        </p:spPr>
        <p:txBody>
          <a:bodyPr wrap="square">
            <a:spAutoFit/>
          </a:bodyPr>
          <a:lstStyle/>
          <a:p>
            <a:pPr algn="l">
              <a:spcBef>
                <a:spcPts val="0"/>
              </a:spcBef>
              <a:spcAft>
                <a:spcPts val="0"/>
              </a:spcAft>
            </a:pPr>
            <a:r>
              <a:rPr sz="1300" b="1" i="0">
                <a:solidFill>
                  <a:srgbClr val="7A1F2B"/>
                </a:solidFill>
                <a:latin typeface="Cambria"/>
              </a:rPr>
              <a:t>ĐÃ CÓ AI LÀM CHƯA</a:t>
            </a:r>
          </a:p>
        </p:txBody>
      </p:sp>
      <p:sp>
        <p:nvSpPr>
          <p:cNvPr id="6" name="TextBox 5"/>
          <p:cNvSpPr txBox="1"/>
          <p:nvPr/>
        </p:nvSpPr>
        <p:spPr>
          <a:xfrm>
            <a:off x="777240" y="1078992"/>
            <a:ext cx="10637215" cy="868680"/>
          </a:xfrm>
          <a:prstGeom prst="rect">
            <a:avLst/>
          </a:prstGeom>
          <a:noFill/>
        </p:spPr>
        <p:txBody>
          <a:bodyPr wrap="square">
            <a:spAutoFit/>
          </a:bodyPr>
          <a:lstStyle/>
          <a:p>
            <a:pPr algn="l">
              <a:spcBef>
                <a:spcPts val="0"/>
              </a:spcBef>
              <a:spcAft>
                <a:spcPts val="0"/>
              </a:spcAft>
            </a:pPr>
            <a:r>
              <a:rPr sz="2700" b="1" i="0">
                <a:solidFill>
                  <a:srgbClr val="2A251D"/>
                </a:solidFill>
                <a:latin typeface="Cambria"/>
              </a:rPr>
              <a:t>29 bài báo đã khảo sát — ba bài đụng gần nhất</a:t>
            </a:r>
          </a:p>
        </p:txBody>
      </p:sp>
      <p:sp>
        <p:nvSpPr>
          <p:cNvPr id="7" name="TextBox 6"/>
          <p:cNvSpPr txBox="1"/>
          <p:nvPr/>
        </p:nvSpPr>
        <p:spPr>
          <a:xfrm>
            <a:off x="777240" y="1874519"/>
            <a:ext cx="10637215" cy="914400"/>
          </a:xfrm>
          <a:prstGeom prst="rect">
            <a:avLst/>
          </a:prstGeom>
          <a:noFill/>
        </p:spPr>
        <p:txBody>
          <a:bodyPr wrap="square">
            <a:spAutoFit/>
          </a:bodyPr>
          <a:lstStyle/>
          <a:p>
            <a:pPr algn="l">
              <a:lnSpc>
                <a:spcPct val="120000"/>
              </a:lnSpc>
              <a:spcBef>
                <a:spcPts val="0"/>
              </a:spcBef>
              <a:spcAft>
                <a:spcPts val="600"/>
              </a:spcAft>
            </a:pPr>
            <a:r>
              <a:rPr sz="1450" b="0" i="0">
                <a:solidFill>
                  <a:srgbClr val="2A251D"/>
                </a:solidFill>
                <a:latin typeface="Cambria"/>
              </a:rPr>
              <a:t>Ba bài dưới đây mỗi bài chạm đúng một trong ba mảnh của câu hỏi nghiên cứu (vòng lặp nhiều lần / verifier lệch vì văn phong / đo văn phong hội tụ), nhưng không bài nào ghép đủ cả ba. Các trích dẫn dưới đây lấy trực tiếp từ bản PDF trên arXiv, đối chiếu với nguyên văn.</a:t>
            </a:r>
          </a:p>
        </p:txBody>
      </p:sp>
      <p:sp>
        <p:nvSpPr>
          <p:cNvPr id="8" name="TextBox 7"/>
          <p:cNvSpPr txBox="1"/>
          <p:nvPr/>
        </p:nvSpPr>
        <p:spPr>
          <a:xfrm>
            <a:off x="777240" y="3063239"/>
            <a:ext cx="3301898" cy="822960"/>
          </a:xfrm>
          <a:prstGeom prst="rect">
            <a:avLst/>
          </a:prstGeom>
          <a:noFill/>
        </p:spPr>
        <p:txBody>
          <a:bodyPr wrap="square">
            <a:spAutoFit/>
          </a:bodyPr>
          <a:lstStyle/>
          <a:p>
            <a:pPr algn="l">
              <a:lnSpc>
                <a:spcPct val="105000"/>
              </a:lnSpc>
              <a:spcBef>
                <a:spcPts val="0"/>
              </a:spcBef>
              <a:spcAft>
                <a:spcPts val="200"/>
              </a:spcAft>
            </a:pPr>
            <a:r>
              <a:rPr sz="1550" b="1" i="0">
                <a:solidFill>
                  <a:srgbClr val="2A251D"/>
                </a:solidFill>
                <a:latin typeface="Cambria"/>
              </a:rPr>
              <a:t>ReST-EM</a:t>
            </a:r>
          </a:p>
        </p:txBody>
      </p:sp>
      <p:sp>
        <p:nvSpPr>
          <p:cNvPr id="9" name="TextBox 8"/>
          <p:cNvSpPr txBox="1"/>
          <p:nvPr/>
        </p:nvSpPr>
        <p:spPr>
          <a:xfrm>
            <a:off x="777240" y="3931919"/>
            <a:ext cx="3301898" cy="502920"/>
          </a:xfrm>
          <a:prstGeom prst="rect">
            <a:avLst/>
          </a:prstGeom>
          <a:noFill/>
        </p:spPr>
        <p:txBody>
          <a:bodyPr wrap="square">
            <a:spAutoFit/>
          </a:bodyPr>
          <a:lstStyle/>
          <a:p>
            <a:pPr algn="l">
              <a:spcBef>
                <a:spcPts val="0"/>
              </a:spcBef>
              <a:spcAft>
                <a:spcPts val="600"/>
              </a:spcAft>
            </a:pPr>
            <a:r>
              <a:rPr sz="1050" b="0" i="1">
                <a:solidFill>
                  <a:srgbClr val="5C5447"/>
                </a:solidFill>
                <a:latin typeface="Cambria"/>
              </a:rPr>
              <a:t>Singh, Co-Reyes, Agarwal et al. (Google DeepMind) · arXiv 2312.06585 · TMLR 2024</a:t>
            </a:r>
          </a:p>
        </p:txBody>
      </p:sp>
      <p:sp>
        <p:nvSpPr>
          <p:cNvPr id="10" name="TextBox 9"/>
          <p:cNvSpPr txBox="1"/>
          <p:nvPr/>
        </p:nvSpPr>
        <p:spPr>
          <a:xfrm>
            <a:off x="777240" y="4480559"/>
            <a:ext cx="3301898" cy="640080"/>
          </a:xfrm>
          <a:prstGeom prst="rect">
            <a:avLst/>
          </a:prstGeom>
          <a:noFill/>
        </p:spPr>
        <p:txBody>
          <a:bodyPr wrap="square">
            <a:spAutoFit/>
          </a:bodyPr>
          <a:lstStyle/>
          <a:p>
            <a:pPr algn="l">
              <a:lnSpc>
                <a:spcPct val="110000"/>
              </a:lnSpc>
              <a:spcBef>
                <a:spcPts val="0"/>
              </a:spcBef>
              <a:spcAft>
                <a:spcPts val="600"/>
              </a:spcAft>
            </a:pPr>
            <a:r>
              <a:rPr sz="1250" b="1" i="0">
                <a:solidFill>
                  <a:srgbClr val="2F4B39"/>
                </a:solidFill>
                <a:latin typeface="Cambria"/>
              </a:rPr>
              <a:t>Khung GVT nguyên bản — chạy đúng vòng lặp nhiều lần trên MATH/APPS</a:t>
            </a:r>
          </a:p>
        </p:txBody>
      </p:sp>
      <p:cxnSp>
        <p:nvCxnSpPr>
          <p:cNvPr id="11" name="Connector 10"/>
          <p:cNvCxnSpPr/>
          <p:nvPr/>
        </p:nvCxnSpPr>
        <p:spPr>
          <a:xfrm>
            <a:off x="4262018.333333334" y="3063239"/>
            <a:ext cx="0.0" cy="201168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444898" y="3063239"/>
            <a:ext cx="3301898" cy="822960"/>
          </a:xfrm>
          <a:prstGeom prst="rect">
            <a:avLst/>
          </a:prstGeom>
          <a:noFill/>
        </p:spPr>
        <p:txBody>
          <a:bodyPr wrap="square">
            <a:spAutoFit/>
          </a:bodyPr>
          <a:lstStyle/>
          <a:p>
            <a:pPr algn="l">
              <a:lnSpc>
                <a:spcPct val="105000"/>
              </a:lnSpc>
              <a:spcBef>
                <a:spcPts val="0"/>
              </a:spcBef>
              <a:spcAft>
                <a:spcPts val="200"/>
              </a:spcAft>
            </a:pPr>
            <a:r>
              <a:rPr sz="1550" b="1" i="0">
                <a:solidFill>
                  <a:srgbClr val="2A251D"/>
                </a:solidFill>
                <a:latin typeface="Cambria"/>
              </a:rPr>
              <a:t>From Accuracy to Robustness</a:t>
            </a:r>
          </a:p>
        </p:txBody>
      </p:sp>
      <p:sp>
        <p:nvSpPr>
          <p:cNvPr id="13" name="TextBox 12"/>
          <p:cNvSpPr txBox="1"/>
          <p:nvPr/>
        </p:nvSpPr>
        <p:spPr>
          <a:xfrm>
            <a:off x="4444898" y="3931919"/>
            <a:ext cx="3301898" cy="502920"/>
          </a:xfrm>
          <a:prstGeom prst="rect">
            <a:avLst/>
          </a:prstGeom>
          <a:noFill/>
        </p:spPr>
        <p:txBody>
          <a:bodyPr wrap="square">
            <a:spAutoFit/>
          </a:bodyPr>
          <a:lstStyle/>
          <a:p>
            <a:pPr algn="l">
              <a:spcBef>
                <a:spcPts val="0"/>
              </a:spcBef>
              <a:spcAft>
                <a:spcPts val="600"/>
              </a:spcAft>
            </a:pPr>
            <a:r>
              <a:rPr sz="1050" b="0" i="1">
                <a:solidFill>
                  <a:srgbClr val="5C5447"/>
                </a:solidFill>
                <a:latin typeface="Cambria"/>
              </a:rPr>
              <a:t>Huang, Zeng, Zeng, Zhu, He · arXiv 2505.22203 · 2025</a:t>
            </a:r>
          </a:p>
        </p:txBody>
      </p:sp>
      <p:sp>
        <p:nvSpPr>
          <p:cNvPr id="14" name="TextBox 13"/>
          <p:cNvSpPr txBox="1"/>
          <p:nvPr/>
        </p:nvSpPr>
        <p:spPr>
          <a:xfrm>
            <a:off x="4444898" y="4480559"/>
            <a:ext cx="3301898" cy="640080"/>
          </a:xfrm>
          <a:prstGeom prst="rect">
            <a:avLst/>
          </a:prstGeom>
          <a:noFill/>
        </p:spPr>
        <p:txBody>
          <a:bodyPr wrap="square">
            <a:spAutoFit/>
          </a:bodyPr>
          <a:lstStyle/>
          <a:p>
            <a:pPr algn="l">
              <a:lnSpc>
                <a:spcPct val="110000"/>
              </a:lnSpc>
              <a:spcBef>
                <a:spcPts val="0"/>
              </a:spcBef>
              <a:spcAft>
                <a:spcPts val="600"/>
              </a:spcAft>
            </a:pPr>
            <a:r>
              <a:rPr sz="1250" b="1" i="0">
                <a:solidFill>
                  <a:srgbClr val="2F4B39"/>
                </a:solidFill>
                <a:latin typeface="Cambria"/>
              </a:rPr>
              <a:t>Đo trực tiếp verifier luật gạch nhầm vì định dạng đáp án</a:t>
            </a:r>
          </a:p>
        </p:txBody>
      </p:sp>
      <p:cxnSp>
        <p:nvCxnSpPr>
          <p:cNvPr id="15" name="Connector 14"/>
          <p:cNvCxnSpPr/>
          <p:nvPr/>
        </p:nvCxnSpPr>
        <p:spPr>
          <a:xfrm>
            <a:off x="7929676.666666667" y="3063239"/>
            <a:ext cx="0.0" cy="201168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112556" y="3063239"/>
            <a:ext cx="3301898" cy="822960"/>
          </a:xfrm>
          <a:prstGeom prst="rect">
            <a:avLst/>
          </a:prstGeom>
          <a:noFill/>
        </p:spPr>
        <p:txBody>
          <a:bodyPr wrap="square">
            <a:spAutoFit/>
          </a:bodyPr>
          <a:lstStyle/>
          <a:p>
            <a:pPr algn="l">
              <a:lnSpc>
                <a:spcPct val="105000"/>
              </a:lnSpc>
              <a:spcBef>
                <a:spcPts val="0"/>
              </a:spcBef>
              <a:spcAft>
                <a:spcPts val="200"/>
              </a:spcAft>
            </a:pPr>
            <a:r>
              <a:rPr sz="1550" b="1" i="0">
                <a:solidFill>
                  <a:srgbClr val="2A251D"/>
                </a:solidFill>
                <a:latin typeface="Cambria"/>
              </a:rPr>
              <a:t>Teacher-Free Self-Training
Amplifies but Does Not Compound</a:t>
            </a:r>
          </a:p>
        </p:txBody>
      </p:sp>
      <p:sp>
        <p:nvSpPr>
          <p:cNvPr id="17" name="TextBox 16"/>
          <p:cNvSpPr txBox="1"/>
          <p:nvPr/>
        </p:nvSpPr>
        <p:spPr>
          <a:xfrm>
            <a:off x="8112556" y="3931919"/>
            <a:ext cx="3301898" cy="502920"/>
          </a:xfrm>
          <a:prstGeom prst="rect">
            <a:avLst/>
          </a:prstGeom>
          <a:noFill/>
        </p:spPr>
        <p:txBody>
          <a:bodyPr wrap="square">
            <a:spAutoFit/>
          </a:bodyPr>
          <a:lstStyle/>
          <a:p>
            <a:pPr algn="l">
              <a:spcBef>
                <a:spcPts val="0"/>
              </a:spcBef>
              <a:spcAft>
                <a:spcPts val="600"/>
              </a:spcAft>
            </a:pPr>
            <a:r>
              <a:rPr sz="1050" b="0" i="1">
                <a:solidFill>
                  <a:srgbClr val="5C5447"/>
                </a:solidFill>
                <a:latin typeface="Cambria"/>
              </a:rPr>
              <a:t>Strozzi · arXiv 2606.07856 · 2026</a:t>
            </a:r>
          </a:p>
        </p:txBody>
      </p:sp>
      <p:sp>
        <p:nvSpPr>
          <p:cNvPr id="18" name="TextBox 17"/>
          <p:cNvSpPr txBox="1"/>
          <p:nvPr/>
        </p:nvSpPr>
        <p:spPr>
          <a:xfrm>
            <a:off x="8112556" y="4480559"/>
            <a:ext cx="3301898" cy="640080"/>
          </a:xfrm>
          <a:prstGeom prst="rect">
            <a:avLst/>
          </a:prstGeom>
          <a:noFill/>
        </p:spPr>
        <p:txBody>
          <a:bodyPr wrap="square">
            <a:spAutoFit/>
          </a:bodyPr>
          <a:lstStyle/>
          <a:p>
            <a:pPr algn="l">
              <a:lnSpc>
                <a:spcPct val="110000"/>
              </a:lnSpc>
              <a:spcBef>
                <a:spcPts val="0"/>
              </a:spcBef>
              <a:spcAft>
                <a:spcPts val="600"/>
              </a:spcAft>
            </a:pPr>
            <a:r>
              <a:rPr sz="1250" b="1" i="0">
                <a:solidFill>
                  <a:srgbClr val="2F4B39"/>
                </a:solidFill>
                <a:latin typeface="Cambria"/>
              </a:rPr>
              <a:t>Đo đúng cặp pass@8/pass@64 qua nhiều vòng self-training</a:t>
            </a:r>
          </a:p>
        </p:txBody>
      </p:sp>
      <p:sp>
        <p:nvSpPr>
          <p:cNvPr id="19" name="TextBox 18"/>
          <p:cNvSpPr txBox="1"/>
          <p:nvPr/>
        </p:nvSpPr>
        <p:spPr>
          <a:xfrm>
            <a:off x="777240" y="6355080"/>
            <a:ext cx="10637215" cy="365760"/>
          </a:xfrm>
          <a:prstGeom prst="rect">
            <a:avLst/>
          </a:prstGeom>
          <a:noFill/>
        </p:spPr>
        <p:txBody>
          <a:bodyPr wrap="square">
            <a:spAutoFit/>
          </a:bodyPr>
          <a:lstStyle/>
          <a:p>
            <a:pPr algn="l">
              <a:spcBef>
                <a:spcPts val="0"/>
              </a:spcBef>
              <a:spcAft>
                <a:spcPts val="600"/>
              </a:spcAft>
            </a:pPr>
            <a:r>
              <a:rPr sz="950" b="0" i="1">
                <a:solidFill>
                  <a:srgbClr val="5C5447"/>
                </a:solidFill>
                <a:latin typeface="Cambria"/>
              </a:rPr>
              <a:t>Khảo sát 29 bài báo, đối chiếu 2 lần qua Semantic Scholar (24/08/2026)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777240" y="320040"/>
            <a:ext cx="7315200" cy="274320"/>
          </a:xfrm>
          <a:prstGeom prst="rect">
            <a:avLst/>
          </a:prstGeom>
          <a:noFill/>
        </p:spPr>
        <p:txBody>
          <a:bodyPr wrap="square">
            <a:spAutoFit/>
          </a:bodyPr>
          <a:lstStyle/>
          <a:p>
            <a:pPr algn="l">
              <a:spcBef>
                <a:spcPts val="0"/>
              </a:spcBef>
              <a:spcAft>
                <a:spcPts val="600"/>
              </a:spcAft>
            </a:pPr>
            <a:r>
              <a:rPr sz="950" b="0" i="0">
                <a:solidFill>
                  <a:srgbClr val="5C5447"/>
                </a:solidFill>
                <a:latin typeface="Cambria"/>
              </a:rPr>
              <a:t>VERIFIER LỆCH VĂN PHONG TRONG SELF-TRAINING</a:t>
            </a:r>
          </a:p>
        </p:txBody>
      </p:sp>
      <p:sp>
        <p:nvSpPr>
          <p:cNvPr id="3" name="TextBox 2"/>
          <p:cNvSpPr txBox="1"/>
          <p:nvPr/>
        </p:nvSpPr>
        <p:spPr>
          <a:xfrm>
            <a:off x="10042855" y="320040"/>
            <a:ext cx="1371600" cy="274320"/>
          </a:xfrm>
          <a:prstGeom prst="rect">
            <a:avLst/>
          </a:prstGeom>
          <a:noFill/>
        </p:spPr>
        <p:txBody>
          <a:bodyPr wrap="square">
            <a:spAutoFit/>
          </a:bodyPr>
          <a:lstStyle/>
          <a:p>
            <a:pPr algn="r">
              <a:spcBef>
                <a:spcPts val="0"/>
              </a:spcBef>
              <a:spcAft>
                <a:spcPts val="600"/>
              </a:spcAft>
            </a:pPr>
            <a:r>
              <a:rPr sz="950" b="0" i="0">
                <a:solidFill>
                  <a:srgbClr val="5C5447"/>
                </a:solidFill>
                <a:latin typeface="Cambria"/>
              </a:rPr>
              <a:t>06</a:t>
            </a:r>
          </a:p>
        </p:txBody>
      </p:sp>
      <p:cxnSp>
        <p:nvCxnSpPr>
          <p:cNvPr id="4" name="Connector 3"/>
          <p:cNvCxnSpPr/>
          <p:nvPr/>
        </p:nvCxnSpPr>
        <p:spPr>
          <a:xfrm>
            <a:off x="777240" y="62179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777240"/>
            <a:ext cx="10637215" cy="320040"/>
          </a:xfrm>
          <a:prstGeom prst="rect">
            <a:avLst/>
          </a:prstGeom>
          <a:noFill/>
        </p:spPr>
        <p:txBody>
          <a:bodyPr wrap="square">
            <a:spAutoFit/>
          </a:bodyPr>
          <a:lstStyle/>
          <a:p>
            <a:pPr algn="l">
              <a:spcBef>
                <a:spcPts val="0"/>
              </a:spcBef>
              <a:spcAft>
                <a:spcPts val="0"/>
              </a:spcAft>
            </a:pPr>
            <a:r>
              <a:rPr sz="1300" b="1" i="0">
                <a:solidFill>
                  <a:srgbClr val="7A1F2B"/>
                </a:solidFill>
                <a:latin typeface="Cambria"/>
              </a:rPr>
              <a:t>BÀI GẦN NHẤT — 1/3</a:t>
            </a:r>
          </a:p>
        </p:txBody>
      </p:sp>
      <p:sp>
        <p:nvSpPr>
          <p:cNvPr id="6" name="TextBox 5"/>
          <p:cNvSpPr txBox="1"/>
          <p:nvPr/>
        </p:nvSpPr>
        <p:spPr>
          <a:xfrm>
            <a:off x="777240" y="1078992"/>
            <a:ext cx="10637215" cy="868680"/>
          </a:xfrm>
          <a:prstGeom prst="rect">
            <a:avLst/>
          </a:prstGeom>
          <a:noFill/>
        </p:spPr>
        <p:txBody>
          <a:bodyPr wrap="square">
            <a:spAutoFit/>
          </a:bodyPr>
          <a:lstStyle/>
          <a:p>
            <a:pPr algn="l">
              <a:spcBef>
                <a:spcPts val="0"/>
              </a:spcBef>
              <a:spcAft>
                <a:spcPts val="0"/>
              </a:spcAft>
            </a:pPr>
            <a:r>
              <a:rPr sz="2700" b="1" i="0">
                <a:solidFill>
                  <a:srgbClr val="2A251D"/>
                </a:solidFill>
                <a:latin typeface="Cambria"/>
              </a:rPr>
              <a:t>ReST-EM: khung GVT nguyên bản, verifier được coi là chuẩn tuyệt đối</a:t>
            </a:r>
          </a:p>
        </p:txBody>
      </p:sp>
      <p:sp>
        <p:nvSpPr>
          <p:cNvPr id="7" name="TextBox 6"/>
          <p:cNvSpPr txBox="1"/>
          <p:nvPr/>
        </p:nvSpPr>
        <p:spPr>
          <a:xfrm>
            <a:off x="777240" y="1874519"/>
            <a:ext cx="10637215" cy="320040"/>
          </a:xfrm>
          <a:prstGeom prst="rect">
            <a:avLst/>
          </a:prstGeom>
          <a:noFill/>
        </p:spPr>
        <p:txBody>
          <a:bodyPr wrap="square">
            <a:spAutoFit/>
          </a:bodyPr>
          <a:lstStyle/>
          <a:p>
            <a:pPr algn="l">
              <a:spcBef>
                <a:spcPts val="0"/>
              </a:spcBef>
              <a:spcAft>
                <a:spcPts val="600"/>
              </a:spcAft>
            </a:pPr>
            <a:r>
              <a:rPr sz="1150" b="0" i="1">
                <a:solidFill>
                  <a:srgbClr val="5C5447"/>
                </a:solidFill>
                <a:latin typeface="Cambria"/>
              </a:rPr>
              <a:t>Singh, Co-Reyes, Agarwal et al., “Beyond Human Data: Scaling Self-Training for Problem-Solving with Language Models”, arXiv 2312.06585 (TMLR 2024)</a:t>
            </a:r>
          </a:p>
        </p:txBody>
      </p:sp>
      <p:cxnSp>
        <p:nvCxnSpPr>
          <p:cNvPr id="8" name="Connector 7"/>
          <p:cNvCxnSpPr/>
          <p:nvPr/>
        </p:nvCxnSpPr>
        <p:spPr>
          <a:xfrm>
            <a:off x="777240" y="2331719"/>
            <a:ext cx="0" cy="685800"/>
          </a:xfrm>
          <a:prstGeom prst="line">
            <a:avLst/>
          </a:prstGeom>
          <a:ln w="31750">
            <a:solidFill>
              <a:srgbClr val="7A1F2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33272" y="2285999"/>
            <a:ext cx="10381183" cy="914400"/>
          </a:xfrm>
          <a:prstGeom prst="rect">
            <a:avLst/>
          </a:prstGeom>
          <a:noFill/>
        </p:spPr>
        <p:txBody>
          <a:bodyPr wrap="square">
            <a:spAutoFit/>
          </a:bodyPr>
          <a:lstStyle/>
          <a:p>
            <a:pPr algn="l">
              <a:spcAft>
                <a:spcPts val="800"/>
              </a:spcAft>
            </a:pPr>
            <a:r>
              <a:rPr sz="1300" b="0" i="1">
                <a:solidFill>
                  <a:srgbClr val="2A251D"/>
                </a:solidFill>
                <a:latin typeface="Cambria"/>
              </a:rPr>
              <a:t>“Generate (E-step): ...we filter these samples using a binary reward to collect the training dataset [...]. Our experiments focus on problem-solving settings with binary rewards (either 0 or 1).”</a:t>
            </a:r>
          </a:p>
          <a:p>
            <a:pPr>
              <a:spcBef>
                <a:spcPts val="600"/>
              </a:spcBef>
            </a:pPr>
            <a:r>
              <a:rPr sz="1050" b="1" i="0">
                <a:solidFill>
                  <a:srgbClr val="5C5447"/>
                </a:solidFill>
                <a:latin typeface="Cambria"/>
              </a:rPr>
              <a:t>— arXiv 2312.06585, Algorithm 1 và “Remark”, tr. 4–5</a:t>
            </a:r>
          </a:p>
        </p:txBody>
      </p:sp>
      <p:sp>
        <p:nvSpPr>
          <p:cNvPr id="10" name="TextBox 9"/>
          <p:cNvSpPr txBox="1"/>
          <p:nvPr/>
        </p:nvSpPr>
        <p:spPr>
          <a:xfrm>
            <a:off x="777240" y="3383279"/>
            <a:ext cx="10637215" cy="365760"/>
          </a:xfrm>
          <a:prstGeom prst="rect">
            <a:avLst/>
          </a:prstGeom>
          <a:noFill/>
        </p:spPr>
        <p:txBody>
          <a:bodyPr wrap="square">
            <a:spAutoFit/>
          </a:bodyPr>
          <a:lstStyle/>
          <a:p>
            <a:pPr algn="l">
              <a:spcBef>
                <a:spcPts val="0"/>
              </a:spcBef>
              <a:spcAft>
                <a:spcPts val="600"/>
              </a:spcAft>
            </a:pPr>
            <a:r>
              <a:rPr sz="1350" b="1" i="0">
                <a:solidFill>
                  <a:srgbClr val="7A1F2B"/>
                </a:solidFill>
                <a:latin typeface="Cambria"/>
              </a:rPr>
              <a:t>Nói cách khác, verifier trong bài này được coi là luôn đúng — không có phần nào đặt câu hỏi “nếu verifier chấm sai thì sao?”</a:t>
            </a:r>
          </a:p>
        </p:txBody>
      </p:sp>
      <p:sp>
        <p:nvSpPr>
          <p:cNvPr id="11" name="Rectangle 10"/>
          <p:cNvSpPr/>
          <p:nvPr/>
        </p:nvSpPr>
        <p:spPr>
          <a:xfrm>
            <a:off x="777240" y="3886199"/>
            <a:ext cx="10637215" cy="1600200"/>
          </a:xfrm>
          <a:prstGeom prst="rect">
            <a:avLst/>
          </a:prstGeom>
          <a:solidFill>
            <a:srgbClr val="F2EDE1"/>
          </a:solidFill>
          <a:ln w="9525">
            <a:solidFill>
              <a:srgbClr val="C9BF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777240" y="3886199"/>
            <a:ext cx="0" cy="1600200"/>
          </a:xfrm>
          <a:prstGeom prst="line">
            <a:avLst/>
          </a:prstGeom>
          <a:ln w="38100">
            <a:solidFill>
              <a:srgbClr val="7A1F2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51560" y="4014215"/>
            <a:ext cx="10134295" cy="1344168"/>
          </a:xfrm>
          <a:prstGeom prst="rect">
            <a:avLst/>
          </a:prstGeom>
          <a:noFill/>
        </p:spPr>
        <p:txBody>
          <a:bodyPr wrap="square">
            <a:spAutoFit/>
          </a:bodyPr>
          <a:lstStyle/>
          <a:p>
            <a:pPr>
              <a:spcAft>
                <a:spcPts val="500"/>
              </a:spcAft>
            </a:pPr>
            <a:r>
              <a:rPr sz="1150" b="1" i="0">
                <a:solidFill>
                  <a:srgbClr val="7A1F2B"/>
                </a:solidFill>
                <a:latin typeface="Cambria"/>
              </a:rPr>
              <a:t>VÍ DỤ CỤ THỂ — ĐIỀU CÓ THỂ XẢY RA TRONG CHÍNH PIPELINE CỦA HỌ</a:t>
            </a:r>
          </a:p>
          <a:p>
            <a:pPr>
              <a:lnSpc>
                <a:spcPct val="112000"/>
              </a:lnSpc>
              <a:spcAft>
                <a:spcPts val="400"/>
              </a:spcAft>
            </a:pPr>
            <a:r>
              <a:rPr sz="1250" b="0" i="0">
                <a:solidFill>
                  <a:srgbClr val="2A251D"/>
                </a:solidFill>
                <a:latin typeface="Cambria"/>
              </a:rPr>
              <a:t>MATH (dataset họ dùng) được chấm bằng hàm rule-based kiểu is_equiv — cùng họ công cụ với math-verify mà bài thứ hai (slide sau) đo được sai 14%.</a:t>
            </a:r>
          </a:p>
          <a:p>
            <a:pPr>
              <a:lnSpc>
                <a:spcPct val="112000"/>
              </a:lnSpc>
              <a:spcAft>
                <a:spcPts val="400"/>
              </a:spcAft>
            </a:pPr>
            <a:r>
              <a:rPr sz="1250" b="0" i="0">
                <a:solidFill>
                  <a:srgbClr val="2A251D"/>
                </a:solidFill>
                <a:latin typeface="Cambria"/>
              </a:rPr>
              <a:t>Giả sử trong 32 lời giải sinh mỗi bài ở vòng 1 (Generate/E-step), có một lời giải đúng giá trị nhưng viết \dfrac{1}{2} thay vì \frac{1}{2} — is_equiv gạch nhầm, lời giải bị loại.</a:t>
            </a:r>
          </a:p>
          <a:p>
            <a:pPr>
              <a:lnSpc>
                <a:spcPct val="112000"/>
              </a:lnSpc>
              <a:spcAft>
                <a:spcPts val="400"/>
              </a:spcAft>
            </a:pPr>
            <a:r>
              <a:rPr sz="1250" b="1" i="0">
                <a:solidFill>
                  <a:srgbClr val="2A251D"/>
                </a:solidFill>
                <a:latin typeface="Cambria"/>
              </a:rPr>
              <a:t>Lời giải đó biến mất khỏi dữ liệu train ở cả 3 vòng liên tiếp (Fig. 2). Không có bảng số nào trong bài kiểm tra lại tỉ lệ lời giải đúng bị loại theo cách này.</a:t>
            </a:r>
          </a:p>
        </p:txBody>
      </p:sp>
      <p:cxnSp>
        <p:nvCxnSpPr>
          <p:cNvPr id="14" name="Connector 13"/>
          <p:cNvCxnSpPr/>
          <p:nvPr/>
        </p:nvCxnSpPr>
        <p:spPr>
          <a:xfrm>
            <a:off x="777240" y="5714999"/>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77240" y="5852159"/>
            <a:ext cx="10637215" cy="457200"/>
          </a:xfrm>
          <a:prstGeom prst="rect">
            <a:avLst/>
          </a:prstGeom>
          <a:noFill/>
        </p:spPr>
        <p:txBody>
          <a:bodyPr wrap="square">
            <a:spAutoFit/>
          </a:bodyPr>
          <a:lstStyle/>
          <a:p>
            <a:pPr algn="l">
              <a:lnSpc>
                <a:spcPct val="115000"/>
              </a:lnSpc>
              <a:spcBef>
                <a:spcPts val="0"/>
              </a:spcBef>
              <a:spcAft>
                <a:spcPts val="600"/>
              </a:spcAft>
            </a:pPr>
            <a:r>
              <a:rPr sz="1250" b="0" i="1">
                <a:solidFill>
                  <a:srgbClr val="5C5447"/>
                </a:solidFill>
                <a:latin typeface="Cambria"/>
              </a:rPr>
              <a:t>→ pass@1 trên MATH tăng qua 3 vòng (Fig. 2), nhưng không thể tách bạch bao nhiêu phần của mức tăng đó đến từ việc “giỏi toán hơn”, và bao nhiêu đến từ việc chỉ còn lại đúng một kiểu viết mà is_equiv chấp nhận.</a:t>
            </a:r>
          </a:p>
        </p:txBody>
      </p:sp>
      <p:sp>
        <p:nvSpPr>
          <p:cNvPr id="16" name="TextBox 15"/>
          <p:cNvSpPr txBox="1"/>
          <p:nvPr/>
        </p:nvSpPr>
        <p:spPr>
          <a:xfrm>
            <a:off x="777240" y="6355080"/>
            <a:ext cx="10637215" cy="365760"/>
          </a:xfrm>
          <a:prstGeom prst="rect">
            <a:avLst/>
          </a:prstGeom>
          <a:noFill/>
        </p:spPr>
        <p:txBody>
          <a:bodyPr wrap="square">
            <a:spAutoFit/>
          </a:bodyPr>
          <a:lstStyle/>
          <a:p>
            <a:pPr algn="l">
              <a:spcBef>
                <a:spcPts val="0"/>
              </a:spcBef>
              <a:spcAft>
                <a:spcPts val="600"/>
              </a:spcAft>
            </a:pPr>
            <a:r>
              <a:rPr sz="950" b="0" i="1">
                <a:solidFill>
                  <a:srgbClr val="5C5447"/>
                </a:solidFill>
                <a:latin typeface="Cambria"/>
              </a:rPr>
              <a:t>Đối chiếu trực tiếp với bản PDF gốc trên arXiv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777240" y="320040"/>
            <a:ext cx="7315200" cy="274320"/>
          </a:xfrm>
          <a:prstGeom prst="rect">
            <a:avLst/>
          </a:prstGeom>
          <a:noFill/>
        </p:spPr>
        <p:txBody>
          <a:bodyPr wrap="square">
            <a:spAutoFit/>
          </a:bodyPr>
          <a:lstStyle/>
          <a:p>
            <a:pPr algn="l">
              <a:spcBef>
                <a:spcPts val="0"/>
              </a:spcBef>
              <a:spcAft>
                <a:spcPts val="600"/>
              </a:spcAft>
            </a:pPr>
            <a:r>
              <a:rPr sz="950" b="0" i="0">
                <a:solidFill>
                  <a:srgbClr val="5C5447"/>
                </a:solidFill>
                <a:latin typeface="Cambria"/>
              </a:rPr>
              <a:t>VERIFIER LỆCH VĂN PHONG TRONG SELF-TRAINING</a:t>
            </a:r>
          </a:p>
        </p:txBody>
      </p:sp>
      <p:sp>
        <p:nvSpPr>
          <p:cNvPr id="3" name="TextBox 2"/>
          <p:cNvSpPr txBox="1"/>
          <p:nvPr/>
        </p:nvSpPr>
        <p:spPr>
          <a:xfrm>
            <a:off x="10042855" y="320040"/>
            <a:ext cx="1371600" cy="274320"/>
          </a:xfrm>
          <a:prstGeom prst="rect">
            <a:avLst/>
          </a:prstGeom>
          <a:noFill/>
        </p:spPr>
        <p:txBody>
          <a:bodyPr wrap="square">
            <a:spAutoFit/>
          </a:bodyPr>
          <a:lstStyle/>
          <a:p>
            <a:pPr algn="r">
              <a:spcBef>
                <a:spcPts val="0"/>
              </a:spcBef>
              <a:spcAft>
                <a:spcPts val="600"/>
              </a:spcAft>
            </a:pPr>
            <a:r>
              <a:rPr sz="950" b="0" i="0">
                <a:solidFill>
                  <a:srgbClr val="5C5447"/>
                </a:solidFill>
                <a:latin typeface="Cambria"/>
              </a:rPr>
              <a:t>07</a:t>
            </a:r>
          </a:p>
        </p:txBody>
      </p:sp>
      <p:cxnSp>
        <p:nvCxnSpPr>
          <p:cNvPr id="4" name="Connector 3"/>
          <p:cNvCxnSpPr/>
          <p:nvPr/>
        </p:nvCxnSpPr>
        <p:spPr>
          <a:xfrm>
            <a:off x="777240" y="62179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777240"/>
            <a:ext cx="10637215" cy="320040"/>
          </a:xfrm>
          <a:prstGeom prst="rect">
            <a:avLst/>
          </a:prstGeom>
          <a:noFill/>
        </p:spPr>
        <p:txBody>
          <a:bodyPr wrap="square">
            <a:spAutoFit/>
          </a:bodyPr>
          <a:lstStyle/>
          <a:p>
            <a:pPr algn="l">
              <a:spcBef>
                <a:spcPts val="0"/>
              </a:spcBef>
              <a:spcAft>
                <a:spcPts val="0"/>
              </a:spcAft>
            </a:pPr>
            <a:r>
              <a:rPr sz="1300" b="1" i="0">
                <a:solidFill>
                  <a:srgbClr val="7A1F2B"/>
                </a:solidFill>
                <a:latin typeface="Cambria"/>
              </a:rPr>
              <a:t>BÀI GẦN NHẤT — 2/3</a:t>
            </a:r>
          </a:p>
        </p:txBody>
      </p:sp>
      <p:sp>
        <p:nvSpPr>
          <p:cNvPr id="6" name="TextBox 5"/>
          <p:cNvSpPr txBox="1"/>
          <p:nvPr/>
        </p:nvSpPr>
        <p:spPr>
          <a:xfrm>
            <a:off x="777240" y="1078992"/>
            <a:ext cx="10637215" cy="868680"/>
          </a:xfrm>
          <a:prstGeom prst="rect">
            <a:avLst/>
          </a:prstGeom>
          <a:noFill/>
        </p:spPr>
        <p:txBody>
          <a:bodyPr wrap="square">
            <a:spAutoFit/>
          </a:bodyPr>
          <a:lstStyle/>
          <a:p>
            <a:pPr algn="l">
              <a:spcBef>
                <a:spcPts val="0"/>
              </a:spcBef>
              <a:spcAft>
                <a:spcPts val="0"/>
              </a:spcAft>
            </a:pPr>
            <a:r>
              <a:rPr sz="2700" b="1" i="0">
                <a:solidFill>
                  <a:srgbClr val="2A251D"/>
                </a:solidFill>
                <a:latin typeface="Cambria"/>
              </a:rPr>
              <a:t>From Accuracy to Robustness: đo đúng hiện tượng, nhưng chỉ một lần</a:t>
            </a:r>
          </a:p>
        </p:txBody>
      </p:sp>
      <p:sp>
        <p:nvSpPr>
          <p:cNvPr id="7" name="TextBox 6"/>
          <p:cNvSpPr txBox="1"/>
          <p:nvPr/>
        </p:nvSpPr>
        <p:spPr>
          <a:xfrm>
            <a:off x="777240" y="1874519"/>
            <a:ext cx="10637215" cy="320040"/>
          </a:xfrm>
          <a:prstGeom prst="rect">
            <a:avLst/>
          </a:prstGeom>
          <a:noFill/>
        </p:spPr>
        <p:txBody>
          <a:bodyPr wrap="square">
            <a:spAutoFit/>
          </a:bodyPr>
          <a:lstStyle/>
          <a:p>
            <a:pPr algn="l">
              <a:spcBef>
                <a:spcPts val="0"/>
              </a:spcBef>
              <a:spcAft>
                <a:spcPts val="600"/>
              </a:spcAft>
            </a:pPr>
            <a:r>
              <a:rPr sz="1150" b="0" i="1">
                <a:solidFill>
                  <a:srgbClr val="5C5447"/>
                </a:solidFill>
                <a:latin typeface="Cambria"/>
              </a:rPr>
              <a:t>Huang, Zeng, Zeng, Zhu, He, “From Accuracy to Robustness: A Study of Rule- and Model-based Verifiers in Mathematical Reasoning”, arXiv 2505.22203 (2025)</a:t>
            </a:r>
          </a:p>
        </p:txBody>
      </p:sp>
      <p:cxnSp>
        <p:nvCxnSpPr>
          <p:cNvPr id="8" name="Connector 7"/>
          <p:cNvCxnSpPr/>
          <p:nvPr/>
        </p:nvCxnSpPr>
        <p:spPr>
          <a:xfrm>
            <a:off x="777240" y="2331719"/>
            <a:ext cx="0" cy="822960"/>
          </a:xfrm>
          <a:prstGeom prst="line">
            <a:avLst/>
          </a:prstGeom>
          <a:ln w="31750">
            <a:solidFill>
              <a:srgbClr val="7A1F2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33272" y="2285999"/>
            <a:ext cx="10381183" cy="1051560"/>
          </a:xfrm>
          <a:prstGeom prst="rect">
            <a:avLst/>
          </a:prstGeom>
          <a:noFill/>
        </p:spPr>
        <p:txBody>
          <a:bodyPr wrap="square">
            <a:spAutoFit/>
          </a:bodyPr>
          <a:lstStyle/>
          <a:p>
            <a:pPr algn="l">
              <a:spcAft>
                <a:spcPts val="800"/>
              </a:spcAft>
            </a:pPr>
            <a:r>
              <a:rPr sz="1250" b="0" i="1">
                <a:solidFill>
                  <a:srgbClr val="2A251D"/>
                </a:solidFill>
                <a:latin typeface="Cambria"/>
              </a:rPr>
              <a:t>“current open-source rule-based verifiers often fail to recognize equivalent answers presented in different formats [...] resulting in non-negligible false negative rates [...] average recall rate of only 86%, which means 14% of correct responses are classified as incorrect.”</a:t>
            </a:r>
          </a:p>
          <a:p>
            <a:pPr>
              <a:spcBef>
                <a:spcPts val="600"/>
              </a:spcBef>
            </a:pPr>
            <a:r>
              <a:rPr sz="1050" b="1" i="0">
                <a:solidFill>
                  <a:srgbClr val="5C5447"/>
                </a:solidFill>
                <a:latin typeface="Cambria"/>
              </a:rPr>
              <a:t>— arXiv 2505.22203, Abstract và §3, tr. 1 và 4</a:t>
            </a:r>
          </a:p>
        </p:txBody>
      </p:sp>
      <p:sp>
        <p:nvSpPr>
          <p:cNvPr id="10" name="Rectangle 9"/>
          <p:cNvSpPr/>
          <p:nvPr/>
        </p:nvSpPr>
        <p:spPr>
          <a:xfrm>
            <a:off x="777240" y="3520439"/>
            <a:ext cx="10637215" cy="1691640"/>
          </a:xfrm>
          <a:prstGeom prst="rect">
            <a:avLst/>
          </a:prstGeom>
          <a:solidFill>
            <a:srgbClr val="F2EDE1"/>
          </a:solidFill>
          <a:ln w="9525">
            <a:solidFill>
              <a:srgbClr val="C9BF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777240" y="3520439"/>
            <a:ext cx="0" cy="1691640"/>
          </a:xfrm>
          <a:prstGeom prst="line">
            <a:avLst/>
          </a:prstGeom>
          <a:ln w="38100">
            <a:solidFill>
              <a:srgbClr val="9C772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051560" y="3648455"/>
            <a:ext cx="10134295" cy="1435608"/>
          </a:xfrm>
          <a:prstGeom prst="rect">
            <a:avLst/>
          </a:prstGeom>
          <a:noFill/>
        </p:spPr>
        <p:txBody>
          <a:bodyPr wrap="square">
            <a:spAutoFit/>
          </a:bodyPr>
          <a:lstStyle/>
          <a:p>
            <a:pPr>
              <a:spcAft>
                <a:spcPts val="500"/>
              </a:spcAft>
            </a:pPr>
            <a:r>
              <a:rPr sz="1150" b="1" i="0">
                <a:solidFill>
                  <a:srgbClr val="9C772B"/>
                </a:solidFill>
                <a:latin typeface="Cambria"/>
              </a:rPr>
              <a:t>VÍ DỤ CỤ THỂ — TRÍCH NGUYÊN VĂN TỪ CHÍNH BÀI NÀY</a:t>
            </a:r>
          </a:p>
          <a:p>
            <a:pPr>
              <a:lnSpc>
                <a:spcPct val="112000"/>
              </a:lnSpc>
              <a:spcAft>
                <a:spcPts val="400"/>
              </a:spcAft>
            </a:pPr>
            <a:r>
              <a:rPr sz="1250" b="0" i="1">
                <a:solidFill>
                  <a:srgbClr val="2A251D"/>
                </a:solidFill>
                <a:latin typeface="Cambria"/>
              </a:rPr>
              <a:t>“mathematically equivalent expressions under certain context (e.g., 0.5π vs. 90° in geometry)” — cùng một giá trị góc, verifier luật không nhận ra là bằng nhau.</a:t>
            </a:r>
          </a:p>
          <a:p>
            <a:pPr>
              <a:lnSpc>
                <a:spcPct val="112000"/>
              </a:lnSpc>
              <a:spcAft>
                <a:spcPts val="400"/>
              </a:spcAft>
            </a:pPr>
            <a:r>
              <a:rPr sz="1250" b="0" i="1">
                <a:solidFill>
                  <a:srgbClr val="2A251D"/>
                </a:solidFill>
                <a:latin typeface="Cambria"/>
              </a:rPr>
              <a:t>“variations in units (e.g., ‘3 hours’ vs. ‘180 minutes’)” — cùng một kết quả, khác đơn vị, bị chấm sai. (§2, tr. 4)</a:t>
            </a:r>
          </a:p>
          <a:p>
            <a:pPr>
              <a:lnSpc>
                <a:spcPct val="112000"/>
              </a:lnSpc>
              <a:spcAft>
                <a:spcPts val="400"/>
              </a:spcAft>
            </a:pPr>
            <a:r>
              <a:rPr sz="1250" b="1" i="0">
                <a:solidFill>
                  <a:srgbClr val="2A251D"/>
                </a:solidFill>
                <a:latin typeface="Cambria"/>
              </a:rPr>
              <a:t>Nói cách khác, chính bài này đã xác nhận đúng loại lỗi ở slide trước (‘mười’ so với ‘10’) là có thật và có quy luật — nhưng chỉ đo một lần, không đo lại qua nhiều vòng.</a:t>
            </a:r>
          </a:p>
        </p:txBody>
      </p:sp>
      <p:cxnSp>
        <p:nvCxnSpPr>
          <p:cNvPr id="13" name="Connector 12"/>
          <p:cNvCxnSpPr/>
          <p:nvPr/>
        </p:nvCxnSpPr>
        <p:spPr>
          <a:xfrm>
            <a:off x="777240" y="5440679"/>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77240" y="5577839"/>
            <a:ext cx="10637215" cy="594360"/>
          </a:xfrm>
          <a:prstGeom prst="rect">
            <a:avLst/>
          </a:prstGeom>
          <a:noFill/>
        </p:spPr>
        <p:txBody>
          <a:bodyPr wrap="square">
            <a:spAutoFit/>
          </a:bodyPr>
          <a:lstStyle/>
          <a:p>
            <a:pPr algn="l">
              <a:lnSpc>
                <a:spcPct val="115000"/>
              </a:lnSpc>
              <a:spcBef>
                <a:spcPts val="0"/>
              </a:spcBef>
              <a:spcAft>
                <a:spcPts val="600"/>
              </a:spcAft>
            </a:pPr>
            <a:r>
              <a:rPr sz="1250" b="0" i="1">
                <a:solidFill>
                  <a:srgbClr val="5C5447"/>
                </a:solidFill>
                <a:latin typeface="Cambria"/>
              </a:rPr>
              <a:t>→ Quá trình huấn luyện là GRPO liên tục (Fig. 1: tới 500 bước của một lần chạy chính sách), không phải nhiều vòng SFT rời rạc kiểu GVT/ReST-EM — và không đo lại văn phong đầu ra theo thời gian.</a:t>
            </a:r>
          </a:p>
        </p:txBody>
      </p:sp>
      <p:sp>
        <p:nvSpPr>
          <p:cNvPr id="15" name="TextBox 14"/>
          <p:cNvSpPr txBox="1"/>
          <p:nvPr/>
        </p:nvSpPr>
        <p:spPr>
          <a:xfrm>
            <a:off x="777240" y="6355080"/>
            <a:ext cx="10637215" cy="365760"/>
          </a:xfrm>
          <a:prstGeom prst="rect">
            <a:avLst/>
          </a:prstGeom>
          <a:noFill/>
        </p:spPr>
        <p:txBody>
          <a:bodyPr wrap="square">
            <a:spAutoFit/>
          </a:bodyPr>
          <a:lstStyle/>
          <a:p>
            <a:pPr algn="l">
              <a:spcBef>
                <a:spcPts val="0"/>
              </a:spcBef>
              <a:spcAft>
                <a:spcPts val="600"/>
              </a:spcAft>
            </a:pPr>
            <a:r>
              <a:rPr sz="950" b="0" i="1">
                <a:solidFill>
                  <a:srgbClr val="5C5447"/>
                </a:solidFill>
                <a:latin typeface="Cambria"/>
              </a:rPr>
              <a:t>Số liệu và ví dụ trích nguyên văn từ bài báo gốc, không làm tròn thêm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777240" y="320040"/>
            <a:ext cx="7315200" cy="274320"/>
          </a:xfrm>
          <a:prstGeom prst="rect">
            <a:avLst/>
          </a:prstGeom>
          <a:noFill/>
        </p:spPr>
        <p:txBody>
          <a:bodyPr wrap="square">
            <a:spAutoFit/>
          </a:bodyPr>
          <a:lstStyle/>
          <a:p>
            <a:pPr algn="l">
              <a:spcBef>
                <a:spcPts val="0"/>
              </a:spcBef>
              <a:spcAft>
                <a:spcPts val="600"/>
              </a:spcAft>
            </a:pPr>
            <a:r>
              <a:rPr sz="950" b="0" i="0">
                <a:solidFill>
                  <a:srgbClr val="5C5447"/>
                </a:solidFill>
                <a:latin typeface="Cambria"/>
              </a:rPr>
              <a:t>VERIFIER LỆCH VĂN PHONG TRONG SELF-TRAINING</a:t>
            </a:r>
          </a:p>
        </p:txBody>
      </p:sp>
      <p:sp>
        <p:nvSpPr>
          <p:cNvPr id="3" name="TextBox 2"/>
          <p:cNvSpPr txBox="1"/>
          <p:nvPr/>
        </p:nvSpPr>
        <p:spPr>
          <a:xfrm>
            <a:off x="10042855" y="320040"/>
            <a:ext cx="1371600" cy="274320"/>
          </a:xfrm>
          <a:prstGeom prst="rect">
            <a:avLst/>
          </a:prstGeom>
          <a:noFill/>
        </p:spPr>
        <p:txBody>
          <a:bodyPr wrap="square">
            <a:spAutoFit/>
          </a:bodyPr>
          <a:lstStyle/>
          <a:p>
            <a:pPr algn="r">
              <a:spcBef>
                <a:spcPts val="0"/>
              </a:spcBef>
              <a:spcAft>
                <a:spcPts val="600"/>
              </a:spcAft>
            </a:pPr>
            <a:r>
              <a:rPr sz="950" b="0" i="0">
                <a:solidFill>
                  <a:srgbClr val="5C5447"/>
                </a:solidFill>
                <a:latin typeface="Cambria"/>
              </a:rPr>
              <a:t>08</a:t>
            </a:r>
          </a:p>
        </p:txBody>
      </p:sp>
      <p:cxnSp>
        <p:nvCxnSpPr>
          <p:cNvPr id="4" name="Connector 3"/>
          <p:cNvCxnSpPr/>
          <p:nvPr/>
        </p:nvCxnSpPr>
        <p:spPr>
          <a:xfrm>
            <a:off x="777240" y="62179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777240"/>
            <a:ext cx="10637215" cy="320040"/>
          </a:xfrm>
          <a:prstGeom prst="rect">
            <a:avLst/>
          </a:prstGeom>
          <a:noFill/>
        </p:spPr>
        <p:txBody>
          <a:bodyPr wrap="square">
            <a:spAutoFit/>
          </a:bodyPr>
          <a:lstStyle/>
          <a:p>
            <a:pPr algn="l">
              <a:spcBef>
                <a:spcPts val="0"/>
              </a:spcBef>
              <a:spcAft>
                <a:spcPts val="0"/>
              </a:spcAft>
            </a:pPr>
            <a:r>
              <a:rPr sz="1300" b="1" i="0">
                <a:solidFill>
                  <a:srgbClr val="7A1F2B"/>
                </a:solidFill>
                <a:latin typeface="Cambria"/>
              </a:rPr>
              <a:t>BÀI GẦN NHẤT — 3/3</a:t>
            </a:r>
          </a:p>
        </p:txBody>
      </p:sp>
      <p:sp>
        <p:nvSpPr>
          <p:cNvPr id="6" name="TextBox 5"/>
          <p:cNvSpPr txBox="1"/>
          <p:nvPr/>
        </p:nvSpPr>
        <p:spPr>
          <a:xfrm>
            <a:off x="777240" y="1078992"/>
            <a:ext cx="10637215" cy="868680"/>
          </a:xfrm>
          <a:prstGeom prst="rect">
            <a:avLst/>
          </a:prstGeom>
          <a:noFill/>
        </p:spPr>
        <p:txBody>
          <a:bodyPr wrap="square">
            <a:spAutoFit/>
          </a:bodyPr>
          <a:lstStyle/>
          <a:p>
            <a:pPr algn="l">
              <a:spcBef>
                <a:spcPts val="0"/>
              </a:spcBef>
              <a:spcAft>
                <a:spcPts val="0"/>
              </a:spcAft>
            </a:pPr>
            <a:r>
              <a:rPr sz="2700" b="1" i="0">
                <a:solidFill>
                  <a:srgbClr val="2A251D"/>
                </a:solidFill>
                <a:latin typeface="Cambria"/>
              </a:rPr>
              <a:t>Teacher-Free Self-Training: hội tụ văn phong nằm ngoài phạm vi đo</a:t>
            </a:r>
          </a:p>
        </p:txBody>
      </p:sp>
      <p:sp>
        <p:nvSpPr>
          <p:cNvPr id="7" name="TextBox 6"/>
          <p:cNvSpPr txBox="1"/>
          <p:nvPr/>
        </p:nvSpPr>
        <p:spPr>
          <a:xfrm>
            <a:off x="777240" y="1874519"/>
            <a:ext cx="10637215" cy="320040"/>
          </a:xfrm>
          <a:prstGeom prst="rect">
            <a:avLst/>
          </a:prstGeom>
          <a:noFill/>
        </p:spPr>
        <p:txBody>
          <a:bodyPr wrap="square">
            <a:spAutoFit/>
          </a:bodyPr>
          <a:lstStyle/>
          <a:p>
            <a:pPr algn="l">
              <a:spcBef>
                <a:spcPts val="0"/>
              </a:spcBef>
              <a:spcAft>
                <a:spcPts val="600"/>
              </a:spcAft>
            </a:pPr>
            <a:r>
              <a:rPr sz="1150" b="0" i="1">
                <a:solidFill>
                  <a:srgbClr val="5C5447"/>
                </a:solidFill>
                <a:latin typeface="Cambria"/>
              </a:rPr>
              <a:t>Strozzi, “Teacher-Free Self-Training Amplifies but Does Not Compound: A Pass@K Crossover on a Free-Verifier Domain”, arXiv 2606.07856 (2026)</a:t>
            </a:r>
          </a:p>
        </p:txBody>
      </p:sp>
      <p:cxnSp>
        <p:nvCxnSpPr>
          <p:cNvPr id="8" name="Connector 7"/>
          <p:cNvCxnSpPr/>
          <p:nvPr/>
        </p:nvCxnSpPr>
        <p:spPr>
          <a:xfrm>
            <a:off x="777240" y="2331719"/>
            <a:ext cx="0" cy="1005840"/>
          </a:xfrm>
          <a:prstGeom prst="line">
            <a:avLst/>
          </a:prstGeom>
          <a:ln w="31750">
            <a:solidFill>
              <a:srgbClr val="7A1F2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33272" y="2285999"/>
            <a:ext cx="10381183" cy="1234440"/>
          </a:xfrm>
          <a:prstGeom prst="rect">
            <a:avLst/>
          </a:prstGeom>
          <a:noFill/>
        </p:spPr>
        <p:txBody>
          <a:bodyPr wrap="square">
            <a:spAutoFit/>
          </a:bodyPr>
          <a:lstStyle/>
          <a:p>
            <a:pPr algn="l">
              <a:spcAft>
                <a:spcPts val="800"/>
              </a:spcAft>
            </a:pPr>
            <a:r>
              <a:rPr sz="1300" b="0" i="1">
                <a:solidFill>
                  <a:srgbClr val="2A251D"/>
                </a:solidFill>
                <a:latin typeface="Cambria"/>
              </a:rPr>
              <a:t>“our diversity metric is solution-set cardinality under a free verifier, not the entropy or n-gram diversity these works track, so the comparison is qualitative rather than a refutation.”</a:t>
            </a:r>
          </a:p>
          <a:p>
            <a:pPr>
              <a:spcBef>
                <a:spcPts val="600"/>
              </a:spcBef>
            </a:pPr>
            <a:r>
              <a:rPr sz="1050" b="1" i="0">
                <a:solidFill>
                  <a:srgbClr val="5C5447"/>
                </a:solidFill>
                <a:latin typeface="Cambria"/>
              </a:rPr>
              <a:t>— arXiv 2606.07856, §2 “Diversity collapse”, tr. 3</a:t>
            </a:r>
          </a:p>
        </p:txBody>
      </p:sp>
      <p:sp>
        <p:nvSpPr>
          <p:cNvPr id="10" name="Rectangle 9"/>
          <p:cNvSpPr/>
          <p:nvPr/>
        </p:nvSpPr>
        <p:spPr>
          <a:xfrm>
            <a:off x="777240" y="3703319"/>
            <a:ext cx="10637215" cy="1417320"/>
          </a:xfrm>
          <a:prstGeom prst="rect">
            <a:avLst/>
          </a:prstGeom>
          <a:solidFill>
            <a:srgbClr val="F2EDE1"/>
          </a:solidFill>
          <a:ln w="9525">
            <a:solidFill>
              <a:srgbClr val="C9BF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777240" y="3703319"/>
            <a:ext cx="0" cy="1417320"/>
          </a:xfrm>
          <a:prstGeom prst="line">
            <a:avLst/>
          </a:prstGeom>
          <a:ln w="38100">
            <a:solidFill>
              <a:srgbClr val="2F4B39"/>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051560" y="3831335"/>
            <a:ext cx="10134295" cy="1161288"/>
          </a:xfrm>
          <a:prstGeom prst="rect">
            <a:avLst/>
          </a:prstGeom>
          <a:noFill/>
        </p:spPr>
        <p:txBody>
          <a:bodyPr wrap="square">
            <a:spAutoFit/>
          </a:bodyPr>
          <a:lstStyle/>
          <a:p>
            <a:pPr>
              <a:spcAft>
                <a:spcPts val="500"/>
              </a:spcAft>
            </a:pPr>
            <a:r>
              <a:rPr sz="1150" b="1" i="0">
                <a:solidFill>
                  <a:srgbClr val="2F4B39"/>
                </a:solidFill>
                <a:latin typeface="Cambria"/>
              </a:rPr>
              <a:t>VÍ DỤ CỤ THỂ — VÌ SAO DOMAIN CỦA HỌ KHÔNG TRẢ LỜI ĐƯỢC CÂU HỎI NÀY</a:t>
            </a:r>
          </a:p>
          <a:p>
            <a:pPr>
              <a:lnSpc>
                <a:spcPct val="112000"/>
              </a:lnSpc>
              <a:spcAft>
                <a:spcPts val="400"/>
              </a:spcAft>
            </a:pPr>
            <a:r>
              <a:rPr sz="1250" b="0" i="0">
                <a:solidFill>
                  <a:srgbClr val="2A251D"/>
                </a:solidFill>
                <a:latin typeface="Cambria"/>
              </a:rPr>
              <a:t>Verifier của họ: “Total, exact, and free; it carries no parameters and no learned judgment” (§4.1) — so khớp chuỗi ký tự của một chương trình DSL, ví dụ Concat([SubStr(CPos(0), CPos(3))]).</a:t>
            </a:r>
          </a:p>
          <a:p>
            <a:pPr>
              <a:lnSpc>
                <a:spcPct val="112000"/>
              </a:lnSpc>
              <a:spcAft>
                <a:spcPts val="400"/>
              </a:spcAft>
            </a:pPr>
            <a:r>
              <a:rPr sz="1250" b="1" i="0">
                <a:solidFill>
                  <a:srgbClr val="2A251D"/>
                </a:solidFill>
                <a:latin typeface="Cambria"/>
              </a:rPr>
              <a:t>Một chương trình DSL không có khái niệm “viết khác kiểu nhưng cùng nghĩa” — khác hẳn toán học, nơi ‘mười’ và ‘10’, \frac và \dfrac cùng biểu diễn một giá trị.</a:t>
            </a:r>
          </a:p>
        </p:txBody>
      </p:sp>
      <p:cxnSp>
        <p:nvCxnSpPr>
          <p:cNvPr id="13" name="Connector 12"/>
          <p:cNvCxnSpPr/>
          <p:nvPr/>
        </p:nvCxnSpPr>
        <p:spPr>
          <a:xfrm>
            <a:off x="777240" y="5349239"/>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77240" y="5486399"/>
            <a:ext cx="10637215" cy="548640"/>
          </a:xfrm>
          <a:prstGeom prst="rect">
            <a:avLst/>
          </a:prstGeom>
          <a:noFill/>
        </p:spPr>
        <p:txBody>
          <a:bodyPr wrap="square">
            <a:spAutoFit/>
          </a:bodyPr>
          <a:lstStyle/>
          <a:p>
            <a:pPr algn="l">
              <a:lnSpc>
                <a:spcPct val="115000"/>
              </a:lnSpc>
              <a:spcBef>
                <a:spcPts val="0"/>
              </a:spcBef>
              <a:spcAft>
                <a:spcPts val="600"/>
              </a:spcAft>
            </a:pPr>
            <a:r>
              <a:rPr sz="1250" b="0" i="1">
                <a:solidFill>
                  <a:srgbClr val="5C5447"/>
                </a:solidFill>
                <a:latin typeface="Cambria"/>
              </a:rPr>
              <a:t>→ Domain của họ (FlashFill) không có hiện tượng “nhiều cách viết cho cùng một đáp án” để đo hội tụ, nên phát hiện “không có hiện tượng collapse” của họ không áp dụng được cho GSM8K/MATH, nơi verifier lệch vì văn phong là có thật (slide trước).</a:t>
            </a:r>
          </a:p>
        </p:txBody>
      </p:sp>
      <p:sp>
        <p:nvSpPr>
          <p:cNvPr id="15" name="TextBox 14"/>
          <p:cNvSpPr txBox="1"/>
          <p:nvPr/>
        </p:nvSpPr>
        <p:spPr>
          <a:xfrm>
            <a:off x="777240" y="6355080"/>
            <a:ext cx="10637215" cy="365760"/>
          </a:xfrm>
          <a:prstGeom prst="rect">
            <a:avLst/>
          </a:prstGeom>
          <a:noFill/>
        </p:spPr>
        <p:txBody>
          <a:bodyPr wrap="square">
            <a:spAutoFit/>
          </a:bodyPr>
          <a:lstStyle/>
          <a:p>
            <a:pPr algn="l">
              <a:spcBef>
                <a:spcPts val="0"/>
              </a:spcBef>
              <a:spcAft>
                <a:spcPts val="600"/>
              </a:spcAft>
            </a:pPr>
            <a:r>
              <a:rPr sz="950" b="0" i="1">
                <a:solidFill>
                  <a:srgbClr val="5C5447"/>
                </a:solidFill>
                <a:latin typeface="Cambria"/>
              </a:rPr>
              <a:t>Trích nguyên văn §4.1 (Roles) và §2 (Diversity collapse and our no-collapse result)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777240" y="320040"/>
            <a:ext cx="7315200" cy="274320"/>
          </a:xfrm>
          <a:prstGeom prst="rect">
            <a:avLst/>
          </a:prstGeom>
          <a:noFill/>
        </p:spPr>
        <p:txBody>
          <a:bodyPr wrap="square">
            <a:spAutoFit/>
          </a:bodyPr>
          <a:lstStyle/>
          <a:p>
            <a:pPr algn="l">
              <a:spcBef>
                <a:spcPts val="0"/>
              </a:spcBef>
              <a:spcAft>
                <a:spcPts val="600"/>
              </a:spcAft>
            </a:pPr>
            <a:r>
              <a:rPr sz="950" b="0" i="0">
                <a:solidFill>
                  <a:srgbClr val="5C5447"/>
                </a:solidFill>
                <a:latin typeface="Cambria"/>
              </a:rPr>
              <a:t>VERIFIER LỆCH VĂN PHONG TRONG SELF-TRAINING</a:t>
            </a:r>
          </a:p>
        </p:txBody>
      </p:sp>
      <p:sp>
        <p:nvSpPr>
          <p:cNvPr id="3" name="TextBox 2"/>
          <p:cNvSpPr txBox="1"/>
          <p:nvPr/>
        </p:nvSpPr>
        <p:spPr>
          <a:xfrm>
            <a:off x="10042855" y="320040"/>
            <a:ext cx="1371600" cy="274320"/>
          </a:xfrm>
          <a:prstGeom prst="rect">
            <a:avLst/>
          </a:prstGeom>
          <a:noFill/>
        </p:spPr>
        <p:txBody>
          <a:bodyPr wrap="square">
            <a:spAutoFit/>
          </a:bodyPr>
          <a:lstStyle/>
          <a:p>
            <a:pPr algn="r">
              <a:spcBef>
                <a:spcPts val="0"/>
              </a:spcBef>
              <a:spcAft>
                <a:spcPts val="600"/>
              </a:spcAft>
            </a:pPr>
            <a:r>
              <a:rPr sz="950" b="0" i="0">
                <a:solidFill>
                  <a:srgbClr val="5C5447"/>
                </a:solidFill>
                <a:latin typeface="Cambria"/>
              </a:rPr>
              <a:t>09</a:t>
            </a:r>
          </a:p>
        </p:txBody>
      </p:sp>
      <p:cxnSp>
        <p:nvCxnSpPr>
          <p:cNvPr id="4" name="Connector 3"/>
          <p:cNvCxnSpPr/>
          <p:nvPr/>
        </p:nvCxnSpPr>
        <p:spPr>
          <a:xfrm>
            <a:off x="777240" y="62179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777240"/>
            <a:ext cx="10637215" cy="320040"/>
          </a:xfrm>
          <a:prstGeom prst="rect">
            <a:avLst/>
          </a:prstGeom>
          <a:noFill/>
        </p:spPr>
        <p:txBody>
          <a:bodyPr wrap="square">
            <a:spAutoFit/>
          </a:bodyPr>
          <a:lstStyle/>
          <a:p>
            <a:pPr algn="l">
              <a:spcBef>
                <a:spcPts val="0"/>
              </a:spcBef>
              <a:spcAft>
                <a:spcPts val="0"/>
              </a:spcAft>
            </a:pPr>
            <a:r>
              <a:rPr sz="1300" b="1" i="0">
                <a:solidFill>
                  <a:srgbClr val="7A1F2B"/>
                </a:solidFill>
                <a:latin typeface="Cambria"/>
              </a:rPr>
              <a:t>KHOẢNG TRỐNG</a:t>
            </a:r>
          </a:p>
        </p:txBody>
      </p:sp>
      <p:sp>
        <p:nvSpPr>
          <p:cNvPr id="6" name="TextBox 5"/>
          <p:cNvSpPr txBox="1"/>
          <p:nvPr/>
        </p:nvSpPr>
        <p:spPr>
          <a:xfrm>
            <a:off x="777240" y="1078992"/>
            <a:ext cx="10637215" cy="868680"/>
          </a:xfrm>
          <a:prstGeom prst="rect">
            <a:avLst/>
          </a:prstGeom>
          <a:noFill/>
        </p:spPr>
        <p:txBody>
          <a:bodyPr wrap="square">
            <a:spAutoFit/>
          </a:bodyPr>
          <a:lstStyle/>
          <a:p>
            <a:pPr algn="l">
              <a:spcBef>
                <a:spcPts val="0"/>
              </a:spcBef>
              <a:spcAft>
                <a:spcPts val="0"/>
              </a:spcAft>
            </a:pPr>
            <a:r>
              <a:rPr sz="2700" b="1" i="0">
                <a:solidFill>
                  <a:srgbClr val="2A251D"/>
                </a:solidFill>
                <a:latin typeface="Cambria"/>
              </a:rPr>
              <a:t>Chưa bài nào ghép đủ ba trục — ma trận đối chiếu</a:t>
            </a:r>
          </a:p>
        </p:txBody>
      </p:sp>
      <p:graphicFrame>
        <p:nvGraphicFramePr>
          <p:cNvPr id="7" name="Table 6"/>
          <p:cNvGraphicFramePr>
            <a:graphicFrameLocks noGrp="1"/>
          </p:cNvGraphicFramePr>
          <p:nvPr/>
        </p:nvGraphicFramePr>
        <p:xfrm>
          <a:off x="777240" y="1874519"/>
          <a:ext cx="10607040" cy="2834640"/>
        </p:xfrm>
        <a:graphic>
          <a:graphicData uri="http://schemas.openxmlformats.org/drawingml/2006/table">
            <a:tbl>
              <a:tblPr firstRow="1" bandRow="1">
                <a:tableStyleId>{5C22544A-7EE6-4342-B048-85BDC9FD1C3A}</a:tableStyleId>
              </a:tblPr>
              <a:tblGrid>
                <a:gridCol w="3291840"/>
                <a:gridCol w="2468880"/>
                <a:gridCol w="2377440"/>
                <a:gridCol w="2468880"/>
              </a:tblGrid>
              <a:tr h="566928">
                <a:tc>
                  <a:txBody>
                    <a:bodyPr/>
                    <a:lstStyle/>
                    <a:p>
                      <a:r>
                        <a:rPr sz="1200" b="1" i="0">
                          <a:solidFill>
                            <a:srgbClr val="FFFFFF"/>
                          </a:solidFill>
                          <a:latin typeface="Cambria"/>
                        </a:rPr>
                        <a:t>Bài báo</a:t>
                      </a:r>
                    </a:p>
                  </a:txBody>
                  <a:tcPr marT="63500" marB="63500" marL="101600">
                    <a:solidFill>
                      <a:srgbClr val="2A251D"/>
                    </a:solidFill>
                  </a:tcPr>
                </a:tc>
                <a:tc>
                  <a:txBody>
                    <a:bodyPr/>
                    <a:lstStyle/>
                    <a:p>
                      <a:r>
                        <a:rPr sz="1200" b="1" i="0">
                          <a:solidFill>
                            <a:srgbClr val="FFFFFF"/>
                          </a:solidFill>
                          <a:latin typeface="Cambria"/>
                        </a:rPr>
                        <a:t>Lặp nhiều vòng
(không phải một lần)</a:t>
                      </a:r>
                    </a:p>
                  </a:txBody>
                  <a:tcPr marT="63500" marB="63500" marL="101600">
                    <a:solidFill>
                      <a:srgbClr val="2A251D"/>
                    </a:solidFill>
                  </a:tcPr>
                </a:tc>
                <a:tc>
                  <a:txBody>
                    <a:bodyPr/>
                    <a:lstStyle/>
                    <a:p>
                      <a:r>
                        <a:rPr sz="1200" b="1" i="0">
                          <a:solidFill>
                            <a:srgbClr val="FFFFFF"/>
                          </a:solidFill>
                          <a:latin typeface="Cambria"/>
                        </a:rPr>
                        <a:t>Verifier lệch
vì văn phong</a:t>
                      </a:r>
                    </a:p>
                  </a:txBody>
                  <a:tcPr marT="63500" marB="63500" marL="101600">
                    <a:solidFill>
                      <a:srgbClr val="2A251D"/>
                    </a:solidFill>
                  </a:tcPr>
                </a:tc>
                <a:tc>
                  <a:txBody>
                    <a:bodyPr/>
                    <a:lstStyle/>
                    <a:p>
                      <a:r>
                        <a:rPr sz="1200" b="1" i="0">
                          <a:solidFill>
                            <a:srgbClr val="FFFFFF"/>
                          </a:solidFill>
                          <a:latin typeface="Cambria"/>
                        </a:rPr>
                        <a:t>Đo văn phong
hội tụ theo vòng</a:t>
                      </a:r>
                    </a:p>
                  </a:txBody>
                  <a:tcPr marT="63500" marB="63500" marL="101600">
                    <a:solidFill>
                      <a:srgbClr val="2A251D"/>
                    </a:solidFill>
                  </a:tcPr>
                </a:tc>
              </a:tr>
              <a:tr h="566928">
                <a:tc>
                  <a:txBody>
                    <a:bodyPr/>
                    <a:lstStyle/>
                    <a:p>
                      <a:r>
                        <a:rPr sz="1250" b="0" i="0">
                          <a:solidFill>
                            <a:srgbClr val="2A251D"/>
                          </a:solidFill>
                          <a:latin typeface="Cambria"/>
                        </a:rPr>
                        <a:t>ReST-EM (2312.06585)</a:t>
                      </a:r>
                    </a:p>
                  </a:txBody>
                  <a:tcPr marT="63500" marB="63500" marL="101600">
                    <a:solidFill>
                      <a:srgbClr val="FAF7F0"/>
                    </a:solidFill>
                  </a:tcPr>
                </a:tc>
                <a:tc>
                  <a:txBody>
                    <a:bodyPr/>
                    <a:lstStyle/>
                    <a:p>
                      <a:r>
                        <a:rPr sz="1250" b="1" i="0">
                          <a:solidFill>
                            <a:srgbClr val="2F4B39"/>
                          </a:solidFill>
                          <a:latin typeface="Cambria"/>
                        </a:rPr>
                        <a:t>Có (3 vòng, MATH)</a:t>
                      </a:r>
                    </a:p>
                  </a:txBody>
                  <a:tcPr marT="63500" marB="63500" marL="101600">
                    <a:solidFill>
                      <a:srgbClr val="FAF7F0"/>
                    </a:solidFill>
                  </a:tcPr>
                </a:tc>
                <a:tc>
                  <a:txBody>
                    <a:bodyPr/>
                    <a:lstStyle/>
                    <a:p>
                      <a:r>
                        <a:rPr sz="1250" b="1" i="0">
                          <a:solidFill>
                            <a:srgbClr val="7A1F2B"/>
                          </a:solidFill>
                          <a:latin typeface="Cambria"/>
                        </a:rPr>
                        <a:t>Không (reward xem là chuẩn)</a:t>
                      </a:r>
                    </a:p>
                  </a:txBody>
                  <a:tcPr marT="63500" marB="63500" marL="101600">
                    <a:solidFill>
                      <a:srgbClr val="FAF7F0"/>
                    </a:solidFill>
                  </a:tcPr>
                </a:tc>
                <a:tc>
                  <a:txBody>
                    <a:bodyPr/>
                    <a:lstStyle/>
                    <a:p>
                      <a:r>
                        <a:rPr sz="1250" b="1" i="0">
                          <a:solidFill>
                            <a:srgbClr val="7A1F2B"/>
                          </a:solidFill>
                          <a:latin typeface="Cambria"/>
                        </a:rPr>
                        <a:t>Không</a:t>
                      </a:r>
                    </a:p>
                  </a:txBody>
                  <a:tcPr marT="63500" marB="63500" marL="101600">
                    <a:solidFill>
                      <a:srgbClr val="FAF7F0"/>
                    </a:solidFill>
                  </a:tcPr>
                </a:tc>
              </a:tr>
              <a:tr h="566928">
                <a:tc>
                  <a:txBody>
                    <a:bodyPr/>
                    <a:lstStyle/>
                    <a:p>
                      <a:r>
                        <a:rPr sz="1250" b="0" i="0">
                          <a:solidFill>
                            <a:srgbClr val="2A251D"/>
                          </a:solidFill>
                          <a:latin typeface="Cambria"/>
                        </a:rPr>
                        <a:t>From Accuracy to Robustness (2505.22203)</a:t>
                      </a:r>
                    </a:p>
                  </a:txBody>
                  <a:tcPr marT="63500" marB="63500" marL="101600">
                    <a:solidFill>
                      <a:srgbClr val="F2EDE1"/>
                    </a:solidFill>
                  </a:tcPr>
                </a:tc>
                <a:tc>
                  <a:txBody>
                    <a:bodyPr/>
                    <a:lstStyle/>
                    <a:p>
                      <a:r>
                        <a:rPr sz="1250" b="1" i="0">
                          <a:solidFill>
                            <a:srgbClr val="7A1F2B"/>
                          </a:solidFill>
                          <a:latin typeface="Cambria"/>
                        </a:rPr>
                        <a:t>Không (một lần train GRPO)</a:t>
                      </a:r>
                    </a:p>
                  </a:txBody>
                  <a:tcPr marT="63500" marB="63500" marL="101600">
                    <a:solidFill>
                      <a:srgbClr val="F2EDE1"/>
                    </a:solidFill>
                  </a:tcPr>
                </a:tc>
                <a:tc>
                  <a:txBody>
                    <a:bodyPr/>
                    <a:lstStyle/>
                    <a:p>
                      <a:r>
                        <a:rPr sz="1250" b="1" i="0">
                          <a:solidFill>
                            <a:srgbClr val="2F4B39"/>
                          </a:solidFill>
                          <a:latin typeface="Cambria"/>
                        </a:rPr>
                        <a:t>Có (recall 86%)</a:t>
                      </a:r>
                    </a:p>
                  </a:txBody>
                  <a:tcPr marT="63500" marB="63500" marL="101600">
                    <a:solidFill>
                      <a:srgbClr val="F2EDE1"/>
                    </a:solidFill>
                  </a:tcPr>
                </a:tc>
                <a:tc>
                  <a:txBody>
                    <a:bodyPr/>
                    <a:lstStyle/>
                    <a:p>
                      <a:r>
                        <a:rPr sz="1250" b="1" i="0">
                          <a:solidFill>
                            <a:srgbClr val="7A1F2B"/>
                          </a:solidFill>
                          <a:latin typeface="Cambria"/>
                        </a:rPr>
                        <a:t>Không</a:t>
                      </a:r>
                    </a:p>
                  </a:txBody>
                  <a:tcPr marT="63500" marB="63500" marL="101600">
                    <a:solidFill>
                      <a:srgbClr val="F2EDE1"/>
                    </a:solidFill>
                  </a:tcPr>
                </a:tc>
              </a:tr>
              <a:tr h="566928">
                <a:tc>
                  <a:txBody>
                    <a:bodyPr/>
                    <a:lstStyle/>
                    <a:p>
                      <a:r>
                        <a:rPr sz="1250" b="0" i="0">
                          <a:solidFill>
                            <a:srgbClr val="2A251D"/>
                          </a:solidFill>
                          <a:latin typeface="Cambria"/>
                        </a:rPr>
                        <a:t>Teacher-Free Self-Training (2606.07856)</a:t>
                      </a:r>
                    </a:p>
                  </a:txBody>
                  <a:tcPr marT="63500" marB="63500" marL="101600">
                    <a:solidFill>
                      <a:srgbClr val="FAF7F0"/>
                    </a:solidFill>
                  </a:tcPr>
                </a:tc>
                <a:tc>
                  <a:txBody>
                    <a:bodyPr/>
                    <a:lstStyle/>
                    <a:p>
                      <a:r>
                        <a:rPr sz="1250" b="1" i="0">
                          <a:solidFill>
                            <a:srgbClr val="2F4B39"/>
                          </a:solidFill>
                          <a:latin typeface="Cambria"/>
                        </a:rPr>
                        <a:t>Có (3 vòng STaR)</a:t>
                      </a:r>
                    </a:p>
                  </a:txBody>
                  <a:tcPr marT="63500" marB="63500" marL="101600">
                    <a:solidFill>
                      <a:srgbClr val="FAF7F0"/>
                    </a:solidFill>
                  </a:tcPr>
                </a:tc>
                <a:tc>
                  <a:txBody>
                    <a:bodyPr/>
                    <a:lstStyle/>
                    <a:p>
                      <a:r>
                        <a:rPr sz="1250" b="1" i="0">
                          <a:solidFill>
                            <a:srgbClr val="7A1F2B"/>
                          </a:solidFill>
                          <a:latin typeface="Cambria"/>
                        </a:rPr>
                        <a:t>Không (verifier hoàn hảo)</a:t>
                      </a:r>
                    </a:p>
                  </a:txBody>
                  <a:tcPr marT="63500" marB="63500" marL="101600">
                    <a:solidFill>
                      <a:srgbClr val="FAF7F0"/>
                    </a:solidFill>
                  </a:tcPr>
                </a:tc>
                <a:tc>
                  <a:txBody>
                    <a:bodyPr/>
                    <a:lstStyle/>
                    <a:p>
                      <a:r>
                        <a:rPr sz="1250" b="1" i="0">
                          <a:solidFill>
                            <a:srgbClr val="7A1F2B"/>
                          </a:solidFill>
                          <a:latin typeface="Cambria"/>
                        </a:rPr>
                        <a:t>Không (tác giả nêu rõ)</a:t>
                      </a:r>
                    </a:p>
                  </a:txBody>
                  <a:tcPr marT="63500" marB="63500" marL="101600">
                    <a:solidFill>
                      <a:srgbClr val="FAF7F0"/>
                    </a:solidFill>
                  </a:tcPr>
                </a:tc>
              </a:tr>
              <a:tr h="566928">
                <a:tc>
                  <a:txBody>
                    <a:bodyPr/>
                    <a:lstStyle/>
                    <a:p>
                      <a:r>
                        <a:rPr sz="1250" b="0" i="0">
                          <a:solidFill>
                            <a:srgbClr val="2A251D"/>
                          </a:solidFill>
                          <a:latin typeface="Cambria"/>
                        </a:rPr>
                        <a:t>Đề tài này</a:t>
                      </a:r>
                    </a:p>
                  </a:txBody>
                  <a:tcPr marT="63500" marB="63500" marL="101600">
                    <a:solidFill>
                      <a:srgbClr val="F2EDE1"/>
                    </a:solidFill>
                  </a:tcPr>
                </a:tc>
                <a:tc>
                  <a:txBody>
                    <a:bodyPr/>
                    <a:lstStyle/>
                    <a:p>
                      <a:r>
                        <a:rPr sz="1250" b="1" i="0">
                          <a:solidFill>
                            <a:srgbClr val="2F4B39"/>
                          </a:solidFill>
                          <a:latin typeface="Cambria"/>
                        </a:rPr>
                        <a:t>Có</a:t>
                      </a:r>
                    </a:p>
                  </a:txBody>
                  <a:tcPr marT="63500" marB="63500" marL="101600">
                    <a:solidFill>
                      <a:srgbClr val="F2EDE1"/>
                    </a:solidFill>
                  </a:tcPr>
                </a:tc>
                <a:tc>
                  <a:txBody>
                    <a:bodyPr/>
                    <a:lstStyle/>
                    <a:p>
                      <a:r>
                        <a:rPr sz="1250" b="1" i="0">
                          <a:solidFill>
                            <a:srgbClr val="2F4B39"/>
                          </a:solidFill>
                          <a:latin typeface="Cambria"/>
                        </a:rPr>
                        <a:t>Có</a:t>
                      </a:r>
                    </a:p>
                  </a:txBody>
                  <a:tcPr marT="63500" marB="63500" marL="101600">
                    <a:solidFill>
                      <a:srgbClr val="F2EDE1"/>
                    </a:solidFill>
                  </a:tcPr>
                </a:tc>
                <a:tc>
                  <a:txBody>
                    <a:bodyPr/>
                    <a:lstStyle/>
                    <a:p>
                      <a:r>
                        <a:rPr sz="1250" b="1" i="0">
                          <a:solidFill>
                            <a:srgbClr val="2F4B39"/>
                          </a:solidFill>
                          <a:latin typeface="Cambria"/>
                        </a:rPr>
                        <a:t>Có</a:t>
                      </a:r>
                    </a:p>
                  </a:txBody>
                  <a:tcPr marT="63500" marB="63500" marL="101600">
                    <a:solidFill>
                      <a:srgbClr val="F2EDE1"/>
                    </a:solidFill>
                  </a:tcPr>
                </a:tc>
              </a:tr>
            </a:tbl>
          </a:graphicData>
        </a:graphic>
      </p:graphicFrame>
      <p:cxnSp>
        <p:nvCxnSpPr>
          <p:cNvPr id="8" name="Connector 7"/>
          <p:cNvCxnSpPr/>
          <p:nvPr/>
        </p:nvCxnSpPr>
        <p:spPr>
          <a:xfrm>
            <a:off x="777240" y="4983479"/>
            <a:ext cx="0" cy="594360"/>
          </a:xfrm>
          <a:prstGeom prst="line">
            <a:avLst/>
          </a:prstGeom>
          <a:ln w="31750">
            <a:solidFill>
              <a:srgbClr val="2F4B39"/>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33272" y="4937759"/>
            <a:ext cx="10381183" cy="822960"/>
          </a:xfrm>
          <a:prstGeom prst="rect">
            <a:avLst/>
          </a:prstGeom>
          <a:noFill/>
        </p:spPr>
        <p:txBody>
          <a:bodyPr wrap="square">
            <a:spAutoFit/>
          </a:bodyPr>
          <a:lstStyle/>
          <a:p>
            <a:pPr algn="l">
              <a:spcAft>
                <a:spcPts val="800"/>
              </a:spcAft>
            </a:pPr>
            <a:r>
              <a:rPr sz="1400" b="0" i="1">
                <a:solidFill>
                  <a:srgbClr val="2A251D"/>
                </a:solidFill>
                <a:latin typeface="Cambria"/>
              </a:rPr>
              <a:t>“Chưa nghiên cứu nào ghép đủ ba mảnh: verifier lệch vì văn phong, lặp nhiều vòng, và đo văn phong hội tụ theo thời gian. Đó là phần đề tài này thực hiện.”</a:t>
            </a:r>
          </a:p>
          <a:p>
            <a:pPr>
              <a:spcBef>
                <a:spcPts val="600"/>
              </a:spcBef>
            </a:pPr>
            <a:r>
              <a:rPr sz="1100" b="1" i="0">
                <a:solidFill>
                  <a:srgbClr val="5C5447"/>
                </a:solidFill>
                <a:latin typeface="Cambria"/>
              </a:rPr>
              <a:t>— Kết luận rút ra từ ba bảng đối chiếu ở trên</a:t>
            </a:r>
          </a:p>
        </p:txBody>
      </p:sp>
      <p:sp>
        <p:nvSpPr>
          <p:cNvPr id="10" name="TextBox 9"/>
          <p:cNvSpPr txBox="1"/>
          <p:nvPr/>
        </p:nvSpPr>
        <p:spPr>
          <a:xfrm>
            <a:off x="777240" y="6355080"/>
            <a:ext cx="10637215" cy="365760"/>
          </a:xfrm>
          <a:prstGeom prst="rect">
            <a:avLst/>
          </a:prstGeom>
          <a:noFill/>
        </p:spPr>
        <p:txBody>
          <a:bodyPr wrap="square">
            <a:spAutoFit/>
          </a:bodyPr>
          <a:lstStyle/>
          <a:p>
            <a:pPr algn="l">
              <a:spcBef>
                <a:spcPts val="0"/>
              </a:spcBef>
              <a:spcAft>
                <a:spcPts val="600"/>
              </a:spcAft>
            </a:pPr>
            <a:r>
              <a:rPr sz="950" b="0" i="1">
                <a:solidFill>
                  <a:srgbClr val="5C5447"/>
                </a:solidFill>
                <a:latin typeface="Cambria"/>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777240" y="320040"/>
            <a:ext cx="7315200" cy="274320"/>
          </a:xfrm>
          <a:prstGeom prst="rect">
            <a:avLst/>
          </a:prstGeom>
          <a:noFill/>
        </p:spPr>
        <p:txBody>
          <a:bodyPr wrap="square">
            <a:spAutoFit/>
          </a:bodyPr>
          <a:lstStyle/>
          <a:p>
            <a:pPr algn="l">
              <a:spcBef>
                <a:spcPts val="0"/>
              </a:spcBef>
              <a:spcAft>
                <a:spcPts val="600"/>
              </a:spcAft>
            </a:pPr>
            <a:r>
              <a:rPr sz="950" b="0" i="0">
                <a:solidFill>
                  <a:srgbClr val="5C5447"/>
                </a:solidFill>
                <a:latin typeface="Cambria"/>
              </a:rPr>
              <a:t>VERIFIER LỆCH VĂN PHONG TRONG SELF-TRAINING</a:t>
            </a:r>
          </a:p>
        </p:txBody>
      </p:sp>
      <p:sp>
        <p:nvSpPr>
          <p:cNvPr id="3" name="TextBox 2"/>
          <p:cNvSpPr txBox="1"/>
          <p:nvPr/>
        </p:nvSpPr>
        <p:spPr>
          <a:xfrm>
            <a:off x="10042855" y="320040"/>
            <a:ext cx="1371600" cy="274320"/>
          </a:xfrm>
          <a:prstGeom prst="rect">
            <a:avLst/>
          </a:prstGeom>
          <a:noFill/>
        </p:spPr>
        <p:txBody>
          <a:bodyPr wrap="square">
            <a:spAutoFit/>
          </a:bodyPr>
          <a:lstStyle/>
          <a:p>
            <a:pPr algn="r">
              <a:spcBef>
                <a:spcPts val="0"/>
              </a:spcBef>
              <a:spcAft>
                <a:spcPts val="600"/>
              </a:spcAft>
            </a:pPr>
            <a:r>
              <a:rPr sz="950" b="0" i="0">
                <a:solidFill>
                  <a:srgbClr val="5C5447"/>
                </a:solidFill>
                <a:latin typeface="Cambria"/>
              </a:rPr>
              <a:t>10</a:t>
            </a:r>
          </a:p>
        </p:txBody>
      </p:sp>
      <p:cxnSp>
        <p:nvCxnSpPr>
          <p:cNvPr id="4" name="Connector 3"/>
          <p:cNvCxnSpPr/>
          <p:nvPr/>
        </p:nvCxnSpPr>
        <p:spPr>
          <a:xfrm>
            <a:off x="777240" y="62179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777240"/>
            <a:ext cx="10637215" cy="320040"/>
          </a:xfrm>
          <a:prstGeom prst="rect">
            <a:avLst/>
          </a:prstGeom>
          <a:noFill/>
        </p:spPr>
        <p:txBody>
          <a:bodyPr wrap="square">
            <a:spAutoFit/>
          </a:bodyPr>
          <a:lstStyle/>
          <a:p>
            <a:pPr algn="l">
              <a:spcBef>
                <a:spcPts val="0"/>
              </a:spcBef>
              <a:spcAft>
                <a:spcPts val="0"/>
              </a:spcAft>
            </a:pPr>
            <a:r>
              <a:rPr sz="1300" b="1" i="0">
                <a:solidFill>
                  <a:srgbClr val="7A1F2B"/>
                </a:solidFill>
                <a:latin typeface="Cambria"/>
              </a:rPr>
              <a:t>PHƯƠNG PHÁP ĐO</a:t>
            </a:r>
          </a:p>
        </p:txBody>
      </p:sp>
      <p:sp>
        <p:nvSpPr>
          <p:cNvPr id="6" name="TextBox 5"/>
          <p:cNvSpPr txBox="1"/>
          <p:nvPr/>
        </p:nvSpPr>
        <p:spPr>
          <a:xfrm>
            <a:off x="777240" y="1078992"/>
            <a:ext cx="10637215" cy="868680"/>
          </a:xfrm>
          <a:prstGeom prst="rect">
            <a:avLst/>
          </a:prstGeom>
          <a:noFill/>
        </p:spPr>
        <p:txBody>
          <a:bodyPr wrap="square">
            <a:spAutoFit/>
          </a:bodyPr>
          <a:lstStyle/>
          <a:p>
            <a:pPr algn="l">
              <a:spcBef>
                <a:spcPts val="0"/>
              </a:spcBef>
              <a:spcAft>
                <a:spcPts val="0"/>
              </a:spcAft>
            </a:pPr>
            <a:r>
              <a:rPr sz="2700" b="1" i="0">
                <a:solidFill>
                  <a:srgbClr val="2A251D"/>
                </a:solidFill>
                <a:latin typeface="Cambria"/>
              </a:rPr>
              <a:t>Ba con số, đo song song qua mỗi vòng train</a:t>
            </a:r>
          </a:p>
        </p:txBody>
      </p:sp>
      <p:sp>
        <p:nvSpPr>
          <p:cNvPr id="7" name="TextBox 6"/>
          <p:cNvSpPr txBox="1"/>
          <p:nvPr/>
        </p:nvSpPr>
        <p:spPr>
          <a:xfrm>
            <a:off x="777240" y="1874519"/>
            <a:ext cx="3301898" cy="457200"/>
          </a:xfrm>
          <a:prstGeom prst="rect">
            <a:avLst/>
          </a:prstGeom>
          <a:noFill/>
        </p:spPr>
        <p:txBody>
          <a:bodyPr wrap="square">
            <a:spAutoFit/>
          </a:bodyPr>
          <a:lstStyle/>
          <a:p>
            <a:pPr algn="l">
              <a:spcBef>
                <a:spcPts val="0"/>
              </a:spcBef>
              <a:spcAft>
                <a:spcPts val="600"/>
              </a:spcAft>
            </a:pPr>
            <a:r>
              <a:rPr sz="1900" b="1" i="0">
                <a:solidFill>
                  <a:srgbClr val="7A1F2B"/>
                </a:solidFill>
                <a:latin typeface="Cambria"/>
              </a:rPr>
              <a:t>pass@1</a:t>
            </a:r>
          </a:p>
        </p:txBody>
      </p:sp>
      <p:sp>
        <p:nvSpPr>
          <p:cNvPr id="8" name="TextBox 7"/>
          <p:cNvSpPr txBox="1"/>
          <p:nvPr/>
        </p:nvSpPr>
        <p:spPr>
          <a:xfrm>
            <a:off x="777240" y="2468879"/>
            <a:ext cx="3301898" cy="822960"/>
          </a:xfrm>
          <a:prstGeom prst="rect">
            <a:avLst/>
          </a:prstGeom>
          <a:noFill/>
        </p:spPr>
        <p:txBody>
          <a:bodyPr wrap="square">
            <a:spAutoFit/>
          </a:bodyPr>
          <a:lstStyle/>
          <a:p>
            <a:pPr algn="l">
              <a:lnSpc>
                <a:spcPct val="115000"/>
              </a:lnSpc>
              <a:spcBef>
                <a:spcPts val="0"/>
              </a:spcBef>
              <a:spcAft>
                <a:spcPts val="0"/>
              </a:spcAft>
            </a:pPr>
            <a:r>
              <a:rPr sz="1300" b="0" i="0">
                <a:solidFill>
                  <a:srgbClr val="2A251D"/>
                </a:solidFill>
                <a:latin typeface="Cambria"/>
              </a:rPr>
              <a:t>Làm 1 lần, tỉ lệ verifier chấp nhận</a:t>
            </a:r>
          </a:p>
        </p:txBody>
      </p:sp>
      <p:cxnSp>
        <p:nvCxnSpPr>
          <p:cNvPr id="9" name="Connector 8"/>
          <p:cNvCxnSpPr/>
          <p:nvPr/>
        </p:nvCxnSpPr>
        <p:spPr>
          <a:xfrm>
            <a:off x="4262018.333333334" y="1874519"/>
            <a:ext cx="0.0" cy="137160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444898" y="1874519"/>
            <a:ext cx="3301898" cy="457200"/>
          </a:xfrm>
          <a:prstGeom prst="rect">
            <a:avLst/>
          </a:prstGeom>
          <a:noFill/>
        </p:spPr>
        <p:txBody>
          <a:bodyPr wrap="square">
            <a:spAutoFit/>
          </a:bodyPr>
          <a:lstStyle/>
          <a:p>
            <a:pPr algn="l">
              <a:spcBef>
                <a:spcPts val="0"/>
              </a:spcBef>
              <a:spcAft>
                <a:spcPts val="600"/>
              </a:spcAft>
            </a:pPr>
            <a:r>
              <a:rPr sz="1900" b="1" i="0">
                <a:solidFill>
                  <a:srgbClr val="7A1F2B"/>
                </a:solidFill>
                <a:latin typeface="Cambria"/>
              </a:rPr>
              <a:t>pass@k</a:t>
            </a:r>
          </a:p>
        </p:txBody>
      </p:sp>
      <p:sp>
        <p:nvSpPr>
          <p:cNvPr id="11" name="TextBox 10"/>
          <p:cNvSpPr txBox="1"/>
          <p:nvPr/>
        </p:nvSpPr>
        <p:spPr>
          <a:xfrm>
            <a:off x="4444898" y="2468879"/>
            <a:ext cx="3301898" cy="822960"/>
          </a:xfrm>
          <a:prstGeom prst="rect">
            <a:avLst/>
          </a:prstGeom>
          <a:noFill/>
        </p:spPr>
        <p:txBody>
          <a:bodyPr wrap="square">
            <a:spAutoFit/>
          </a:bodyPr>
          <a:lstStyle/>
          <a:p>
            <a:pPr algn="l">
              <a:lnSpc>
                <a:spcPct val="115000"/>
              </a:lnSpc>
              <a:spcBef>
                <a:spcPts val="0"/>
              </a:spcBef>
              <a:spcAft>
                <a:spcPts val="0"/>
              </a:spcAft>
            </a:pPr>
            <a:r>
              <a:rPr sz="1300" b="0" i="0">
                <a:solidFill>
                  <a:srgbClr val="2A251D"/>
                </a:solidFill>
                <a:latin typeface="Cambria"/>
              </a:rPr>
              <a:t>Làm k lần, tỉ lệ có ít nhất 1 lần verifier chấp nhận</a:t>
            </a:r>
          </a:p>
        </p:txBody>
      </p:sp>
      <p:cxnSp>
        <p:nvCxnSpPr>
          <p:cNvPr id="12" name="Connector 11"/>
          <p:cNvCxnSpPr/>
          <p:nvPr/>
        </p:nvCxnSpPr>
        <p:spPr>
          <a:xfrm>
            <a:off x="7929676.666666667" y="1874519"/>
            <a:ext cx="0.0" cy="137160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112556" y="1874519"/>
            <a:ext cx="3301898" cy="457200"/>
          </a:xfrm>
          <a:prstGeom prst="rect">
            <a:avLst/>
          </a:prstGeom>
          <a:noFill/>
        </p:spPr>
        <p:txBody>
          <a:bodyPr wrap="square">
            <a:spAutoFit/>
          </a:bodyPr>
          <a:lstStyle/>
          <a:p>
            <a:pPr algn="l">
              <a:spcBef>
                <a:spcPts val="0"/>
              </a:spcBef>
              <a:spcAft>
                <a:spcPts val="600"/>
              </a:spcAft>
            </a:pPr>
            <a:r>
              <a:rPr sz="1900" b="1" i="0">
                <a:solidFill>
                  <a:srgbClr val="7A1F2B"/>
                </a:solidFill>
                <a:latin typeface="Cambria"/>
              </a:rPr>
              <a:t>Văn phong</a:t>
            </a:r>
          </a:p>
        </p:txBody>
      </p:sp>
      <p:sp>
        <p:nvSpPr>
          <p:cNvPr id="14" name="TextBox 13"/>
          <p:cNvSpPr txBox="1"/>
          <p:nvPr/>
        </p:nvSpPr>
        <p:spPr>
          <a:xfrm>
            <a:off x="8112556" y="2468879"/>
            <a:ext cx="3301898" cy="822960"/>
          </a:xfrm>
          <a:prstGeom prst="rect">
            <a:avLst/>
          </a:prstGeom>
          <a:noFill/>
        </p:spPr>
        <p:txBody>
          <a:bodyPr wrap="square">
            <a:spAutoFit/>
          </a:bodyPr>
          <a:lstStyle/>
          <a:p>
            <a:pPr algn="l">
              <a:lnSpc>
                <a:spcPct val="115000"/>
              </a:lnSpc>
              <a:spcBef>
                <a:spcPts val="0"/>
              </a:spcBef>
              <a:spcAft>
                <a:spcPts val="0"/>
              </a:spcAft>
            </a:pPr>
            <a:r>
              <a:rPr sz="1300" b="0" i="0">
                <a:solidFill>
                  <a:srgbClr val="2A251D"/>
                </a:solidFill>
                <a:latin typeface="Cambria"/>
              </a:rPr>
              <a:t>Đếm kiểu viết đáp án (\boxed{}, phân số, thập phân...) qua từng vòng</a:t>
            </a:r>
          </a:p>
        </p:txBody>
      </p:sp>
      <p:cxnSp>
        <p:nvCxnSpPr>
          <p:cNvPr id="15" name="Connector 14"/>
          <p:cNvCxnSpPr/>
          <p:nvPr/>
        </p:nvCxnSpPr>
        <p:spPr>
          <a:xfrm>
            <a:off x="777240" y="3566159"/>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77240" y="3749039"/>
            <a:ext cx="10637215" cy="365760"/>
          </a:xfrm>
          <a:prstGeom prst="rect">
            <a:avLst/>
          </a:prstGeom>
          <a:noFill/>
        </p:spPr>
        <p:txBody>
          <a:bodyPr wrap="square">
            <a:spAutoFit/>
          </a:bodyPr>
          <a:lstStyle/>
          <a:p>
            <a:pPr algn="l">
              <a:spcBef>
                <a:spcPts val="0"/>
              </a:spcBef>
              <a:spcAft>
                <a:spcPts val="600"/>
              </a:spcAft>
            </a:pPr>
            <a:r>
              <a:rPr sz="1350" b="1" i="0">
                <a:solidFill>
                  <a:srgbClr val="2A251D"/>
                </a:solidFill>
                <a:latin typeface="Cambria"/>
              </a:rPr>
              <a:t>Cách đọc kết quả:</a:t>
            </a:r>
          </a:p>
        </p:txBody>
      </p:sp>
      <p:graphicFrame>
        <p:nvGraphicFramePr>
          <p:cNvPr id="17" name="Table 16"/>
          <p:cNvGraphicFramePr>
            <a:graphicFrameLocks noGrp="1"/>
          </p:cNvGraphicFramePr>
          <p:nvPr/>
        </p:nvGraphicFramePr>
        <p:xfrm>
          <a:off x="777240" y="4160519"/>
          <a:ext cx="10789920" cy="1188720"/>
        </p:xfrm>
        <a:graphic>
          <a:graphicData uri="http://schemas.openxmlformats.org/drawingml/2006/table">
            <a:tbl>
              <a:tblPr firstRow="1" bandRow="1">
                <a:tableStyleId>{5C22544A-7EE6-4342-B048-85BDC9FD1C3A}</a:tableStyleId>
              </a:tblPr>
              <a:tblGrid>
                <a:gridCol w="1645920"/>
                <a:gridCol w="1828800"/>
                <a:gridCol w="1828800"/>
                <a:gridCol w="5486400"/>
              </a:tblGrid>
              <a:tr h="396240">
                <a:tc>
                  <a:txBody>
                    <a:bodyPr/>
                    <a:lstStyle/>
                    <a:p>
                      <a:r>
                        <a:rPr sz="1200" b="1" i="0">
                          <a:solidFill>
                            <a:srgbClr val="FFFFFF"/>
                          </a:solidFill>
                          <a:latin typeface="Cambria"/>
                        </a:rPr>
                        <a:t>pass@1</a:t>
                      </a:r>
                    </a:p>
                  </a:txBody>
                  <a:tcPr marT="63500" marB="63500" marL="101600">
                    <a:solidFill>
                      <a:srgbClr val="2A251D"/>
                    </a:solidFill>
                  </a:tcPr>
                </a:tc>
                <a:tc>
                  <a:txBody>
                    <a:bodyPr/>
                    <a:lstStyle/>
                    <a:p>
                      <a:r>
                        <a:rPr sz="1200" b="1" i="0">
                          <a:solidFill>
                            <a:srgbClr val="FFFFFF"/>
                          </a:solidFill>
                          <a:latin typeface="Cambria"/>
                        </a:rPr>
                        <a:t>pass@k</a:t>
                      </a:r>
                    </a:p>
                  </a:txBody>
                  <a:tcPr marT="63500" marB="63500" marL="101600">
                    <a:solidFill>
                      <a:srgbClr val="2A251D"/>
                    </a:solidFill>
                  </a:tcPr>
                </a:tc>
                <a:tc>
                  <a:txBody>
                    <a:bodyPr/>
                    <a:lstStyle/>
                    <a:p>
                      <a:r>
                        <a:rPr sz="1200" b="1" i="0">
                          <a:solidFill>
                            <a:srgbClr val="FFFFFF"/>
                          </a:solidFill>
                          <a:latin typeface="Cambria"/>
                        </a:rPr>
                        <a:t>Văn phong</a:t>
                      </a:r>
                    </a:p>
                  </a:txBody>
                  <a:tcPr marT="63500" marB="63500" marL="101600">
                    <a:solidFill>
                      <a:srgbClr val="2A251D"/>
                    </a:solidFill>
                  </a:tcPr>
                </a:tc>
                <a:tc>
                  <a:txBody>
                    <a:bodyPr/>
                    <a:lstStyle/>
                    <a:p>
                      <a:r>
                        <a:rPr sz="1200" b="1" i="0">
                          <a:solidFill>
                            <a:srgbClr val="FFFFFF"/>
                          </a:solidFill>
                          <a:latin typeface="Cambria"/>
                        </a:rPr>
                        <a:t>Diễn giải</a:t>
                      </a:r>
                    </a:p>
                  </a:txBody>
                  <a:tcPr marT="63500" marB="63500" marL="101600">
                    <a:solidFill>
                      <a:srgbClr val="2A251D"/>
                    </a:solidFill>
                  </a:tcPr>
                </a:tc>
              </a:tr>
              <a:tr h="396240">
                <a:tc>
                  <a:txBody>
                    <a:bodyPr/>
                    <a:lstStyle/>
                    <a:p>
                      <a:r>
                        <a:rPr sz="1250" b="0" i="0">
                          <a:solidFill>
                            <a:srgbClr val="2A251D"/>
                          </a:solidFill>
                          <a:latin typeface="Cambria"/>
                        </a:rPr>
                        <a:t>Tăng</a:t>
                      </a:r>
                    </a:p>
                  </a:txBody>
                  <a:tcPr marT="63500" marB="63500" marL="101600">
                    <a:solidFill>
                      <a:srgbClr val="FAF7F0"/>
                    </a:solidFill>
                  </a:tcPr>
                </a:tc>
                <a:tc>
                  <a:txBody>
                    <a:bodyPr/>
                    <a:lstStyle/>
                    <a:p>
                      <a:r>
                        <a:rPr sz="1250" b="0" i="0">
                          <a:solidFill>
                            <a:srgbClr val="2A251D"/>
                          </a:solidFill>
                          <a:latin typeface="Cambria"/>
                        </a:rPr>
                        <a:t>Tăng</a:t>
                      </a:r>
                    </a:p>
                  </a:txBody>
                  <a:tcPr marT="63500" marB="63500" marL="101600">
                    <a:solidFill>
                      <a:srgbClr val="FAF7F0"/>
                    </a:solidFill>
                  </a:tcPr>
                </a:tc>
                <a:tc>
                  <a:txBody>
                    <a:bodyPr/>
                    <a:lstStyle/>
                    <a:p>
                      <a:r>
                        <a:rPr sz="1250" b="0" i="0">
                          <a:solidFill>
                            <a:srgbClr val="2A251D"/>
                          </a:solidFill>
                          <a:latin typeface="Cambria"/>
                        </a:rPr>
                        <a:t>Đa dạng</a:t>
                      </a:r>
                    </a:p>
                  </a:txBody>
                  <a:tcPr marT="63500" marB="63500" marL="101600">
                    <a:solidFill>
                      <a:srgbClr val="FAF7F0"/>
                    </a:solidFill>
                  </a:tcPr>
                </a:tc>
                <a:tc>
                  <a:txBody>
                    <a:bodyPr/>
                    <a:lstStyle/>
                    <a:p>
                      <a:r>
                        <a:rPr sz="1250" b="1" i="0">
                          <a:solidFill>
                            <a:srgbClr val="2F4B39"/>
                          </a:solidFill>
                          <a:latin typeface="Cambria"/>
                        </a:rPr>
                        <a:t>Có thể đang giỏi thật</a:t>
                      </a:r>
                    </a:p>
                  </a:txBody>
                  <a:tcPr marT="63500" marB="63500" marL="101600">
                    <a:solidFill>
                      <a:srgbClr val="FAF7F0"/>
                    </a:solidFill>
                  </a:tcPr>
                </a:tc>
              </a:tr>
              <a:tr h="396240">
                <a:tc>
                  <a:txBody>
                    <a:bodyPr/>
                    <a:lstStyle/>
                    <a:p>
                      <a:r>
                        <a:rPr sz="1250" b="0" i="0">
                          <a:solidFill>
                            <a:srgbClr val="2A251D"/>
                          </a:solidFill>
                          <a:latin typeface="Cambria"/>
                        </a:rPr>
                        <a:t>Tăng</a:t>
                      </a:r>
                    </a:p>
                  </a:txBody>
                  <a:tcPr marT="63500" marB="63500" marL="101600">
                    <a:solidFill>
                      <a:srgbClr val="F2EDE1"/>
                    </a:solidFill>
                  </a:tcPr>
                </a:tc>
                <a:tc>
                  <a:txBody>
                    <a:bodyPr/>
                    <a:lstStyle/>
                    <a:p>
                      <a:r>
                        <a:rPr sz="1250" b="0" i="0">
                          <a:solidFill>
                            <a:srgbClr val="2A251D"/>
                          </a:solidFill>
                          <a:latin typeface="Cambria"/>
                        </a:rPr>
                        <a:t>Đứng / giảm</a:t>
                      </a:r>
                    </a:p>
                  </a:txBody>
                  <a:tcPr marT="63500" marB="63500" marL="101600">
                    <a:solidFill>
                      <a:srgbClr val="F2EDE1"/>
                    </a:solidFill>
                  </a:tcPr>
                </a:tc>
                <a:tc>
                  <a:txBody>
                    <a:bodyPr/>
                    <a:lstStyle/>
                    <a:p>
                      <a:r>
                        <a:rPr sz="1250" b="0" i="0">
                          <a:solidFill>
                            <a:srgbClr val="2A251D"/>
                          </a:solidFill>
                          <a:latin typeface="Cambria"/>
                        </a:rPr>
                        <a:t>Tụ về 1 kiểu</a:t>
                      </a:r>
                    </a:p>
                  </a:txBody>
                  <a:tcPr marT="63500" marB="63500" marL="101600">
                    <a:solidFill>
                      <a:srgbClr val="F2EDE1"/>
                    </a:solidFill>
                  </a:tcPr>
                </a:tc>
                <a:tc>
                  <a:txBody>
                    <a:bodyPr/>
                    <a:lstStyle/>
                    <a:p>
                      <a:r>
                        <a:rPr sz="1250" b="1" i="0">
                          <a:solidFill>
                            <a:srgbClr val="7A1F2B"/>
                          </a:solidFill>
                          <a:latin typeface="Cambria"/>
                        </a:rPr>
                        <a:t>Dấu hiệu học theo văn phong, không phải học toán</a:t>
                      </a:r>
                    </a:p>
                  </a:txBody>
                  <a:tcPr marT="63500" marB="63500" marL="101600">
                    <a:solidFill>
                      <a:srgbClr val="F2EDE1"/>
                    </a:solidFill>
                  </a:tcPr>
                </a:tc>
              </a:tr>
            </a:tbl>
          </a:graphicData>
        </a:graphic>
      </p:graphicFrame>
      <p:sp>
        <p:nvSpPr>
          <p:cNvPr id="18" name="TextBox 17"/>
          <p:cNvSpPr txBox="1"/>
          <p:nvPr/>
        </p:nvSpPr>
        <p:spPr>
          <a:xfrm>
            <a:off x="777240" y="6355080"/>
            <a:ext cx="10637215" cy="365760"/>
          </a:xfrm>
          <a:prstGeom prst="rect">
            <a:avLst/>
          </a:prstGeom>
          <a:noFill/>
        </p:spPr>
        <p:txBody>
          <a:bodyPr wrap="square">
            <a:spAutoFit/>
          </a:bodyPr>
          <a:lstStyle/>
          <a:p>
            <a:pPr algn="l">
              <a:spcBef>
                <a:spcPts val="0"/>
              </a:spcBef>
              <a:spcAft>
                <a:spcPts val="600"/>
              </a:spcAft>
            </a:pPr>
            <a:r>
              <a:rPr sz="950" b="0" i="1">
                <a:solidFill>
                  <a:srgbClr val="5C5447"/>
                </a:solidFill>
                <a:latin typeface="Cambria"/>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777240" y="320040"/>
            <a:ext cx="7315200" cy="274320"/>
          </a:xfrm>
          <a:prstGeom prst="rect">
            <a:avLst/>
          </a:prstGeom>
          <a:noFill/>
        </p:spPr>
        <p:txBody>
          <a:bodyPr wrap="square">
            <a:spAutoFit/>
          </a:bodyPr>
          <a:lstStyle/>
          <a:p>
            <a:pPr algn="l">
              <a:spcBef>
                <a:spcPts val="0"/>
              </a:spcBef>
              <a:spcAft>
                <a:spcPts val="600"/>
              </a:spcAft>
            </a:pPr>
            <a:r>
              <a:rPr sz="950" b="0" i="0">
                <a:solidFill>
                  <a:srgbClr val="5C5447"/>
                </a:solidFill>
                <a:latin typeface="Cambria"/>
              </a:rPr>
              <a:t>VERIFIER LỆCH VĂN PHONG TRONG SELF-TRAINING</a:t>
            </a:r>
          </a:p>
        </p:txBody>
      </p:sp>
      <p:sp>
        <p:nvSpPr>
          <p:cNvPr id="3" name="TextBox 2"/>
          <p:cNvSpPr txBox="1"/>
          <p:nvPr/>
        </p:nvSpPr>
        <p:spPr>
          <a:xfrm>
            <a:off x="10042855" y="320040"/>
            <a:ext cx="1371600" cy="274320"/>
          </a:xfrm>
          <a:prstGeom prst="rect">
            <a:avLst/>
          </a:prstGeom>
          <a:noFill/>
        </p:spPr>
        <p:txBody>
          <a:bodyPr wrap="square">
            <a:spAutoFit/>
          </a:bodyPr>
          <a:lstStyle/>
          <a:p>
            <a:pPr algn="r">
              <a:spcBef>
                <a:spcPts val="0"/>
              </a:spcBef>
              <a:spcAft>
                <a:spcPts val="600"/>
              </a:spcAft>
            </a:pPr>
            <a:r>
              <a:rPr sz="950" b="0" i="0">
                <a:solidFill>
                  <a:srgbClr val="5C5447"/>
                </a:solidFill>
                <a:latin typeface="Cambria"/>
              </a:rPr>
              <a:t>11</a:t>
            </a:r>
          </a:p>
        </p:txBody>
      </p:sp>
      <p:cxnSp>
        <p:nvCxnSpPr>
          <p:cNvPr id="4" name="Connector 3"/>
          <p:cNvCxnSpPr/>
          <p:nvPr/>
        </p:nvCxnSpPr>
        <p:spPr>
          <a:xfrm>
            <a:off x="777240" y="62179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777240"/>
            <a:ext cx="10637215" cy="320040"/>
          </a:xfrm>
          <a:prstGeom prst="rect">
            <a:avLst/>
          </a:prstGeom>
          <a:noFill/>
        </p:spPr>
        <p:txBody>
          <a:bodyPr wrap="square">
            <a:spAutoFit/>
          </a:bodyPr>
          <a:lstStyle/>
          <a:p>
            <a:pPr algn="l">
              <a:spcBef>
                <a:spcPts val="0"/>
              </a:spcBef>
              <a:spcAft>
                <a:spcPts val="0"/>
              </a:spcAft>
            </a:pPr>
            <a:r>
              <a:rPr sz="1300" b="1" i="0">
                <a:solidFill>
                  <a:srgbClr val="7A1F2B"/>
                </a:solidFill>
                <a:latin typeface="Cambria"/>
              </a:rPr>
              <a:t>TUẦN 1 — ĐÃ LÀM GÌ</a:t>
            </a:r>
          </a:p>
        </p:txBody>
      </p:sp>
      <p:sp>
        <p:nvSpPr>
          <p:cNvPr id="6" name="TextBox 5"/>
          <p:cNvSpPr txBox="1"/>
          <p:nvPr/>
        </p:nvSpPr>
        <p:spPr>
          <a:xfrm>
            <a:off x="777240" y="1078992"/>
            <a:ext cx="10637215" cy="868680"/>
          </a:xfrm>
          <a:prstGeom prst="rect">
            <a:avLst/>
          </a:prstGeom>
          <a:noFill/>
        </p:spPr>
        <p:txBody>
          <a:bodyPr wrap="square">
            <a:spAutoFit/>
          </a:bodyPr>
          <a:lstStyle/>
          <a:p>
            <a:pPr algn="l">
              <a:spcBef>
                <a:spcPts val="0"/>
              </a:spcBef>
              <a:spcAft>
                <a:spcPts val="0"/>
              </a:spcAft>
            </a:pPr>
            <a:r>
              <a:rPr sz="2700" b="1" i="0">
                <a:solidFill>
                  <a:srgbClr val="2A251D"/>
                </a:solidFill>
                <a:latin typeface="Cambria"/>
              </a:rPr>
              <a:t>Hạ tầng đo xong — đã có số liệu thực nghiệm đầu tiên</a:t>
            </a:r>
          </a:p>
        </p:txBody>
      </p:sp>
      <p:sp>
        <p:nvSpPr>
          <p:cNvPr id="7" name="TextBox 6"/>
          <p:cNvSpPr txBox="1"/>
          <p:nvPr/>
        </p:nvSpPr>
        <p:spPr>
          <a:xfrm>
            <a:off x="777240" y="1874519"/>
            <a:ext cx="365760" cy="365760"/>
          </a:xfrm>
          <a:prstGeom prst="rect">
            <a:avLst/>
          </a:prstGeom>
          <a:noFill/>
        </p:spPr>
        <p:txBody>
          <a:bodyPr wrap="square">
            <a:spAutoFit/>
          </a:bodyPr>
          <a:lstStyle/>
          <a:p>
            <a:pPr algn="l">
              <a:spcBef>
                <a:spcPts val="0"/>
              </a:spcBef>
              <a:spcAft>
                <a:spcPts val="600"/>
              </a:spcAft>
            </a:pPr>
            <a:r>
              <a:rPr sz="1500" b="1" i="0">
                <a:solidFill>
                  <a:srgbClr val="2F4B39"/>
                </a:solidFill>
                <a:latin typeface="Cambria"/>
              </a:rPr>
              <a:t>✓</a:t>
            </a:r>
          </a:p>
        </p:txBody>
      </p:sp>
      <p:sp>
        <p:nvSpPr>
          <p:cNvPr id="8" name="TextBox 7"/>
          <p:cNvSpPr txBox="1"/>
          <p:nvPr/>
        </p:nvSpPr>
        <p:spPr>
          <a:xfrm>
            <a:off x="1234440" y="1874519"/>
            <a:ext cx="5212080" cy="365760"/>
          </a:xfrm>
          <a:prstGeom prst="rect">
            <a:avLst/>
          </a:prstGeom>
          <a:noFill/>
        </p:spPr>
        <p:txBody>
          <a:bodyPr wrap="square">
            <a:spAutoFit/>
          </a:bodyPr>
          <a:lstStyle/>
          <a:p>
            <a:pPr algn="l">
              <a:spcBef>
                <a:spcPts val="0"/>
              </a:spcBef>
              <a:spcAft>
                <a:spcPts val="600"/>
              </a:spcAft>
            </a:pPr>
            <a:r>
              <a:rPr sz="1450" b="1" i="0">
                <a:solidFill>
                  <a:srgbClr val="2A251D"/>
                </a:solidFill>
                <a:latin typeface="Cambria"/>
              </a:rPr>
              <a:t>Khảo sát 29 bài báo</a:t>
            </a:r>
          </a:p>
        </p:txBody>
      </p:sp>
      <p:sp>
        <p:nvSpPr>
          <p:cNvPr id="9" name="TextBox 8"/>
          <p:cNvSpPr txBox="1"/>
          <p:nvPr/>
        </p:nvSpPr>
        <p:spPr>
          <a:xfrm>
            <a:off x="6629400" y="1892807"/>
            <a:ext cx="4785055" cy="457200"/>
          </a:xfrm>
          <a:prstGeom prst="rect">
            <a:avLst/>
          </a:prstGeom>
          <a:noFill/>
        </p:spPr>
        <p:txBody>
          <a:bodyPr wrap="square">
            <a:spAutoFit/>
          </a:bodyPr>
          <a:lstStyle/>
          <a:p>
            <a:pPr algn="l">
              <a:spcBef>
                <a:spcPts val="0"/>
              </a:spcBef>
              <a:spcAft>
                <a:spcPts val="600"/>
              </a:spcAft>
            </a:pPr>
            <a:r>
              <a:rPr sz="1250" b="0" i="0">
                <a:solidFill>
                  <a:srgbClr val="5C5447"/>
                </a:solidFill>
                <a:latin typeface="Cambria"/>
              </a:rPr>
              <a:t>Xác nhận khoảng trống là thật; đối chiếu 2 lần qua Semantic Scholar</a:t>
            </a:r>
          </a:p>
        </p:txBody>
      </p:sp>
      <p:cxnSp>
        <p:nvCxnSpPr>
          <p:cNvPr id="10" name="Connector 9"/>
          <p:cNvCxnSpPr/>
          <p:nvPr/>
        </p:nvCxnSpPr>
        <p:spPr>
          <a:xfrm>
            <a:off x="777240" y="2295143"/>
            <a:ext cx="10637215" cy="0"/>
          </a:xfrm>
          <a:prstGeom prst="line">
            <a:avLst/>
          </a:prstGeom>
          <a:ln w="6350">
            <a:solidFill>
              <a:srgbClr val="C9BFA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77240" y="2404871"/>
            <a:ext cx="365760" cy="365760"/>
          </a:xfrm>
          <a:prstGeom prst="rect">
            <a:avLst/>
          </a:prstGeom>
          <a:noFill/>
        </p:spPr>
        <p:txBody>
          <a:bodyPr wrap="square">
            <a:spAutoFit/>
          </a:bodyPr>
          <a:lstStyle/>
          <a:p>
            <a:pPr algn="l">
              <a:spcBef>
                <a:spcPts val="0"/>
              </a:spcBef>
              <a:spcAft>
                <a:spcPts val="600"/>
              </a:spcAft>
            </a:pPr>
            <a:r>
              <a:rPr sz="1500" b="1" i="0">
                <a:solidFill>
                  <a:srgbClr val="2F4B39"/>
                </a:solidFill>
                <a:latin typeface="Cambria"/>
              </a:rPr>
              <a:t>✓</a:t>
            </a:r>
          </a:p>
        </p:txBody>
      </p:sp>
      <p:sp>
        <p:nvSpPr>
          <p:cNvPr id="12" name="TextBox 11"/>
          <p:cNvSpPr txBox="1"/>
          <p:nvPr/>
        </p:nvSpPr>
        <p:spPr>
          <a:xfrm>
            <a:off x="1234440" y="2404871"/>
            <a:ext cx="5212080" cy="365760"/>
          </a:xfrm>
          <a:prstGeom prst="rect">
            <a:avLst/>
          </a:prstGeom>
          <a:noFill/>
        </p:spPr>
        <p:txBody>
          <a:bodyPr wrap="square">
            <a:spAutoFit/>
          </a:bodyPr>
          <a:lstStyle/>
          <a:p>
            <a:pPr algn="l">
              <a:spcBef>
                <a:spcPts val="0"/>
              </a:spcBef>
              <a:spcAft>
                <a:spcPts val="600"/>
              </a:spcAft>
            </a:pPr>
            <a:r>
              <a:rPr sz="1450" b="1" i="0">
                <a:solidFill>
                  <a:srgbClr val="2A251D"/>
                </a:solidFill>
                <a:latin typeface="Cambria"/>
              </a:rPr>
              <a:t>Việc 1 — verifier chấm sai kiểu viết nào</a:t>
            </a:r>
          </a:p>
        </p:txBody>
      </p:sp>
      <p:sp>
        <p:nvSpPr>
          <p:cNvPr id="13" name="TextBox 12"/>
          <p:cNvSpPr txBox="1"/>
          <p:nvPr/>
        </p:nvSpPr>
        <p:spPr>
          <a:xfrm>
            <a:off x="6629400" y="2423159"/>
            <a:ext cx="4785055" cy="457200"/>
          </a:xfrm>
          <a:prstGeom prst="rect">
            <a:avLst/>
          </a:prstGeom>
          <a:noFill/>
        </p:spPr>
        <p:txBody>
          <a:bodyPr wrap="square">
            <a:spAutoFit/>
          </a:bodyPr>
          <a:lstStyle/>
          <a:p>
            <a:pPr algn="l">
              <a:spcBef>
                <a:spcPts val="0"/>
              </a:spcBef>
              <a:spcAft>
                <a:spcPts val="600"/>
              </a:spcAft>
            </a:pPr>
            <a:r>
              <a:rPr sz="1250" b="0" i="0">
                <a:solidFill>
                  <a:srgbClr val="5C5447"/>
                </a:solidFill>
                <a:latin typeface="Cambria"/>
              </a:rPr>
              <a:t>200 GSM8K + 200 MATH, viết lại nhiều văn phong</a:t>
            </a:r>
          </a:p>
        </p:txBody>
      </p:sp>
      <p:cxnSp>
        <p:nvCxnSpPr>
          <p:cNvPr id="14" name="Connector 13"/>
          <p:cNvCxnSpPr/>
          <p:nvPr/>
        </p:nvCxnSpPr>
        <p:spPr>
          <a:xfrm>
            <a:off x="777240" y="2825495"/>
            <a:ext cx="10637215" cy="0"/>
          </a:xfrm>
          <a:prstGeom prst="line">
            <a:avLst/>
          </a:prstGeom>
          <a:ln w="6350">
            <a:solidFill>
              <a:srgbClr val="C9BFA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77240" y="2935223"/>
            <a:ext cx="365760" cy="365760"/>
          </a:xfrm>
          <a:prstGeom prst="rect">
            <a:avLst/>
          </a:prstGeom>
          <a:noFill/>
        </p:spPr>
        <p:txBody>
          <a:bodyPr wrap="square">
            <a:spAutoFit/>
          </a:bodyPr>
          <a:lstStyle/>
          <a:p>
            <a:pPr algn="l">
              <a:spcBef>
                <a:spcPts val="0"/>
              </a:spcBef>
              <a:spcAft>
                <a:spcPts val="600"/>
              </a:spcAft>
            </a:pPr>
            <a:r>
              <a:rPr sz="1500" b="1" i="0">
                <a:solidFill>
                  <a:srgbClr val="2F4B39"/>
                </a:solidFill>
                <a:latin typeface="Cambria"/>
              </a:rPr>
              <a:t>✓</a:t>
            </a:r>
          </a:p>
        </p:txBody>
      </p:sp>
      <p:sp>
        <p:nvSpPr>
          <p:cNvPr id="16" name="TextBox 15"/>
          <p:cNvSpPr txBox="1"/>
          <p:nvPr/>
        </p:nvSpPr>
        <p:spPr>
          <a:xfrm>
            <a:off x="1234440" y="2935223"/>
            <a:ext cx="5212080" cy="365760"/>
          </a:xfrm>
          <a:prstGeom prst="rect">
            <a:avLst/>
          </a:prstGeom>
          <a:noFill/>
        </p:spPr>
        <p:txBody>
          <a:bodyPr wrap="square">
            <a:spAutoFit/>
          </a:bodyPr>
          <a:lstStyle/>
          <a:p>
            <a:pPr algn="l">
              <a:spcBef>
                <a:spcPts val="0"/>
              </a:spcBef>
              <a:spcAft>
                <a:spcPts val="600"/>
              </a:spcAft>
            </a:pPr>
            <a:r>
              <a:rPr sz="1450" b="1" i="0">
                <a:solidFill>
                  <a:srgbClr val="2A251D"/>
                </a:solidFill>
                <a:latin typeface="Cambria"/>
              </a:rPr>
              <a:t>Việc 2 — hiện tượng có xảy ra trên bài model thật viết</a:t>
            </a:r>
          </a:p>
        </p:txBody>
      </p:sp>
      <p:sp>
        <p:nvSpPr>
          <p:cNvPr id="17" name="TextBox 16"/>
          <p:cNvSpPr txBox="1"/>
          <p:nvPr/>
        </p:nvSpPr>
        <p:spPr>
          <a:xfrm>
            <a:off x="6629400" y="2953511"/>
            <a:ext cx="4785055" cy="457200"/>
          </a:xfrm>
          <a:prstGeom prst="rect">
            <a:avLst/>
          </a:prstGeom>
          <a:noFill/>
        </p:spPr>
        <p:txBody>
          <a:bodyPr wrap="square">
            <a:spAutoFit/>
          </a:bodyPr>
          <a:lstStyle/>
          <a:p>
            <a:pPr algn="l">
              <a:spcBef>
                <a:spcPts val="0"/>
              </a:spcBef>
              <a:spcAft>
                <a:spcPts val="600"/>
              </a:spcAft>
            </a:pPr>
            <a:r>
              <a:rPr sz="1250" b="0" i="0">
                <a:solidFill>
                  <a:srgbClr val="5C5447"/>
                </a:solidFill>
                <a:latin typeface="Cambria"/>
              </a:rPr>
              <a:t>GSM8K gần như không sai; MATH sai oan khoảng 7,8%</a:t>
            </a:r>
          </a:p>
        </p:txBody>
      </p:sp>
      <p:cxnSp>
        <p:nvCxnSpPr>
          <p:cNvPr id="18" name="Connector 17"/>
          <p:cNvCxnSpPr/>
          <p:nvPr/>
        </p:nvCxnSpPr>
        <p:spPr>
          <a:xfrm>
            <a:off x="777240" y="3355847"/>
            <a:ext cx="10637215" cy="0"/>
          </a:xfrm>
          <a:prstGeom prst="line">
            <a:avLst/>
          </a:prstGeom>
          <a:ln w="6350">
            <a:solidFill>
              <a:srgbClr val="C9BFA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77240" y="3465575"/>
            <a:ext cx="365760" cy="365760"/>
          </a:xfrm>
          <a:prstGeom prst="rect">
            <a:avLst/>
          </a:prstGeom>
          <a:noFill/>
        </p:spPr>
        <p:txBody>
          <a:bodyPr wrap="square">
            <a:spAutoFit/>
          </a:bodyPr>
          <a:lstStyle/>
          <a:p>
            <a:pPr algn="l">
              <a:spcBef>
                <a:spcPts val="0"/>
              </a:spcBef>
              <a:spcAft>
                <a:spcPts val="600"/>
              </a:spcAft>
            </a:pPr>
            <a:r>
              <a:rPr sz="1500" b="1" i="0">
                <a:solidFill>
                  <a:srgbClr val="2F4B39"/>
                </a:solidFill>
                <a:latin typeface="Cambria"/>
              </a:rPr>
              <a:t>✓</a:t>
            </a:r>
          </a:p>
        </p:txBody>
      </p:sp>
      <p:sp>
        <p:nvSpPr>
          <p:cNvPr id="20" name="TextBox 19"/>
          <p:cNvSpPr txBox="1"/>
          <p:nvPr/>
        </p:nvSpPr>
        <p:spPr>
          <a:xfrm>
            <a:off x="1234440" y="3465575"/>
            <a:ext cx="5212080" cy="365760"/>
          </a:xfrm>
          <a:prstGeom prst="rect">
            <a:avLst/>
          </a:prstGeom>
          <a:noFill/>
        </p:spPr>
        <p:txBody>
          <a:bodyPr wrap="square">
            <a:spAutoFit/>
          </a:bodyPr>
          <a:lstStyle/>
          <a:p>
            <a:pPr algn="l">
              <a:spcBef>
                <a:spcPts val="0"/>
              </a:spcBef>
              <a:spcAft>
                <a:spcPts val="600"/>
              </a:spcAft>
            </a:pPr>
            <a:r>
              <a:rPr sz="1450" b="1" i="0">
                <a:solidFill>
                  <a:srgbClr val="2A251D"/>
                </a:solidFill>
                <a:latin typeface="Cambria"/>
              </a:rPr>
              <a:t>Việc 3 — code vòng lặp GVT thật</a:t>
            </a:r>
          </a:p>
        </p:txBody>
      </p:sp>
      <p:sp>
        <p:nvSpPr>
          <p:cNvPr id="21" name="TextBox 20"/>
          <p:cNvSpPr txBox="1"/>
          <p:nvPr/>
        </p:nvSpPr>
        <p:spPr>
          <a:xfrm>
            <a:off x="6629400" y="3483863"/>
            <a:ext cx="4785055" cy="457200"/>
          </a:xfrm>
          <a:prstGeom prst="rect">
            <a:avLst/>
          </a:prstGeom>
          <a:noFill/>
        </p:spPr>
        <p:txBody>
          <a:bodyPr wrap="square">
            <a:spAutoFit/>
          </a:bodyPr>
          <a:lstStyle/>
          <a:p>
            <a:pPr algn="l">
              <a:spcBef>
                <a:spcPts val="0"/>
              </a:spcBef>
              <a:spcAft>
                <a:spcPts val="600"/>
              </a:spcAft>
            </a:pPr>
            <a:r>
              <a:rPr sz="1250" b="0" i="0">
                <a:solidFill>
                  <a:srgbClr val="5C5447"/>
                </a:solidFill>
                <a:latin typeface="Cambria"/>
              </a:rPr>
              <a:t>Chạy sạch trên Kaggle (20 bài GSM8K, 2 vòng, 26/08/2026)</a:t>
            </a:r>
          </a:p>
        </p:txBody>
      </p:sp>
      <p:cxnSp>
        <p:nvCxnSpPr>
          <p:cNvPr id="22" name="Connector 21"/>
          <p:cNvCxnSpPr/>
          <p:nvPr/>
        </p:nvCxnSpPr>
        <p:spPr>
          <a:xfrm>
            <a:off x="777240" y="3886199"/>
            <a:ext cx="10637215" cy="0"/>
          </a:xfrm>
          <a:prstGeom prst="line">
            <a:avLst/>
          </a:prstGeom>
          <a:ln w="6350">
            <a:solidFill>
              <a:srgbClr val="C9BFAB"/>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77240" y="3995927"/>
            <a:ext cx="365760" cy="365760"/>
          </a:xfrm>
          <a:prstGeom prst="rect">
            <a:avLst/>
          </a:prstGeom>
          <a:noFill/>
        </p:spPr>
        <p:txBody>
          <a:bodyPr wrap="square">
            <a:spAutoFit/>
          </a:bodyPr>
          <a:lstStyle/>
          <a:p>
            <a:pPr algn="l">
              <a:spcBef>
                <a:spcPts val="0"/>
              </a:spcBef>
              <a:spcAft>
                <a:spcPts val="600"/>
              </a:spcAft>
            </a:pPr>
            <a:r>
              <a:rPr sz="1500" b="1" i="0">
                <a:solidFill>
                  <a:srgbClr val="2F4B39"/>
                </a:solidFill>
                <a:latin typeface="Cambria"/>
              </a:rPr>
              <a:t>✓</a:t>
            </a:r>
          </a:p>
        </p:txBody>
      </p:sp>
      <p:sp>
        <p:nvSpPr>
          <p:cNvPr id="24" name="TextBox 23"/>
          <p:cNvSpPr txBox="1"/>
          <p:nvPr/>
        </p:nvSpPr>
        <p:spPr>
          <a:xfrm>
            <a:off x="1234440" y="3995927"/>
            <a:ext cx="5212080" cy="365760"/>
          </a:xfrm>
          <a:prstGeom prst="rect">
            <a:avLst/>
          </a:prstGeom>
          <a:noFill/>
        </p:spPr>
        <p:txBody>
          <a:bodyPr wrap="square">
            <a:spAutoFit/>
          </a:bodyPr>
          <a:lstStyle/>
          <a:p>
            <a:pPr algn="l">
              <a:spcBef>
                <a:spcPts val="0"/>
              </a:spcBef>
              <a:spcAft>
                <a:spcPts val="600"/>
              </a:spcAft>
            </a:pPr>
            <a:r>
              <a:rPr sz="1450" b="1" i="0">
                <a:solidFill>
                  <a:srgbClr val="2A251D"/>
                </a:solidFill>
                <a:latin typeface="Cambria"/>
              </a:rPr>
              <a:t>Chạy đủ quy mô, lấy số liệu đầu tiên</a:t>
            </a:r>
          </a:p>
        </p:txBody>
      </p:sp>
      <p:sp>
        <p:nvSpPr>
          <p:cNvPr id="25" name="TextBox 24"/>
          <p:cNvSpPr txBox="1"/>
          <p:nvPr/>
        </p:nvSpPr>
        <p:spPr>
          <a:xfrm>
            <a:off x="6629400" y="4014215"/>
            <a:ext cx="4785055" cy="457200"/>
          </a:xfrm>
          <a:prstGeom prst="rect">
            <a:avLst/>
          </a:prstGeom>
          <a:noFill/>
        </p:spPr>
        <p:txBody>
          <a:bodyPr wrap="square">
            <a:spAutoFit/>
          </a:bodyPr>
          <a:lstStyle/>
          <a:p>
            <a:pPr algn="l">
              <a:spcBef>
                <a:spcPts val="0"/>
              </a:spcBef>
              <a:spcAft>
                <a:spcPts val="600"/>
              </a:spcAft>
            </a:pPr>
            <a:r>
              <a:rPr sz="1250" b="0" i="0">
                <a:solidFill>
                  <a:srgbClr val="5C5447"/>
                </a:solidFill>
                <a:latin typeface="Cambria"/>
              </a:rPr>
              <a:t>500 bài, 5 vòng, Qwen 0.5B — đã hoàn tất (27/08/2026, xem 2 slide sau)</a:t>
            </a:r>
          </a:p>
        </p:txBody>
      </p:sp>
      <p:cxnSp>
        <p:nvCxnSpPr>
          <p:cNvPr id="26" name="Connector 25"/>
          <p:cNvCxnSpPr/>
          <p:nvPr/>
        </p:nvCxnSpPr>
        <p:spPr>
          <a:xfrm>
            <a:off x="777240" y="4416551"/>
            <a:ext cx="10637215" cy="0"/>
          </a:xfrm>
          <a:prstGeom prst="line">
            <a:avLst/>
          </a:prstGeom>
          <a:ln w="6350">
            <a:solidFill>
              <a:srgbClr val="C9BFAB"/>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4526279"/>
            <a:ext cx="365760" cy="365760"/>
          </a:xfrm>
          <a:prstGeom prst="rect">
            <a:avLst/>
          </a:prstGeom>
          <a:noFill/>
        </p:spPr>
        <p:txBody>
          <a:bodyPr wrap="square">
            <a:spAutoFit/>
          </a:bodyPr>
          <a:lstStyle/>
          <a:p>
            <a:pPr algn="l">
              <a:spcBef>
                <a:spcPts val="0"/>
              </a:spcBef>
              <a:spcAft>
                <a:spcPts val="600"/>
              </a:spcAft>
            </a:pPr>
            <a:r>
              <a:rPr sz="1500" b="1" i="0">
                <a:solidFill>
                  <a:srgbClr val="9C772B"/>
                </a:solidFill>
                <a:latin typeface="Cambria"/>
              </a:rPr>
              <a:t>→</a:t>
            </a:r>
          </a:p>
        </p:txBody>
      </p:sp>
      <p:sp>
        <p:nvSpPr>
          <p:cNvPr id="28" name="TextBox 27"/>
          <p:cNvSpPr txBox="1"/>
          <p:nvPr/>
        </p:nvSpPr>
        <p:spPr>
          <a:xfrm>
            <a:off x="1234440" y="4526279"/>
            <a:ext cx="5212080" cy="365760"/>
          </a:xfrm>
          <a:prstGeom prst="rect">
            <a:avLst/>
          </a:prstGeom>
          <a:noFill/>
        </p:spPr>
        <p:txBody>
          <a:bodyPr wrap="square">
            <a:spAutoFit/>
          </a:bodyPr>
          <a:lstStyle/>
          <a:p>
            <a:pPr algn="l">
              <a:spcBef>
                <a:spcPts val="0"/>
              </a:spcBef>
              <a:spcAft>
                <a:spcPts val="600"/>
              </a:spcAft>
            </a:pPr>
            <a:r>
              <a:rPr sz="1450" b="1" i="0">
                <a:solidFill>
                  <a:srgbClr val="2A251D"/>
                </a:solidFill>
                <a:latin typeface="Cambria"/>
              </a:rPr>
              <a:t>Chạy lại với model 1.5B để kiểm chứng</a:t>
            </a:r>
          </a:p>
        </p:txBody>
      </p:sp>
      <p:sp>
        <p:nvSpPr>
          <p:cNvPr id="29" name="TextBox 28"/>
          <p:cNvSpPr txBox="1"/>
          <p:nvPr/>
        </p:nvSpPr>
        <p:spPr>
          <a:xfrm>
            <a:off x="6629400" y="4544567"/>
            <a:ext cx="4785055" cy="457200"/>
          </a:xfrm>
          <a:prstGeom prst="rect">
            <a:avLst/>
          </a:prstGeom>
          <a:noFill/>
        </p:spPr>
        <p:txBody>
          <a:bodyPr wrap="square">
            <a:spAutoFit/>
          </a:bodyPr>
          <a:lstStyle/>
          <a:p>
            <a:pPr algn="l">
              <a:spcBef>
                <a:spcPts val="0"/>
              </a:spcBef>
              <a:spcAft>
                <a:spcPts val="600"/>
              </a:spcAft>
            </a:pPr>
            <a:r>
              <a:rPr sz="1250" b="0" i="1">
                <a:solidFill>
                  <a:srgbClr val="7A1F2B"/>
                </a:solidFill>
                <a:latin typeface="Cambria"/>
              </a:rPr>
              <a:t>Kiểm tra hiện tượng có lặp lại ở cỡ model khác hay không — đang thực hiện</a:t>
            </a:r>
          </a:p>
        </p:txBody>
      </p:sp>
      <p:sp>
        <p:nvSpPr>
          <p:cNvPr id="30" name="TextBox 29"/>
          <p:cNvSpPr txBox="1"/>
          <p:nvPr/>
        </p:nvSpPr>
        <p:spPr>
          <a:xfrm>
            <a:off x="777240" y="6355080"/>
            <a:ext cx="10637215" cy="365760"/>
          </a:xfrm>
          <a:prstGeom prst="rect">
            <a:avLst/>
          </a:prstGeom>
          <a:noFill/>
        </p:spPr>
        <p:txBody>
          <a:bodyPr wrap="square">
            <a:spAutoFit/>
          </a:bodyPr>
          <a:lstStyle/>
          <a:p>
            <a:pPr algn="l">
              <a:spcBef>
                <a:spcPts val="0"/>
              </a:spcBef>
              <a:spcAft>
                <a:spcPts val="600"/>
              </a:spcAft>
            </a:pPr>
            <a:r>
              <a:rPr sz="950" b="0" i="1">
                <a:solidFill>
                  <a:srgbClr val="5C5447"/>
                </a:solidFill>
                <a:latin typeface="Cambria"/>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777240" y="320040"/>
            <a:ext cx="7315200" cy="274320"/>
          </a:xfrm>
          <a:prstGeom prst="rect">
            <a:avLst/>
          </a:prstGeom>
          <a:noFill/>
        </p:spPr>
        <p:txBody>
          <a:bodyPr wrap="square">
            <a:spAutoFit/>
          </a:bodyPr>
          <a:lstStyle/>
          <a:p>
            <a:pPr algn="l">
              <a:spcBef>
                <a:spcPts val="0"/>
              </a:spcBef>
              <a:spcAft>
                <a:spcPts val="600"/>
              </a:spcAft>
            </a:pPr>
            <a:r>
              <a:rPr sz="950" b="0" i="0">
                <a:solidFill>
                  <a:srgbClr val="5C5447"/>
                </a:solidFill>
                <a:latin typeface="Cambria"/>
              </a:rPr>
              <a:t>VERIFIER LỆCH VĂN PHONG TRONG SELF-TRAINING</a:t>
            </a:r>
          </a:p>
        </p:txBody>
      </p:sp>
      <p:sp>
        <p:nvSpPr>
          <p:cNvPr id="3" name="TextBox 2"/>
          <p:cNvSpPr txBox="1"/>
          <p:nvPr/>
        </p:nvSpPr>
        <p:spPr>
          <a:xfrm>
            <a:off x="10042855" y="320040"/>
            <a:ext cx="1371600" cy="274320"/>
          </a:xfrm>
          <a:prstGeom prst="rect">
            <a:avLst/>
          </a:prstGeom>
          <a:noFill/>
        </p:spPr>
        <p:txBody>
          <a:bodyPr wrap="square">
            <a:spAutoFit/>
          </a:bodyPr>
          <a:lstStyle/>
          <a:p>
            <a:pPr algn="r">
              <a:spcBef>
                <a:spcPts val="0"/>
              </a:spcBef>
              <a:spcAft>
                <a:spcPts val="600"/>
              </a:spcAft>
            </a:pPr>
            <a:r>
              <a:rPr sz="950" b="0" i="0">
                <a:solidFill>
                  <a:srgbClr val="5C5447"/>
                </a:solidFill>
                <a:latin typeface="Cambria"/>
              </a:rPr>
              <a:t>12</a:t>
            </a:r>
          </a:p>
        </p:txBody>
      </p:sp>
      <p:cxnSp>
        <p:nvCxnSpPr>
          <p:cNvPr id="4" name="Connector 3"/>
          <p:cNvCxnSpPr/>
          <p:nvPr/>
        </p:nvCxnSpPr>
        <p:spPr>
          <a:xfrm>
            <a:off x="777240" y="62179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777240"/>
            <a:ext cx="10637215" cy="320040"/>
          </a:xfrm>
          <a:prstGeom prst="rect">
            <a:avLst/>
          </a:prstGeom>
          <a:noFill/>
        </p:spPr>
        <p:txBody>
          <a:bodyPr wrap="square">
            <a:spAutoFit/>
          </a:bodyPr>
          <a:lstStyle/>
          <a:p>
            <a:pPr algn="l">
              <a:spcBef>
                <a:spcPts val="0"/>
              </a:spcBef>
              <a:spcAft>
                <a:spcPts val="0"/>
              </a:spcAft>
            </a:pPr>
            <a:r>
              <a:rPr sz="1300" b="1" i="0">
                <a:solidFill>
                  <a:srgbClr val="7A1F2B"/>
                </a:solidFill>
                <a:latin typeface="Cambria"/>
              </a:rPr>
              <a:t>KẾT QUẢ TUẦN 1</a:t>
            </a:r>
          </a:p>
        </p:txBody>
      </p:sp>
      <p:sp>
        <p:nvSpPr>
          <p:cNvPr id="6" name="TextBox 5"/>
          <p:cNvSpPr txBox="1"/>
          <p:nvPr/>
        </p:nvSpPr>
        <p:spPr>
          <a:xfrm>
            <a:off x="777240" y="1078992"/>
            <a:ext cx="10637215" cy="868680"/>
          </a:xfrm>
          <a:prstGeom prst="rect">
            <a:avLst/>
          </a:prstGeom>
          <a:noFill/>
        </p:spPr>
        <p:txBody>
          <a:bodyPr wrap="square">
            <a:spAutoFit/>
          </a:bodyPr>
          <a:lstStyle/>
          <a:p>
            <a:pPr algn="l">
              <a:spcBef>
                <a:spcPts val="0"/>
              </a:spcBef>
              <a:spcAft>
                <a:spcPts val="0"/>
              </a:spcAft>
            </a:pPr>
            <a:r>
              <a:rPr sz="2700" b="1" i="0">
                <a:solidFill>
                  <a:srgbClr val="2A251D"/>
                </a:solidFill>
                <a:latin typeface="Cambria"/>
              </a:rPr>
              <a:t>Dự đoán trước khi chạy, và điều thực sự xảy ra</a:t>
            </a:r>
          </a:p>
        </p:txBody>
      </p:sp>
      <p:sp>
        <p:nvSpPr>
          <p:cNvPr id="7" name="TextBox 6"/>
          <p:cNvSpPr txBox="1"/>
          <p:nvPr/>
        </p:nvSpPr>
        <p:spPr>
          <a:xfrm>
            <a:off x="777240" y="1874519"/>
            <a:ext cx="10637215" cy="365760"/>
          </a:xfrm>
          <a:prstGeom prst="rect">
            <a:avLst/>
          </a:prstGeom>
          <a:noFill/>
        </p:spPr>
        <p:txBody>
          <a:bodyPr wrap="square">
            <a:spAutoFit/>
          </a:bodyPr>
          <a:lstStyle/>
          <a:p>
            <a:pPr algn="l">
              <a:spcBef>
                <a:spcPts val="0"/>
              </a:spcBef>
              <a:spcAft>
                <a:spcPts val="600"/>
              </a:spcAft>
            </a:pPr>
            <a:r>
              <a:rPr sz="1250" b="0" i="1">
                <a:solidFill>
                  <a:srgbClr val="5C5447"/>
                </a:solidFill>
                <a:latin typeface="Cambria"/>
              </a:rPr>
              <a:t>Qwen2.5-0.5B · GSM8K + MATH-500 · 500 đề/bộ · k=8 · 5 vòng · Kaggle, 27/08/2026</a:t>
            </a:r>
          </a:p>
        </p:txBody>
      </p:sp>
      <p:sp>
        <p:nvSpPr>
          <p:cNvPr id="8" name="Rectangle 7"/>
          <p:cNvSpPr/>
          <p:nvPr/>
        </p:nvSpPr>
        <p:spPr>
          <a:xfrm>
            <a:off x="777240" y="2331719"/>
            <a:ext cx="5090007" cy="2286000"/>
          </a:xfrm>
          <a:prstGeom prst="rect">
            <a:avLst/>
          </a:prstGeom>
          <a:solidFill>
            <a:srgbClr val="F2EDE1"/>
          </a:solidFill>
          <a:ln w="9525">
            <a:solidFill>
              <a:srgbClr val="C9BF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777240" y="2331719"/>
            <a:ext cx="0" cy="2286000"/>
          </a:xfrm>
          <a:prstGeom prst="line">
            <a:avLst/>
          </a:prstGeom>
          <a:ln w="38100">
            <a:solidFill>
              <a:srgbClr val="9C772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51560" y="2459735"/>
            <a:ext cx="4587087" cy="2029968"/>
          </a:xfrm>
          <a:prstGeom prst="rect">
            <a:avLst/>
          </a:prstGeom>
          <a:noFill/>
        </p:spPr>
        <p:txBody>
          <a:bodyPr wrap="square">
            <a:spAutoFit/>
          </a:bodyPr>
          <a:lstStyle/>
          <a:p>
            <a:pPr>
              <a:spcAft>
                <a:spcPts val="500"/>
              </a:spcAft>
            </a:pPr>
            <a:r>
              <a:rPr sz="1150" b="1" i="0">
                <a:solidFill>
                  <a:srgbClr val="9C772B"/>
                </a:solidFill>
                <a:latin typeface="Cambria"/>
              </a:rPr>
              <a:t>DỰ ĐOÁN TRƯỚC KHI CHẠY — HAI KỊCH BẢN</a:t>
            </a:r>
          </a:p>
          <a:p>
            <a:pPr>
              <a:lnSpc>
                <a:spcPct val="112000"/>
              </a:lnSpc>
              <a:spcAft>
                <a:spcPts val="400"/>
              </a:spcAft>
            </a:pPr>
            <a:r>
              <a:rPr sz="1300" b="0" i="0">
                <a:solidFill>
                  <a:srgbClr val="2A251D"/>
                </a:solidFill>
                <a:latin typeface="Cambria"/>
              </a:rPr>
              <a:t>Kịch bản 1 — giỏi thật: pass@1 và pass@8 cùng tăng qua các vòng.</a:t>
            </a:r>
          </a:p>
          <a:p>
            <a:pPr>
              <a:lnSpc>
                <a:spcPct val="112000"/>
              </a:lnSpc>
              <a:spcAft>
                <a:spcPts val="400"/>
              </a:spcAft>
            </a:pPr>
            <a:r>
              <a:rPr sz="1300" b="0" i="0">
                <a:solidFill>
                  <a:srgbClr val="2A251D"/>
                </a:solidFill>
                <a:latin typeface="Cambria"/>
              </a:rPr>
              <a:t>Kịch bản 2 — chỉ học theo văn phong: pass@1 tăng, nhưng pass@8 đứng yên hoặc giảm.</a:t>
            </a:r>
          </a:p>
          <a:p>
            <a:pPr>
              <a:lnSpc>
                <a:spcPct val="112000"/>
              </a:lnSpc>
              <a:spcAft>
                <a:spcPts val="400"/>
              </a:spcAft>
            </a:pPr>
            <a:r>
              <a:rPr sz="1250" b="0" i="1">
                <a:solidFill>
                  <a:srgbClr val="5C5447"/>
                </a:solidFill>
                <a:latin typeface="Cambria"/>
              </a:rPr>
              <a:t>Đây là toàn bộ những gì bảng đọc kết quả ở slide trước dự trù.</a:t>
            </a:r>
          </a:p>
        </p:txBody>
      </p:sp>
      <p:sp>
        <p:nvSpPr>
          <p:cNvPr id="11" name="Rectangle 10"/>
          <p:cNvSpPr/>
          <p:nvPr/>
        </p:nvSpPr>
        <p:spPr>
          <a:xfrm>
            <a:off x="6324447" y="2331719"/>
            <a:ext cx="5090007" cy="2286000"/>
          </a:xfrm>
          <a:prstGeom prst="rect">
            <a:avLst/>
          </a:prstGeom>
          <a:solidFill>
            <a:srgbClr val="F2EDE1"/>
          </a:solidFill>
          <a:ln w="9525">
            <a:solidFill>
              <a:srgbClr val="C9BF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6324447.5" y="2331719"/>
            <a:ext cx="0.0" cy="2286000"/>
          </a:xfrm>
          <a:prstGeom prst="line">
            <a:avLst/>
          </a:prstGeom>
          <a:ln w="38100">
            <a:solidFill>
              <a:srgbClr val="7A1F2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598767" y="2459735"/>
            <a:ext cx="4587087" cy="2029968"/>
          </a:xfrm>
          <a:prstGeom prst="rect">
            <a:avLst/>
          </a:prstGeom>
          <a:noFill/>
        </p:spPr>
        <p:txBody>
          <a:bodyPr wrap="square">
            <a:spAutoFit/>
          </a:bodyPr>
          <a:lstStyle/>
          <a:p>
            <a:pPr>
              <a:spcAft>
                <a:spcPts val="500"/>
              </a:spcAft>
            </a:pPr>
            <a:r>
              <a:rPr sz="1150" b="1" i="0">
                <a:solidFill>
                  <a:srgbClr val="7A1F2B"/>
                </a:solidFill>
                <a:latin typeface="Cambria"/>
              </a:rPr>
              <a:t>KẾT QUẢ THỰC TẾ — MỘT KHẢ NĂNG CHƯA DỰ ĐOÁN TRƯỚC</a:t>
            </a:r>
          </a:p>
          <a:p>
            <a:pPr>
              <a:lnSpc>
                <a:spcPct val="112000"/>
              </a:lnSpc>
              <a:spcAft>
                <a:spcPts val="400"/>
              </a:spcAft>
            </a:pPr>
            <a:r>
              <a:rPr sz="1350" b="1" i="0">
                <a:solidFill>
                  <a:srgbClr val="7A1F2B"/>
                </a:solidFill>
                <a:latin typeface="Cambria"/>
              </a:rPr>
              <a:t>pass@1: 31,1% → 27,4% (giảm 3,7 điểm phần trăm qua 4 vòng)</a:t>
            </a:r>
          </a:p>
          <a:p>
            <a:pPr>
              <a:lnSpc>
                <a:spcPct val="112000"/>
              </a:lnSpc>
              <a:spcAft>
                <a:spcPts val="400"/>
              </a:spcAft>
            </a:pPr>
            <a:r>
              <a:rPr sz="1350" b="1" i="0">
                <a:solidFill>
                  <a:srgbClr val="7A1F2B"/>
                </a:solidFill>
                <a:latin typeface="Cambria"/>
              </a:rPr>
              <a:t>pass@8: 60,5% → 54,9% (giảm 5,6 điểm phần trăm qua 4 vòng)</a:t>
            </a:r>
          </a:p>
          <a:p>
            <a:pPr>
              <a:lnSpc>
                <a:spcPct val="112000"/>
              </a:lnSpc>
              <a:spcAft>
                <a:spcPts val="400"/>
              </a:spcAft>
            </a:pPr>
            <a:r>
              <a:rPr sz="1300" b="1" i="0">
                <a:solidFill>
                  <a:srgbClr val="2A251D"/>
                </a:solidFill>
                <a:latin typeface="Cambria"/>
              </a:rPr>
              <a:t>Cả hai số đều giảm, không khớp kịch bản 1 hay 2. Model không chỉ “diễn giỏi”, mà khả năng giải toán thực sự đi xuống qua mỗi vòng.</a:t>
            </a:r>
          </a:p>
        </p:txBody>
      </p:sp>
      <p:cxnSp>
        <p:nvCxnSpPr>
          <p:cNvPr id="14" name="Connector 13"/>
          <p:cNvCxnSpPr/>
          <p:nvPr/>
        </p:nvCxnSpPr>
        <p:spPr>
          <a:xfrm>
            <a:off x="777240" y="4846319"/>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77240" y="5029199"/>
            <a:ext cx="10637215" cy="548640"/>
          </a:xfrm>
          <a:prstGeom prst="rect">
            <a:avLst/>
          </a:prstGeom>
          <a:noFill/>
        </p:spPr>
        <p:txBody>
          <a:bodyPr wrap="square">
            <a:spAutoFit/>
          </a:bodyPr>
          <a:lstStyle/>
          <a:p>
            <a:pPr algn="l">
              <a:lnSpc>
                <a:spcPct val="115000"/>
              </a:lnSpc>
              <a:spcBef>
                <a:spcPts val="0"/>
              </a:spcBef>
              <a:spcAft>
                <a:spcPts val="600"/>
              </a:spcAft>
            </a:pPr>
            <a:r>
              <a:rPr sz="1350" b="1" i="0">
                <a:solidFill>
                  <a:srgbClr val="2A251D"/>
                </a:solidFill>
                <a:latin typeface="Cambria"/>
              </a:rPr>
              <a:t>→ Kết quả này vẫn ủng hộ nghi vấn ban đầu, chỉ ở mức độ mạnh hơn dự đoán: verifier lệch không chỉ tạo cải thiện ảo, mà còn có thể làm hại pipeline self-training thật sự.</a:t>
            </a:r>
          </a:p>
        </p:txBody>
      </p:sp>
      <p:sp>
        <p:nvSpPr>
          <p:cNvPr id="16" name="TextBox 15"/>
          <p:cNvSpPr txBox="1"/>
          <p:nvPr/>
        </p:nvSpPr>
        <p:spPr>
          <a:xfrm>
            <a:off x="777240" y="6355080"/>
            <a:ext cx="10637215" cy="365760"/>
          </a:xfrm>
          <a:prstGeom prst="rect">
            <a:avLst/>
          </a:prstGeom>
          <a:noFill/>
        </p:spPr>
        <p:txBody>
          <a:bodyPr wrap="square">
            <a:spAutoFit/>
          </a:bodyPr>
          <a:lstStyle/>
          <a:p>
            <a:pPr algn="l">
              <a:spcBef>
                <a:spcPts val="0"/>
              </a:spcBef>
              <a:spcAft>
                <a:spcPts val="600"/>
              </a:spcAft>
            </a:pPr>
            <a:r>
              <a:rPr sz="950" b="0" i="1">
                <a:solidFill>
                  <a:srgbClr val="5C5447"/>
                </a:solidFill>
                <a:latin typeface="Cambria"/>
              </a:rPr>
              <a:t>Nguồn: kết quả thực nghiệm trên Kaggle, 27/08/2026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777240" y="320040"/>
            <a:ext cx="7315200" cy="274320"/>
          </a:xfrm>
          <a:prstGeom prst="rect">
            <a:avLst/>
          </a:prstGeom>
          <a:noFill/>
        </p:spPr>
        <p:txBody>
          <a:bodyPr wrap="square">
            <a:spAutoFit/>
          </a:bodyPr>
          <a:lstStyle/>
          <a:p>
            <a:pPr algn="l">
              <a:spcBef>
                <a:spcPts val="0"/>
              </a:spcBef>
              <a:spcAft>
                <a:spcPts val="600"/>
              </a:spcAft>
            </a:pPr>
            <a:r>
              <a:rPr sz="950" b="0" i="0">
                <a:solidFill>
                  <a:srgbClr val="5C5447"/>
                </a:solidFill>
                <a:latin typeface="Cambria"/>
              </a:rPr>
              <a:t>VERIFIER LỆCH VĂN PHONG TRONG SELF-TRAINING</a:t>
            </a:r>
          </a:p>
        </p:txBody>
      </p:sp>
      <p:sp>
        <p:nvSpPr>
          <p:cNvPr id="3" name="TextBox 2"/>
          <p:cNvSpPr txBox="1"/>
          <p:nvPr/>
        </p:nvSpPr>
        <p:spPr>
          <a:xfrm>
            <a:off x="10042855" y="320040"/>
            <a:ext cx="1371600" cy="274320"/>
          </a:xfrm>
          <a:prstGeom prst="rect">
            <a:avLst/>
          </a:prstGeom>
          <a:noFill/>
        </p:spPr>
        <p:txBody>
          <a:bodyPr wrap="square">
            <a:spAutoFit/>
          </a:bodyPr>
          <a:lstStyle/>
          <a:p>
            <a:pPr algn="r">
              <a:spcBef>
                <a:spcPts val="0"/>
              </a:spcBef>
              <a:spcAft>
                <a:spcPts val="600"/>
              </a:spcAft>
            </a:pPr>
            <a:r>
              <a:rPr sz="950" b="0" i="0">
                <a:solidFill>
                  <a:srgbClr val="5C5447"/>
                </a:solidFill>
                <a:latin typeface="Cambria"/>
              </a:rPr>
              <a:t>13</a:t>
            </a:r>
          </a:p>
        </p:txBody>
      </p:sp>
      <p:cxnSp>
        <p:nvCxnSpPr>
          <p:cNvPr id="4" name="Connector 3"/>
          <p:cNvCxnSpPr/>
          <p:nvPr/>
        </p:nvCxnSpPr>
        <p:spPr>
          <a:xfrm>
            <a:off x="777240" y="62179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777240"/>
            <a:ext cx="10637215" cy="320040"/>
          </a:xfrm>
          <a:prstGeom prst="rect">
            <a:avLst/>
          </a:prstGeom>
          <a:noFill/>
        </p:spPr>
        <p:txBody>
          <a:bodyPr wrap="square">
            <a:spAutoFit/>
          </a:bodyPr>
          <a:lstStyle/>
          <a:p>
            <a:pPr algn="l">
              <a:spcBef>
                <a:spcPts val="0"/>
              </a:spcBef>
              <a:spcAft>
                <a:spcPts val="0"/>
              </a:spcAft>
            </a:pPr>
            <a:r>
              <a:rPr sz="1300" b="1" i="0">
                <a:solidFill>
                  <a:srgbClr val="7A1F2B"/>
                </a:solidFill>
                <a:latin typeface="Cambria"/>
              </a:rPr>
              <a:t>SỐ LIỆU CHI TIẾT</a:t>
            </a:r>
          </a:p>
        </p:txBody>
      </p:sp>
      <p:sp>
        <p:nvSpPr>
          <p:cNvPr id="6" name="TextBox 5"/>
          <p:cNvSpPr txBox="1"/>
          <p:nvPr/>
        </p:nvSpPr>
        <p:spPr>
          <a:xfrm>
            <a:off x="777240" y="1078992"/>
            <a:ext cx="10637215" cy="868680"/>
          </a:xfrm>
          <a:prstGeom prst="rect">
            <a:avLst/>
          </a:prstGeom>
          <a:noFill/>
        </p:spPr>
        <p:txBody>
          <a:bodyPr wrap="square">
            <a:spAutoFit/>
          </a:bodyPr>
          <a:lstStyle/>
          <a:p>
            <a:pPr algn="l">
              <a:spcBef>
                <a:spcPts val="0"/>
              </a:spcBef>
              <a:spcAft>
                <a:spcPts val="0"/>
              </a:spcAft>
            </a:pPr>
            <a:r>
              <a:rPr sz="2700" b="1" i="0">
                <a:solidFill>
                  <a:srgbClr val="2A251D"/>
                </a:solidFill>
                <a:latin typeface="Cambria"/>
              </a:rPr>
              <a:t>pass@1 và pass@8 giảm đều qua 5 vòng, không phải nhiễu</a:t>
            </a:r>
          </a:p>
        </p:txBody>
      </p:sp>
      <p:graphicFrame>
        <p:nvGraphicFramePr>
          <p:cNvPr id="7" name="Chart 6"/>
          <p:cNvGraphicFramePr>
            <a:graphicFrameLocks noGrp="1"/>
          </p:cNvGraphicFramePr>
          <p:nvPr/>
        </p:nvGraphicFramePr>
        <p:xfrm>
          <a:off x="777240" y="1874519"/>
          <a:ext cx="7863840" cy="3657600"/>
        </p:xfrm>
        <a:graphic>
          <a:graphicData uri="http://schemas.openxmlformats.org/drawingml/2006/chart">
            <c:chart xmlns:c="http://schemas.openxmlformats.org/drawingml/2006/chart" r:id="rId2"/>
          </a:graphicData>
        </a:graphic>
      </p:graphicFrame>
      <p:sp>
        <p:nvSpPr>
          <p:cNvPr id="8" name="TextBox 7"/>
          <p:cNvSpPr txBox="1"/>
          <p:nvPr/>
        </p:nvSpPr>
        <p:spPr>
          <a:xfrm>
            <a:off x="8915400" y="1965959"/>
            <a:ext cx="2499055" cy="3474720"/>
          </a:xfrm>
          <a:prstGeom prst="rect">
            <a:avLst/>
          </a:prstGeom>
          <a:noFill/>
        </p:spPr>
        <p:txBody>
          <a:bodyPr wrap="square">
            <a:spAutoFit/>
          </a:bodyPr>
          <a:lstStyle/>
          <a:p>
            <a:pPr algn="l">
              <a:spcBef>
                <a:spcPts val="0"/>
              </a:spcBef>
              <a:spcAft>
                <a:spcPts val="100"/>
              </a:spcAft>
            </a:pPr>
            <a:r>
              <a:rPr sz="2000" b="1" i="0">
                <a:solidFill>
                  <a:srgbClr val="7A1F2B"/>
                </a:solidFill>
                <a:latin typeface="Cambria"/>
              </a:rPr>
              <a:t>31,1% → 27,4%</a:t>
            </a:r>
          </a:p>
          <a:p>
            <a:pPr algn="l">
              <a:spcBef>
                <a:spcPts val="0"/>
              </a:spcBef>
              <a:spcAft>
                <a:spcPts val="1800"/>
              </a:spcAft>
            </a:pPr>
            <a:r>
              <a:rPr sz="1150" b="0" i="0">
                <a:solidFill>
                  <a:srgbClr val="5C5447"/>
                </a:solidFill>
                <a:latin typeface="Cambria"/>
              </a:rPr>
              <a:t>pass@1, vòng 0 → vòng 4</a:t>
            </a:r>
          </a:p>
          <a:p>
            <a:pPr algn="l">
              <a:spcBef>
                <a:spcPts val="0"/>
              </a:spcBef>
              <a:spcAft>
                <a:spcPts val="100"/>
              </a:spcAft>
            </a:pPr>
            <a:r>
              <a:rPr sz="2000" b="1" i="0">
                <a:solidFill>
                  <a:srgbClr val="2F4B39"/>
                </a:solidFill>
                <a:latin typeface="Cambria"/>
              </a:rPr>
              <a:t>60,5% → 54,9%</a:t>
            </a:r>
          </a:p>
          <a:p>
            <a:pPr algn="l">
              <a:spcBef>
                <a:spcPts val="0"/>
              </a:spcBef>
              <a:spcAft>
                <a:spcPts val="1800"/>
              </a:spcAft>
            </a:pPr>
            <a:r>
              <a:rPr sz="1150" b="0" i="0">
                <a:solidFill>
                  <a:srgbClr val="5C5447"/>
                </a:solidFill>
                <a:latin typeface="Cambria"/>
              </a:rPr>
              <a:t>pass@8, vòng 0 → vòng 4</a:t>
            </a:r>
          </a:p>
          <a:p>
            <a:pPr algn="l">
              <a:lnSpc>
                <a:spcPct val="120000"/>
              </a:lnSpc>
              <a:spcBef>
                <a:spcPts val="0"/>
              </a:spcBef>
              <a:spcAft>
                <a:spcPts val="600"/>
              </a:spcAft>
            </a:pPr>
            <a:r>
              <a:rPr sz="1150" b="0" i="0">
                <a:solidFill>
                  <a:srgbClr val="2A251D"/>
                </a:solidFill>
                <a:latin typeface="Cambria"/>
              </a:rPr>
              <a:t>Giảm đều qua cả 4 vòng liên tiếp, không dao động thất thường, trên mẫu 500 đề × 2 bộ dữ liệu (GSM8K và MATH).</a:t>
            </a:r>
          </a:p>
        </p:txBody>
      </p:sp>
      <p:sp>
        <p:nvSpPr>
          <p:cNvPr id="9" name="TextBox 8"/>
          <p:cNvSpPr txBox="1"/>
          <p:nvPr/>
        </p:nvSpPr>
        <p:spPr>
          <a:xfrm>
            <a:off x="777240" y="6355080"/>
            <a:ext cx="10637215" cy="365760"/>
          </a:xfrm>
          <a:prstGeom prst="rect">
            <a:avLst/>
          </a:prstGeom>
          <a:noFill/>
        </p:spPr>
        <p:txBody>
          <a:bodyPr wrap="square">
            <a:spAutoFit/>
          </a:bodyPr>
          <a:lstStyle/>
          <a:p>
            <a:pPr algn="l">
              <a:spcBef>
                <a:spcPts val="0"/>
              </a:spcBef>
              <a:spcAft>
                <a:spcPts val="600"/>
              </a:spcAft>
            </a:pPr>
            <a:r>
              <a:rPr sz="950" b="0" i="1">
                <a:solidFill>
                  <a:srgbClr val="5C5447"/>
                </a:solidFill>
                <a:latin typeface="Cambria"/>
              </a:rPr>
              <a:t>Nguồn: kết quả thực nghiệm trên Kaggle, 27/08/2026 — Qwen2.5-0.5B, k=8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777240" y="320040"/>
            <a:ext cx="7315200" cy="274320"/>
          </a:xfrm>
          <a:prstGeom prst="rect">
            <a:avLst/>
          </a:prstGeom>
          <a:noFill/>
        </p:spPr>
        <p:txBody>
          <a:bodyPr wrap="square">
            <a:spAutoFit/>
          </a:bodyPr>
          <a:lstStyle/>
          <a:p>
            <a:pPr algn="l">
              <a:spcBef>
                <a:spcPts val="0"/>
              </a:spcBef>
              <a:spcAft>
                <a:spcPts val="600"/>
              </a:spcAft>
            </a:pPr>
            <a:r>
              <a:rPr sz="950" b="0" i="0">
                <a:solidFill>
                  <a:srgbClr val="5C5447"/>
                </a:solidFill>
                <a:latin typeface="Cambria"/>
              </a:rPr>
              <a:t>VERIFIER LỆCH VĂN PHONG TRONG SELF-TRAINING</a:t>
            </a:r>
          </a:p>
        </p:txBody>
      </p:sp>
      <p:sp>
        <p:nvSpPr>
          <p:cNvPr id="3" name="TextBox 2"/>
          <p:cNvSpPr txBox="1"/>
          <p:nvPr/>
        </p:nvSpPr>
        <p:spPr>
          <a:xfrm>
            <a:off x="10042855" y="320040"/>
            <a:ext cx="1371600" cy="274320"/>
          </a:xfrm>
          <a:prstGeom prst="rect">
            <a:avLst/>
          </a:prstGeom>
          <a:noFill/>
        </p:spPr>
        <p:txBody>
          <a:bodyPr wrap="square">
            <a:spAutoFit/>
          </a:bodyPr>
          <a:lstStyle/>
          <a:p>
            <a:pPr algn="r">
              <a:spcBef>
                <a:spcPts val="0"/>
              </a:spcBef>
              <a:spcAft>
                <a:spcPts val="600"/>
              </a:spcAft>
            </a:pPr>
            <a:r>
              <a:rPr sz="950" b="0" i="0">
                <a:solidFill>
                  <a:srgbClr val="5C5447"/>
                </a:solidFill>
                <a:latin typeface="Cambria"/>
              </a:rPr>
              <a:t>14</a:t>
            </a:r>
          </a:p>
        </p:txBody>
      </p:sp>
      <p:cxnSp>
        <p:nvCxnSpPr>
          <p:cNvPr id="4" name="Connector 3"/>
          <p:cNvCxnSpPr/>
          <p:nvPr/>
        </p:nvCxnSpPr>
        <p:spPr>
          <a:xfrm>
            <a:off x="777240" y="62179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777240"/>
            <a:ext cx="10637215" cy="320040"/>
          </a:xfrm>
          <a:prstGeom prst="rect">
            <a:avLst/>
          </a:prstGeom>
          <a:noFill/>
        </p:spPr>
        <p:txBody>
          <a:bodyPr wrap="square">
            <a:spAutoFit/>
          </a:bodyPr>
          <a:lstStyle/>
          <a:p>
            <a:pPr algn="l">
              <a:spcBef>
                <a:spcPts val="0"/>
              </a:spcBef>
              <a:spcAft>
                <a:spcPts val="0"/>
              </a:spcAft>
            </a:pPr>
            <a:r>
              <a:rPr sz="1300" b="1" i="0">
                <a:solidFill>
                  <a:srgbClr val="7A1F2B"/>
                </a:solidFill>
                <a:latin typeface="Cambria"/>
              </a:rPr>
              <a:t>BẰNG CHỨNG ĐI KÈM</a:t>
            </a:r>
          </a:p>
        </p:txBody>
      </p:sp>
      <p:sp>
        <p:nvSpPr>
          <p:cNvPr id="6" name="TextBox 5"/>
          <p:cNvSpPr txBox="1"/>
          <p:nvPr/>
        </p:nvSpPr>
        <p:spPr>
          <a:xfrm>
            <a:off x="777240" y="1078992"/>
            <a:ext cx="10637215" cy="868680"/>
          </a:xfrm>
          <a:prstGeom prst="rect">
            <a:avLst/>
          </a:prstGeom>
          <a:noFill/>
        </p:spPr>
        <p:txBody>
          <a:bodyPr wrap="square">
            <a:spAutoFit/>
          </a:bodyPr>
          <a:lstStyle/>
          <a:p>
            <a:pPr algn="l">
              <a:spcBef>
                <a:spcPts val="0"/>
              </a:spcBef>
              <a:spcAft>
                <a:spcPts val="0"/>
              </a:spcAft>
            </a:pPr>
            <a:r>
              <a:rPr sz="2700" b="1" i="0">
                <a:solidFill>
                  <a:srgbClr val="2A251D"/>
                </a:solidFill>
                <a:latin typeface="Cambria"/>
              </a:rPr>
              <a:t>Văn phong cũng thay đổi thật, đúng như giả thuyết ban đầu</a:t>
            </a:r>
          </a:p>
        </p:txBody>
      </p:sp>
      <p:sp>
        <p:nvSpPr>
          <p:cNvPr id="7" name="Rectangle 6"/>
          <p:cNvSpPr/>
          <p:nvPr/>
        </p:nvSpPr>
        <p:spPr>
          <a:xfrm>
            <a:off x="777240" y="1874519"/>
            <a:ext cx="5090007" cy="1920240"/>
          </a:xfrm>
          <a:prstGeom prst="rect">
            <a:avLst/>
          </a:prstGeom>
          <a:solidFill>
            <a:srgbClr val="F2EDE1"/>
          </a:solidFill>
          <a:ln w="9525">
            <a:solidFill>
              <a:srgbClr val="C9BF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777240" y="1874519"/>
            <a:ext cx="0" cy="1920240"/>
          </a:xfrm>
          <a:prstGeom prst="line">
            <a:avLst/>
          </a:prstGeom>
          <a:ln w="38100">
            <a:solidFill>
              <a:srgbClr val="9C772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51560" y="2002535"/>
            <a:ext cx="4587087" cy="1664208"/>
          </a:xfrm>
          <a:prstGeom prst="rect">
            <a:avLst/>
          </a:prstGeom>
          <a:noFill/>
        </p:spPr>
        <p:txBody>
          <a:bodyPr wrap="square">
            <a:spAutoFit/>
          </a:bodyPr>
          <a:lstStyle/>
          <a:p>
            <a:pPr>
              <a:spcAft>
                <a:spcPts val="500"/>
              </a:spcAft>
            </a:pPr>
            <a:r>
              <a:rPr sz="1150" b="1" i="0">
                <a:solidFill>
                  <a:srgbClr val="9C772B"/>
                </a:solidFill>
                <a:latin typeface="Cambria"/>
              </a:rPr>
              <a:t>CÁCH VIẾT ĐÁP ÁN CO HẸP LẠI</a:t>
            </a:r>
          </a:p>
          <a:p>
            <a:pPr>
              <a:lnSpc>
                <a:spcPct val="112000"/>
              </a:lnSpc>
              <a:spcAft>
                <a:spcPts val="400"/>
              </a:spcAft>
            </a:pPr>
            <a:r>
              <a:rPr sz="1300" b="0" i="0">
                <a:solidFill>
                  <a:srgbClr val="2A251D"/>
                </a:solidFill>
                <a:latin typeface="Cambria"/>
              </a:rPr>
              <a:t>Tần suất dùng \boxed{}: 5.880 → 5.513 lần trên 8.000 lượt viết qua các vòng (giảm dần).</a:t>
            </a:r>
          </a:p>
          <a:p>
            <a:pPr>
              <a:lnSpc>
                <a:spcPct val="112000"/>
              </a:lnSpc>
              <a:spcAft>
                <a:spcPts val="400"/>
              </a:spcAft>
            </a:pPr>
            <a:r>
              <a:rPr sz="1300" b="0" i="0">
                <a:solidFill>
                  <a:srgbClr val="2A251D"/>
                </a:solidFill>
                <a:latin typeface="Cambria"/>
              </a:rPr>
              <a:t>Kiểu viết \frac hoặc gán biến tăng dần thay thế — model thay đổi cách viết theo thời gian, đúng hiện tượng “hội tụ văn phong” đặt ra ở slide phương pháp đo.</a:t>
            </a:r>
          </a:p>
        </p:txBody>
      </p:sp>
      <p:sp>
        <p:nvSpPr>
          <p:cNvPr id="10" name="Rectangle 9"/>
          <p:cNvSpPr/>
          <p:nvPr/>
        </p:nvSpPr>
        <p:spPr>
          <a:xfrm>
            <a:off x="6324447" y="1874519"/>
            <a:ext cx="5090007" cy="1920240"/>
          </a:xfrm>
          <a:prstGeom prst="rect">
            <a:avLst/>
          </a:prstGeom>
          <a:solidFill>
            <a:srgbClr val="F2EDE1"/>
          </a:solidFill>
          <a:ln w="9525">
            <a:solidFill>
              <a:srgbClr val="C9BF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6324447.5" y="1874519"/>
            <a:ext cx="0.0" cy="1920240"/>
          </a:xfrm>
          <a:prstGeom prst="line">
            <a:avLst/>
          </a:prstGeom>
          <a:ln w="38100">
            <a:solidFill>
              <a:srgbClr val="9C772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598767" y="2002535"/>
            <a:ext cx="4587087" cy="1664208"/>
          </a:xfrm>
          <a:prstGeom prst="rect">
            <a:avLst/>
          </a:prstGeom>
          <a:noFill/>
        </p:spPr>
        <p:txBody>
          <a:bodyPr wrap="square">
            <a:spAutoFit/>
          </a:bodyPr>
          <a:lstStyle/>
          <a:p>
            <a:pPr>
              <a:spcAft>
                <a:spcPts val="500"/>
              </a:spcAft>
            </a:pPr>
            <a:r>
              <a:rPr sz="1150" b="1" i="0">
                <a:solidFill>
                  <a:srgbClr val="9C772B"/>
                </a:solidFill>
                <a:latin typeface="Cambria"/>
              </a:rPr>
              <a:t>TẬP DỮ LIỆU HUẤN LUYỆN CO HẸP DẦN</a:t>
            </a:r>
          </a:p>
          <a:p>
            <a:pPr>
              <a:lnSpc>
                <a:spcPct val="112000"/>
              </a:lnSpc>
              <a:spcAft>
                <a:spcPts val="400"/>
              </a:spcAft>
            </a:pPr>
            <a:r>
              <a:rPr sz="1300" b="0" i="0">
                <a:solidFill>
                  <a:srgbClr val="2A251D"/>
                </a:solidFill>
                <a:latin typeface="Cambria"/>
              </a:rPr>
              <a:t>Số bài được verifier giữ lại làm dữ liệu train mỗi vòng: 2.533 → 2.123 (co hẹp ở cả 4/4 vòng).</a:t>
            </a:r>
          </a:p>
          <a:p>
            <a:pPr>
              <a:lnSpc>
                <a:spcPct val="112000"/>
              </a:lnSpc>
              <a:spcAft>
                <a:spcPts val="400"/>
              </a:spcAft>
            </a:pPr>
            <a:r>
              <a:rPr sz="1300" b="0" i="0">
                <a:solidFill>
                  <a:srgbClr val="2A251D"/>
                </a:solidFill>
                <a:latin typeface="Cambria"/>
              </a:rPr>
              <a:t>Bảng thêm/mất đề xác nhận cùng chiều: số đề bị loại nhiều hơn số đề được thêm vào — tập dữ liệu “đúng theo verifier” ngày càng hẹp và lệch hơn.</a:t>
            </a:r>
          </a:p>
        </p:txBody>
      </p:sp>
      <p:cxnSp>
        <p:nvCxnSpPr>
          <p:cNvPr id="13" name="Connector 12"/>
          <p:cNvCxnSpPr/>
          <p:nvPr/>
        </p:nvCxnSpPr>
        <p:spPr>
          <a:xfrm>
            <a:off x="777240" y="3977639"/>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 y="4206239"/>
            <a:ext cx="0" cy="1325880"/>
          </a:xfrm>
          <a:prstGeom prst="line">
            <a:avLst/>
          </a:prstGeom>
          <a:ln w="31750">
            <a:solidFill>
              <a:srgbClr val="2F4B3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033272" y="4160519"/>
            <a:ext cx="10381183" cy="1554480"/>
          </a:xfrm>
          <a:prstGeom prst="rect">
            <a:avLst/>
          </a:prstGeom>
          <a:noFill/>
        </p:spPr>
        <p:txBody>
          <a:bodyPr wrap="square">
            <a:spAutoFit/>
          </a:bodyPr>
          <a:lstStyle/>
          <a:p>
            <a:pPr algn="l">
              <a:spcAft>
                <a:spcPts val="800"/>
              </a:spcAft>
            </a:pPr>
            <a:r>
              <a:rPr sz="1350" b="0" i="1">
                <a:solidFill>
                  <a:srgbClr val="2A251D"/>
                </a:solidFill>
                <a:latin typeface="Cambria"/>
              </a:rPr>
              <a:t>“Giả thuyết về cơ chế: tập ví dụ “đúng” bị verifier lọc ra ngày càng hẹp và lệch qua mỗi vòng, khiến vòng sau học từ một tập dữ liệu kém hơn — gần với hiện tượng “model collapse” (Shumailov et al.), nhưng xảy ra trên dữ liệu đã qua lọc của một verifier lệch, không phải toàn bộ dữ liệu tự sinh như trong bài gốc.”</a:t>
            </a:r>
          </a:p>
          <a:p>
            <a:pPr>
              <a:spcBef>
                <a:spcPts val="600"/>
              </a:spcBef>
            </a:pPr>
            <a:r>
              <a:rPr sz="1100" b="1" i="0">
                <a:solidFill>
                  <a:srgbClr val="5C5447"/>
                </a:solidFill>
                <a:latin typeface="Cambria"/>
              </a:rPr>
              <a:t>— Diễn giải sơ bộ, cần kiểm chứng thêm ở bước tiếp theo</a:t>
            </a:r>
          </a:p>
        </p:txBody>
      </p:sp>
      <p:sp>
        <p:nvSpPr>
          <p:cNvPr id="16" name="TextBox 15"/>
          <p:cNvSpPr txBox="1"/>
          <p:nvPr/>
        </p:nvSpPr>
        <p:spPr>
          <a:xfrm>
            <a:off x="777240" y="6355080"/>
            <a:ext cx="10637215" cy="365760"/>
          </a:xfrm>
          <a:prstGeom prst="rect">
            <a:avLst/>
          </a:prstGeom>
          <a:noFill/>
        </p:spPr>
        <p:txBody>
          <a:bodyPr wrap="square">
            <a:spAutoFit/>
          </a:bodyPr>
          <a:lstStyle/>
          <a:p>
            <a:pPr algn="l">
              <a:spcBef>
                <a:spcPts val="0"/>
              </a:spcBef>
              <a:spcAft>
                <a:spcPts val="600"/>
              </a:spcAft>
            </a:pPr>
            <a:r>
              <a:rPr sz="950" b="0" i="1">
                <a:solidFill>
                  <a:srgbClr val="5C5447"/>
                </a:solidFill>
                <a:latin typeface="Cambria"/>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777240" y="320040"/>
            <a:ext cx="7315200" cy="274320"/>
          </a:xfrm>
          <a:prstGeom prst="rect">
            <a:avLst/>
          </a:prstGeom>
          <a:noFill/>
        </p:spPr>
        <p:txBody>
          <a:bodyPr wrap="square">
            <a:spAutoFit/>
          </a:bodyPr>
          <a:lstStyle/>
          <a:p>
            <a:pPr algn="l">
              <a:spcBef>
                <a:spcPts val="0"/>
              </a:spcBef>
              <a:spcAft>
                <a:spcPts val="600"/>
              </a:spcAft>
            </a:pPr>
            <a:r>
              <a:rPr sz="950" b="0" i="0">
                <a:solidFill>
                  <a:srgbClr val="5C5447"/>
                </a:solidFill>
                <a:latin typeface="Cambria"/>
              </a:rPr>
              <a:t>VERIFIER LỆCH VĂN PHONG TRONG SELF-TRAINING</a:t>
            </a:r>
          </a:p>
        </p:txBody>
      </p:sp>
      <p:sp>
        <p:nvSpPr>
          <p:cNvPr id="3" name="TextBox 2"/>
          <p:cNvSpPr txBox="1"/>
          <p:nvPr/>
        </p:nvSpPr>
        <p:spPr>
          <a:xfrm>
            <a:off x="10042855" y="320040"/>
            <a:ext cx="1371600" cy="274320"/>
          </a:xfrm>
          <a:prstGeom prst="rect">
            <a:avLst/>
          </a:prstGeom>
          <a:noFill/>
        </p:spPr>
        <p:txBody>
          <a:bodyPr wrap="square">
            <a:spAutoFit/>
          </a:bodyPr>
          <a:lstStyle/>
          <a:p>
            <a:pPr algn="r">
              <a:spcBef>
                <a:spcPts val="0"/>
              </a:spcBef>
              <a:spcAft>
                <a:spcPts val="600"/>
              </a:spcAft>
            </a:pPr>
            <a:r>
              <a:rPr sz="950" b="0" i="0">
                <a:solidFill>
                  <a:srgbClr val="5C5447"/>
                </a:solidFill>
                <a:latin typeface="Cambria"/>
              </a:rPr>
              <a:t>15</a:t>
            </a:r>
          </a:p>
        </p:txBody>
      </p:sp>
      <p:cxnSp>
        <p:nvCxnSpPr>
          <p:cNvPr id="4" name="Connector 3"/>
          <p:cNvCxnSpPr/>
          <p:nvPr/>
        </p:nvCxnSpPr>
        <p:spPr>
          <a:xfrm>
            <a:off x="777240" y="62179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777240"/>
            <a:ext cx="10637215" cy="320040"/>
          </a:xfrm>
          <a:prstGeom prst="rect">
            <a:avLst/>
          </a:prstGeom>
          <a:noFill/>
        </p:spPr>
        <p:txBody>
          <a:bodyPr wrap="square">
            <a:spAutoFit/>
          </a:bodyPr>
          <a:lstStyle/>
          <a:p>
            <a:pPr algn="l">
              <a:spcBef>
                <a:spcPts val="0"/>
              </a:spcBef>
              <a:spcAft>
                <a:spcPts val="0"/>
              </a:spcAft>
            </a:pPr>
            <a:r>
              <a:rPr sz="1300" b="1" i="0">
                <a:solidFill>
                  <a:srgbClr val="7A1F2B"/>
                </a:solidFill>
                <a:latin typeface="Cambria"/>
              </a:rPr>
              <a:t>THẢO LUẬN</a:t>
            </a:r>
          </a:p>
        </p:txBody>
      </p:sp>
      <p:sp>
        <p:nvSpPr>
          <p:cNvPr id="6" name="TextBox 5"/>
          <p:cNvSpPr txBox="1"/>
          <p:nvPr/>
        </p:nvSpPr>
        <p:spPr>
          <a:xfrm>
            <a:off x="777240" y="1078992"/>
            <a:ext cx="10637215" cy="868680"/>
          </a:xfrm>
          <a:prstGeom prst="rect">
            <a:avLst/>
          </a:prstGeom>
          <a:noFill/>
        </p:spPr>
        <p:txBody>
          <a:bodyPr wrap="square">
            <a:spAutoFit/>
          </a:bodyPr>
          <a:lstStyle/>
          <a:p>
            <a:pPr algn="l">
              <a:spcBef>
                <a:spcPts val="0"/>
              </a:spcBef>
              <a:spcAft>
                <a:spcPts val="0"/>
              </a:spcAft>
            </a:pPr>
            <a:r>
              <a:rPr sz="2700" b="1" i="0">
                <a:solidFill>
                  <a:srgbClr val="2A251D"/>
                </a:solidFill>
                <a:latin typeface="Cambria"/>
              </a:rPr>
              <a:t>Giới hạn hiện tại và hướng đi tiếp theo</a:t>
            </a:r>
          </a:p>
        </p:txBody>
      </p:sp>
      <p:sp>
        <p:nvSpPr>
          <p:cNvPr id="7" name="TextBox 6"/>
          <p:cNvSpPr txBox="1"/>
          <p:nvPr/>
        </p:nvSpPr>
        <p:spPr>
          <a:xfrm>
            <a:off x="777240" y="1874519"/>
            <a:ext cx="10637215" cy="685800"/>
          </a:xfrm>
          <a:prstGeom prst="rect">
            <a:avLst/>
          </a:prstGeom>
          <a:noFill/>
        </p:spPr>
        <p:txBody>
          <a:bodyPr wrap="square">
            <a:spAutoFit/>
          </a:bodyPr>
          <a:lstStyle/>
          <a:p>
            <a:pPr algn="l">
              <a:lnSpc>
                <a:spcPct val="120000"/>
              </a:lnSpc>
              <a:spcBef>
                <a:spcPts val="0"/>
              </a:spcBef>
              <a:spcAft>
                <a:spcPts val="600"/>
              </a:spcAft>
            </a:pPr>
            <a:r>
              <a:rPr sz="1400" b="1" i="0">
                <a:solidFill>
                  <a:srgbClr val="7A1F2B"/>
                </a:solidFill>
                <a:latin typeface="Cambria"/>
              </a:rPr>
              <a:t>Kết quả trên đến từ một lần chạy, ở một cỡ model (0.5B). Model Qwen 1.5B đang được chạy thêm để kiểm tra hiện tượng có lặp lại ở cỡ model khác hay không, trước khi đưa vào kết luận chính thức của bài báo.</a:t>
            </a:r>
          </a:p>
        </p:txBody>
      </p:sp>
      <p:cxnSp>
        <p:nvCxnSpPr>
          <p:cNvPr id="8" name="Connector 7"/>
          <p:cNvCxnSpPr/>
          <p:nvPr/>
        </p:nvCxnSpPr>
        <p:spPr>
          <a:xfrm>
            <a:off x="777240" y="2743199"/>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77240" y="2971799"/>
            <a:ext cx="10637215" cy="365760"/>
          </a:xfrm>
          <a:prstGeom prst="rect">
            <a:avLst/>
          </a:prstGeom>
          <a:noFill/>
        </p:spPr>
        <p:txBody>
          <a:bodyPr wrap="square">
            <a:spAutoFit/>
          </a:bodyPr>
          <a:lstStyle/>
          <a:p>
            <a:pPr algn="l">
              <a:spcBef>
                <a:spcPts val="0"/>
              </a:spcBef>
              <a:spcAft>
                <a:spcPts val="600"/>
              </a:spcAft>
            </a:pPr>
            <a:r>
              <a:rPr sz="1350" b="1" i="0">
                <a:solidFill>
                  <a:srgbClr val="2A251D"/>
                </a:solidFill>
                <a:latin typeface="Cambria"/>
              </a:rPr>
              <a:t>Vì sao kết quả này chưa được dự đoán trước</a:t>
            </a:r>
          </a:p>
        </p:txBody>
      </p:sp>
      <p:sp>
        <p:nvSpPr>
          <p:cNvPr id="10" name="TextBox 9"/>
          <p:cNvSpPr txBox="1"/>
          <p:nvPr/>
        </p:nvSpPr>
        <p:spPr>
          <a:xfrm>
            <a:off x="1097280" y="3319271"/>
            <a:ext cx="10317175" cy="777240"/>
          </a:xfrm>
          <a:prstGeom prst="rect">
            <a:avLst/>
          </a:prstGeom>
          <a:noFill/>
        </p:spPr>
        <p:txBody>
          <a:bodyPr wrap="square">
            <a:spAutoFit/>
          </a:bodyPr>
          <a:lstStyle/>
          <a:p>
            <a:pPr algn="l">
              <a:lnSpc>
                <a:spcPct val="115000"/>
              </a:lnSpc>
              <a:spcBef>
                <a:spcPts val="0"/>
              </a:spcBef>
              <a:spcAft>
                <a:spcPts val="600"/>
              </a:spcAft>
            </a:pPr>
            <a:r>
              <a:rPr sz="1250" b="0" i="0">
                <a:solidFill>
                  <a:srgbClr val="5C5447"/>
                </a:solidFill>
                <a:latin typeface="Cambria"/>
              </a:rPr>
              <a:t>Hai bài gần nhất trong 29 bài đã khảo sát (ReST-EM, Teacher-Free Self-Training) đều không sử dụng verifier lệch vì văn phong như trong đề tài này, nên chưa có tiền lệ để dự đoán trước hình dạng kết quả này.</a:t>
            </a:r>
          </a:p>
        </p:txBody>
      </p:sp>
      <p:sp>
        <p:nvSpPr>
          <p:cNvPr id="11" name="TextBox 10"/>
          <p:cNvSpPr txBox="1"/>
          <p:nvPr/>
        </p:nvSpPr>
        <p:spPr>
          <a:xfrm>
            <a:off x="777240" y="4206239"/>
            <a:ext cx="10637215" cy="365760"/>
          </a:xfrm>
          <a:prstGeom prst="rect">
            <a:avLst/>
          </a:prstGeom>
          <a:noFill/>
        </p:spPr>
        <p:txBody>
          <a:bodyPr wrap="square">
            <a:spAutoFit/>
          </a:bodyPr>
          <a:lstStyle/>
          <a:p>
            <a:pPr algn="l">
              <a:spcBef>
                <a:spcPts val="0"/>
              </a:spcBef>
              <a:spcAft>
                <a:spcPts val="600"/>
              </a:spcAft>
            </a:pPr>
            <a:r>
              <a:rPr sz="1350" b="1" i="0">
                <a:solidFill>
                  <a:srgbClr val="2A251D"/>
                </a:solidFill>
                <a:latin typeface="Cambria"/>
              </a:rPr>
              <a:t>Độ tin cậy của xu hướng quan sát được</a:t>
            </a:r>
          </a:p>
        </p:txBody>
      </p:sp>
      <p:sp>
        <p:nvSpPr>
          <p:cNvPr id="12" name="TextBox 11"/>
          <p:cNvSpPr txBox="1"/>
          <p:nvPr/>
        </p:nvSpPr>
        <p:spPr>
          <a:xfrm>
            <a:off x="1097280" y="4553711"/>
            <a:ext cx="10317175" cy="777240"/>
          </a:xfrm>
          <a:prstGeom prst="rect">
            <a:avLst/>
          </a:prstGeom>
          <a:noFill/>
        </p:spPr>
        <p:txBody>
          <a:bodyPr wrap="square">
            <a:spAutoFit/>
          </a:bodyPr>
          <a:lstStyle/>
          <a:p>
            <a:pPr algn="l">
              <a:lnSpc>
                <a:spcPct val="115000"/>
              </a:lnSpc>
              <a:spcBef>
                <a:spcPts val="0"/>
              </a:spcBef>
              <a:spcAft>
                <a:spcPts val="600"/>
              </a:spcAft>
            </a:pPr>
            <a:r>
              <a:rPr sz="1250" b="0" i="0">
                <a:solidFill>
                  <a:srgbClr val="5C5447"/>
                </a:solidFill>
                <a:latin typeface="Cambria"/>
              </a:rPr>
              <a:t>Xu hướng giảm diễn ra đều qua cả 4 vòng liên tiếp, không dao động thất thường, trên mẫu đủ lớn (500 đề mỗi bộ dữ liệu). Đây chưa phải kết luận cuối cùng — cần chạy lại với cỡ model khác để loại trừ khả năng đây là đặc điểm riêng của model 0.5B.</a:t>
            </a:r>
          </a:p>
        </p:txBody>
      </p:sp>
      <p:sp>
        <p:nvSpPr>
          <p:cNvPr id="13" name="TextBox 12"/>
          <p:cNvSpPr txBox="1"/>
          <p:nvPr/>
        </p:nvSpPr>
        <p:spPr>
          <a:xfrm>
            <a:off x="777240" y="5440679"/>
            <a:ext cx="10637215" cy="365760"/>
          </a:xfrm>
          <a:prstGeom prst="rect">
            <a:avLst/>
          </a:prstGeom>
          <a:noFill/>
        </p:spPr>
        <p:txBody>
          <a:bodyPr wrap="square">
            <a:spAutoFit/>
          </a:bodyPr>
          <a:lstStyle/>
          <a:p>
            <a:pPr algn="l">
              <a:spcBef>
                <a:spcPts val="0"/>
              </a:spcBef>
              <a:spcAft>
                <a:spcPts val="600"/>
              </a:spcAft>
            </a:pPr>
            <a:r>
              <a:rPr sz="1350" b="1" i="0">
                <a:solidFill>
                  <a:srgbClr val="2A251D"/>
                </a:solidFill>
                <a:latin typeface="Cambria"/>
              </a:rPr>
              <a:t>Hướng đi tiếp theo</a:t>
            </a:r>
          </a:p>
        </p:txBody>
      </p:sp>
      <p:sp>
        <p:nvSpPr>
          <p:cNvPr id="14" name="TextBox 13"/>
          <p:cNvSpPr txBox="1"/>
          <p:nvPr/>
        </p:nvSpPr>
        <p:spPr>
          <a:xfrm>
            <a:off x="1097280" y="5788151"/>
            <a:ext cx="10317175" cy="777240"/>
          </a:xfrm>
          <a:prstGeom prst="rect">
            <a:avLst/>
          </a:prstGeom>
          <a:noFill/>
        </p:spPr>
        <p:txBody>
          <a:bodyPr wrap="square">
            <a:spAutoFit/>
          </a:bodyPr>
          <a:lstStyle/>
          <a:p>
            <a:pPr algn="l">
              <a:lnSpc>
                <a:spcPct val="115000"/>
              </a:lnSpc>
              <a:spcBef>
                <a:spcPts val="0"/>
              </a:spcBef>
              <a:spcAft>
                <a:spcPts val="600"/>
              </a:spcAft>
            </a:pPr>
            <a:r>
              <a:rPr sz="1250" b="0" i="0">
                <a:solidFill>
                  <a:srgbClr val="5C5447"/>
                </a:solidFill>
                <a:latin typeface="Cambria"/>
              </a:rPr>
              <a:t>Hoàn tất lần chạy với Qwen 1.5B; nếu hiện tượng lặp lại, đưa vào bài báo cùng giả thuyết cơ chế: tập dữ liệu “đúng theo verifier” bị lọc ngày càng hẹp và lệch qua mỗi vòng.</a:t>
            </a:r>
          </a:p>
        </p:txBody>
      </p:sp>
      <p:sp>
        <p:nvSpPr>
          <p:cNvPr id="15" name="TextBox 14"/>
          <p:cNvSpPr txBox="1"/>
          <p:nvPr/>
        </p:nvSpPr>
        <p:spPr>
          <a:xfrm>
            <a:off x="777240" y="6355080"/>
            <a:ext cx="10637215" cy="365760"/>
          </a:xfrm>
          <a:prstGeom prst="rect">
            <a:avLst/>
          </a:prstGeom>
          <a:noFill/>
        </p:spPr>
        <p:txBody>
          <a:bodyPr wrap="square">
            <a:spAutoFit/>
          </a:bodyPr>
          <a:lstStyle/>
          <a:p>
            <a:pPr algn="l">
              <a:spcBef>
                <a:spcPts val="0"/>
              </a:spcBef>
              <a:spcAft>
                <a:spcPts val="600"/>
              </a:spcAft>
            </a:pPr>
            <a:r>
              <a:rPr sz="950" b="0" i="1">
                <a:solidFill>
                  <a:srgbClr val="5C5447"/>
                </a:solidFill>
                <a:latin typeface="Cambria"/>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777240" y="320040"/>
            <a:ext cx="7315200" cy="274320"/>
          </a:xfrm>
          <a:prstGeom prst="rect">
            <a:avLst/>
          </a:prstGeom>
          <a:noFill/>
        </p:spPr>
        <p:txBody>
          <a:bodyPr wrap="square">
            <a:spAutoFit/>
          </a:bodyPr>
          <a:lstStyle/>
          <a:p>
            <a:pPr algn="l">
              <a:spcBef>
                <a:spcPts val="0"/>
              </a:spcBef>
              <a:spcAft>
                <a:spcPts val="600"/>
              </a:spcAft>
            </a:pPr>
            <a:r>
              <a:rPr sz="950" b="0" i="0">
                <a:solidFill>
                  <a:srgbClr val="5C5447"/>
                </a:solidFill>
                <a:latin typeface="Cambria"/>
              </a:rPr>
              <a:t>VERIFIER LỆCH VĂN PHONG TRONG SELF-TRAINING</a:t>
            </a:r>
          </a:p>
        </p:txBody>
      </p:sp>
      <p:sp>
        <p:nvSpPr>
          <p:cNvPr id="3" name="TextBox 2"/>
          <p:cNvSpPr txBox="1"/>
          <p:nvPr/>
        </p:nvSpPr>
        <p:spPr>
          <a:xfrm>
            <a:off x="10042855" y="320040"/>
            <a:ext cx="1371600" cy="274320"/>
          </a:xfrm>
          <a:prstGeom prst="rect">
            <a:avLst/>
          </a:prstGeom>
          <a:noFill/>
        </p:spPr>
        <p:txBody>
          <a:bodyPr wrap="square">
            <a:spAutoFit/>
          </a:bodyPr>
          <a:lstStyle/>
          <a:p>
            <a:pPr algn="r">
              <a:spcBef>
                <a:spcPts val="0"/>
              </a:spcBef>
              <a:spcAft>
                <a:spcPts val="600"/>
              </a:spcAft>
            </a:pPr>
            <a:r>
              <a:rPr sz="950" b="0" i="0">
                <a:solidFill>
                  <a:srgbClr val="5C5447"/>
                </a:solidFill>
                <a:latin typeface="Cambria"/>
              </a:rPr>
              <a:t>16</a:t>
            </a:r>
          </a:p>
        </p:txBody>
      </p:sp>
      <p:cxnSp>
        <p:nvCxnSpPr>
          <p:cNvPr id="4" name="Connector 3"/>
          <p:cNvCxnSpPr/>
          <p:nvPr/>
        </p:nvCxnSpPr>
        <p:spPr>
          <a:xfrm>
            <a:off x="777240" y="62179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777240"/>
            <a:ext cx="10637215" cy="320040"/>
          </a:xfrm>
          <a:prstGeom prst="rect">
            <a:avLst/>
          </a:prstGeom>
          <a:noFill/>
        </p:spPr>
        <p:txBody>
          <a:bodyPr wrap="square">
            <a:spAutoFit/>
          </a:bodyPr>
          <a:lstStyle/>
          <a:p>
            <a:pPr algn="l">
              <a:spcBef>
                <a:spcPts val="0"/>
              </a:spcBef>
              <a:spcAft>
                <a:spcPts val="0"/>
              </a:spcAft>
            </a:pPr>
            <a:r>
              <a:rPr sz="1300" b="1" i="0">
                <a:solidFill>
                  <a:srgbClr val="7A1F2B"/>
                </a:solidFill>
                <a:latin typeface="Cambria"/>
              </a:rPr>
              <a:t>TÓM TẮT</a:t>
            </a:r>
          </a:p>
        </p:txBody>
      </p:sp>
      <p:sp>
        <p:nvSpPr>
          <p:cNvPr id="6" name="TextBox 5"/>
          <p:cNvSpPr txBox="1"/>
          <p:nvPr/>
        </p:nvSpPr>
        <p:spPr>
          <a:xfrm>
            <a:off x="777240" y="1078992"/>
            <a:ext cx="10637215" cy="868680"/>
          </a:xfrm>
          <a:prstGeom prst="rect">
            <a:avLst/>
          </a:prstGeom>
          <a:noFill/>
        </p:spPr>
        <p:txBody>
          <a:bodyPr wrap="square">
            <a:spAutoFit/>
          </a:bodyPr>
          <a:lstStyle/>
          <a:p>
            <a:pPr algn="l">
              <a:spcBef>
                <a:spcPts val="0"/>
              </a:spcBef>
              <a:spcAft>
                <a:spcPts val="0"/>
              </a:spcAft>
            </a:pPr>
            <a:r>
              <a:rPr sz="2700" b="1" i="0">
                <a:solidFill>
                  <a:srgbClr val="2A251D"/>
                </a:solidFill>
                <a:latin typeface="Cambria"/>
              </a:rPr>
              <a:t>Nghi vấn ban đầu được xác nhận, ở mức độ mạnh hơn dự đoán</a:t>
            </a:r>
          </a:p>
        </p:txBody>
      </p:sp>
      <p:cxnSp>
        <p:nvCxnSpPr>
          <p:cNvPr id="7" name="Connector 6"/>
          <p:cNvCxnSpPr/>
          <p:nvPr/>
        </p:nvCxnSpPr>
        <p:spPr>
          <a:xfrm>
            <a:off x="777240" y="1920239"/>
            <a:ext cx="0" cy="1188720"/>
          </a:xfrm>
          <a:prstGeom prst="line">
            <a:avLst/>
          </a:prstGeom>
          <a:ln w="31750">
            <a:solidFill>
              <a:srgbClr val="7A1F2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33272" y="1874519"/>
            <a:ext cx="10381183" cy="1417320"/>
          </a:xfrm>
          <a:prstGeom prst="rect">
            <a:avLst/>
          </a:prstGeom>
          <a:noFill/>
        </p:spPr>
        <p:txBody>
          <a:bodyPr wrap="square">
            <a:spAutoFit/>
          </a:bodyPr>
          <a:lstStyle/>
          <a:p>
            <a:pPr algn="l">
              <a:spcAft>
                <a:spcPts val="800"/>
              </a:spcAft>
            </a:pPr>
            <a:r>
              <a:rPr sz="1500" b="0" i="1">
                <a:solidFill>
                  <a:srgbClr val="2A251D"/>
                </a:solidFill>
                <a:latin typeface="Cambria"/>
              </a:rPr>
              <a:t>“Verifier lệch không chỉ khiến pipeline self-training “báo cáo thành công” ảo. Số liệu thực nghiệm đầu tiên (500 đề, 5 vòng, Qwen 0.5B) cho thấy nó còn khiến khả năng giải toán giảm thật sự: pass@1 giảm 31,1% xuống 27,4%, pass@8 giảm 60,5% xuống 54,9%.”</a:t>
            </a:r>
          </a:p>
          <a:p>
            <a:pPr>
              <a:spcBef>
                <a:spcPts val="600"/>
              </a:spcBef>
            </a:pPr>
            <a:r>
              <a:rPr sz="1200" b="1" i="0">
                <a:solidFill>
                  <a:srgbClr val="5C5447"/>
                </a:solidFill>
                <a:latin typeface="Cambria"/>
              </a:rPr>
              <a:t>— Kết quả lần chạy đầu tiên, 27/08/2026</a:t>
            </a:r>
          </a:p>
        </p:txBody>
      </p:sp>
      <p:cxnSp>
        <p:nvCxnSpPr>
          <p:cNvPr id="9" name="Connector 8"/>
          <p:cNvCxnSpPr/>
          <p:nvPr/>
        </p:nvCxnSpPr>
        <p:spPr>
          <a:xfrm>
            <a:off x="777240" y="3611879"/>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77240" y="3886199"/>
            <a:ext cx="10637215" cy="548640"/>
          </a:xfrm>
          <a:prstGeom prst="rect">
            <a:avLst/>
          </a:prstGeom>
          <a:noFill/>
        </p:spPr>
        <p:txBody>
          <a:bodyPr wrap="square">
            <a:spAutoFit/>
          </a:bodyPr>
          <a:lstStyle/>
          <a:p>
            <a:pPr>
              <a:spcAft>
                <a:spcPts val="1000"/>
              </a:spcAft>
            </a:pPr>
            <a:r>
              <a:rPr sz="1350" b="1" i="0">
                <a:solidFill>
                  <a:srgbClr val="7A1F2B"/>
                </a:solidFill>
                <a:latin typeface="Cambria"/>
              </a:rPr>
              <a:t>—  </a:t>
            </a:r>
            <a:r>
              <a:rPr sz="1350" b="0" i="0">
                <a:solidFill>
                  <a:srgbClr val="2A251D"/>
                </a:solidFill>
                <a:latin typeface="Cambria"/>
              </a:rPr>
              <a:t>Đóng góp: cách phát hiện sớm hiện tượng này ngay trong vòng lặp, không cần thêm nhãn người</a:t>
            </a:r>
          </a:p>
        </p:txBody>
      </p:sp>
      <p:sp>
        <p:nvSpPr>
          <p:cNvPr id="11" name="TextBox 10"/>
          <p:cNvSpPr txBox="1"/>
          <p:nvPr/>
        </p:nvSpPr>
        <p:spPr>
          <a:xfrm>
            <a:off x="777240" y="4526279"/>
            <a:ext cx="10637215" cy="548640"/>
          </a:xfrm>
          <a:prstGeom prst="rect">
            <a:avLst/>
          </a:prstGeom>
          <a:noFill/>
        </p:spPr>
        <p:txBody>
          <a:bodyPr wrap="square">
            <a:spAutoFit/>
          </a:bodyPr>
          <a:lstStyle/>
          <a:p>
            <a:pPr>
              <a:spcAft>
                <a:spcPts val="1000"/>
              </a:spcAft>
            </a:pPr>
            <a:r>
              <a:rPr sz="1350" b="1" i="0">
                <a:solidFill>
                  <a:srgbClr val="7A1F2B"/>
                </a:solidFill>
                <a:latin typeface="Cambria"/>
              </a:rPr>
              <a:t>—  </a:t>
            </a:r>
            <a:r>
              <a:rPr sz="1350" b="0" i="0">
                <a:solidFill>
                  <a:srgbClr val="2A251D"/>
                </a:solidFill>
                <a:latin typeface="Cambria"/>
              </a:rPr>
              <a:t>Tổng quát cho mọi pipeline self-training dùng verifier luật, không riêng đề toán này</a:t>
            </a:r>
          </a:p>
        </p:txBody>
      </p:sp>
      <p:sp>
        <p:nvSpPr>
          <p:cNvPr id="12" name="TextBox 11"/>
          <p:cNvSpPr txBox="1"/>
          <p:nvPr/>
        </p:nvSpPr>
        <p:spPr>
          <a:xfrm>
            <a:off x="777240" y="5166359"/>
            <a:ext cx="10637215" cy="548640"/>
          </a:xfrm>
          <a:prstGeom prst="rect">
            <a:avLst/>
          </a:prstGeom>
          <a:noFill/>
        </p:spPr>
        <p:txBody>
          <a:bodyPr wrap="square">
            <a:spAutoFit/>
          </a:bodyPr>
          <a:lstStyle/>
          <a:p>
            <a:pPr>
              <a:spcAft>
                <a:spcPts val="1000"/>
              </a:spcAft>
            </a:pPr>
            <a:r>
              <a:rPr sz="1350" b="1" i="0">
                <a:solidFill>
                  <a:srgbClr val="7A1F2B"/>
                </a:solidFill>
                <a:latin typeface="Cambria"/>
              </a:rPr>
              <a:t>—  </a:t>
            </a:r>
            <a:r>
              <a:rPr sz="1350" b="0" i="0">
                <a:solidFill>
                  <a:srgbClr val="2A251D"/>
                </a:solidFill>
                <a:latin typeface="Cambria"/>
              </a:rPr>
              <a:t>Bước kế tiếp: chạy lại với Qwen 1.5B (đang thực hiện) để xác nhận không phải đặc điểm riêng của model 0.5B, trước khi viết vào kết luận chính thức</a:t>
            </a:r>
          </a:p>
        </p:txBody>
      </p:sp>
      <p:sp>
        <p:nvSpPr>
          <p:cNvPr id="13" name="TextBox 12"/>
          <p:cNvSpPr txBox="1"/>
          <p:nvPr/>
        </p:nvSpPr>
        <p:spPr>
          <a:xfrm>
            <a:off x="777240" y="5989320"/>
            <a:ext cx="9144000" cy="457200"/>
          </a:xfrm>
          <a:prstGeom prst="rect">
            <a:avLst/>
          </a:prstGeom>
          <a:noFill/>
        </p:spPr>
        <p:txBody>
          <a:bodyPr wrap="square">
            <a:spAutoFit/>
          </a:bodyPr>
          <a:lstStyle/>
          <a:p>
            <a:pPr algn="l">
              <a:spcBef>
                <a:spcPts val="0"/>
              </a:spcBef>
              <a:spcAft>
                <a:spcPts val="600"/>
              </a:spcAft>
            </a:pPr>
            <a:r>
              <a:rPr sz="1350" b="0" i="1">
                <a:solidFill>
                  <a:srgbClr val="5C5447"/>
                </a:solidFill>
                <a:latin typeface="Cambria"/>
              </a:rPr>
              <a:t>Cảm ơn thầy đã theo dõi — rất mong nhận góp ý cho hướng đi tiếp theo.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